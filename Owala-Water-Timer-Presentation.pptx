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 roundtripDataSignature="AMtx7mj9Wd6HT4xfoLCYfIFF1WJ7rtlJ5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448D342-DFC0-491A-835A-FC63651FD996}">
  <a:tblStyle styleId="{4448D342-DFC0-491A-835A-FC63651FD99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1" d="100"/>
          <a:sy n="141" d="100"/>
        </p:scale>
        <p:origin x="112" y="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 name="Google Shape;2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 name="Google Shape;2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t>Anika</a:t>
            </a:r>
            <a:endParaRPr sz="1600"/>
          </a:p>
          <a:p>
            <a:pPr marL="0" lvl="0" indent="0" algn="l" rtl="0">
              <a:lnSpc>
                <a:spcPct val="115000"/>
              </a:lnSpc>
              <a:spcBef>
                <a:spcPts val="1200"/>
              </a:spcBef>
              <a:spcAft>
                <a:spcPts val="0"/>
              </a:spcAft>
              <a:buClr>
                <a:schemeClr val="dk1"/>
              </a:buClr>
              <a:buSzPts val="1100"/>
              <a:buFont typeface="Arial"/>
              <a:buNone/>
            </a:pPr>
            <a:r>
              <a:rPr lang="en-US" sz="1600"/>
              <a:t>“Here is the SWOT analysis for Water Timer. Starting with our INTERNAL strengths, in the current market we have Owala’s strong brand identity and recognizable design. We also benefit from product differentiation through the built-in hydration reminder functionality, which makes it more convenient than relying on separate apps and aligns well with wellness-focused consumers.</a:t>
            </a:r>
            <a:endParaRPr sz="1600"/>
          </a:p>
          <a:p>
            <a:pPr marL="0" lvl="0" indent="0" algn="l" rtl="0">
              <a:lnSpc>
                <a:spcPct val="115000"/>
              </a:lnSpc>
              <a:spcBef>
                <a:spcPts val="1200"/>
              </a:spcBef>
              <a:spcAft>
                <a:spcPts val="0"/>
              </a:spcAft>
              <a:buClr>
                <a:schemeClr val="dk1"/>
              </a:buClr>
              <a:buSzPts val="1100"/>
              <a:buFont typeface="Arial"/>
              <a:buNone/>
            </a:pPr>
            <a:r>
              <a:rPr lang="en-US" sz="1600"/>
              <a:t>For our INTERNAL weaknesses, the added technology would increase manufacturing costs and make the product a more complex offering than Owala’s standard bottles. There are also possible concerns around the durability, charging, and whether consumers will consistently value the added feature long term.</a:t>
            </a:r>
            <a:endParaRPr sz="1600"/>
          </a:p>
          <a:p>
            <a:pPr marL="0" lvl="0" indent="0" algn="l" rtl="0">
              <a:lnSpc>
                <a:spcPct val="115000"/>
              </a:lnSpc>
              <a:spcBef>
                <a:spcPts val="1200"/>
              </a:spcBef>
              <a:spcAft>
                <a:spcPts val="0"/>
              </a:spcAft>
              <a:buClr>
                <a:schemeClr val="dk1"/>
              </a:buClr>
              <a:buSzPts val="1100"/>
              <a:buFont typeface="Arial"/>
              <a:buNone/>
            </a:pPr>
            <a:r>
              <a:rPr lang="en-US" sz="1600"/>
              <a:t>Looking at EXTERNAL opportunities, Water Timer fits well with growing consumer interest in health, wellness, and habit-building products, and lets us dip more into those growing markets. It also creates room for partnerships with fitness and wellness influencers and allows Owala to build on the reusable bottle trend.</a:t>
            </a:r>
            <a:endParaRPr sz="1600"/>
          </a:p>
          <a:p>
            <a:pPr marL="0" lvl="0" indent="0" algn="l" rtl="0">
              <a:lnSpc>
                <a:spcPct val="115000"/>
              </a:lnSpc>
              <a:spcBef>
                <a:spcPts val="1200"/>
              </a:spcBef>
              <a:spcAft>
                <a:spcPts val="0"/>
              </a:spcAft>
              <a:buClr>
                <a:schemeClr val="dk1"/>
              </a:buClr>
              <a:buSzPts val="1100"/>
              <a:buFont typeface="Arial"/>
              <a:buNone/>
            </a:pPr>
            <a:r>
              <a:rPr lang="en-US" sz="1600"/>
              <a:t>Finally, for EXTERNAL threats we have competition not only from other bottle brands, but also from free digital hydration reminder tools, and the risk of imitation if the idea becomes popular. There is also the challenge of convincing consumers to pay a premium price in a crowded market.”</a:t>
            </a:r>
            <a:endParaRPr sz="1600"/>
          </a:p>
          <a:p>
            <a:pPr marL="0" lvl="0" indent="0" algn="l" rtl="0">
              <a:spcBef>
                <a:spcPts val="1200"/>
              </a:spcBef>
              <a:spcAft>
                <a:spcPts val="0"/>
              </a:spcAft>
              <a:buNone/>
            </a:pPr>
            <a:endParaRPr/>
          </a:p>
        </p:txBody>
      </p:sp>
      <p:sp>
        <p:nvSpPr>
          <p:cNvPr id="97" name="Google Shape;9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1" name="Google Shape;30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3d6caa93a2e_1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5" name="Google Shape;385;g3d6caa93a2e_1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g3d6caa93a2e_1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2" name="Google Shape;44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transition spd="med">
    <p:push/>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15"/>
        <p:cNvGrpSpPr/>
        <p:nvPr/>
      </p:nvGrpSpPr>
      <p:grpSpPr>
        <a:xfrm>
          <a:off x="0" y="0"/>
          <a:ext cx="0" cy="0"/>
          <a:chOff x="0" y="0"/>
          <a:chExt cx="0" cy="0"/>
        </a:xfrm>
      </p:grpSpPr>
      <p:sp>
        <p:nvSpPr>
          <p:cNvPr id="16" name="Google Shape;16;p1"/>
          <p:cNvSpPr/>
          <p:nvPr/>
        </p:nvSpPr>
        <p:spPr>
          <a:xfrm>
            <a:off x="228600" y="0"/>
            <a:ext cx="4932900" cy="5143500"/>
          </a:xfrm>
          <a:prstGeom prst="rect">
            <a:avLst/>
          </a:prstGeom>
          <a:solidFill>
            <a:srgbClr val="0A0F1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1"/>
          <p:cNvSpPr/>
          <p:nvPr/>
        </p:nvSpPr>
        <p:spPr>
          <a:xfrm>
            <a:off x="-133150" y="-61450"/>
            <a:ext cx="361800" cy="5418000"/>
          </a:xfrm>
          <a:prstGeom prst="rect">
            <a:avLst/>
          </a:prstGeom>
          <a:solidFill>
            <a:srgbClr val="BCB2D2"/>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1"/>
          <p:cNvSpPr/>
          <p:nvPr/>
        </p:nvSpPr>
        <p:spPr>
          <a:xfrm>
            <a:off x="388625" y="1414225"/>
            <a:ext cx="4007100" cy="94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8000"/>
              <a:buFont typeface="Trebuchet MS"/>
              <a:buNone/>
            </a:pPr>
            <a:r>
              <a:rPr lang="en-US" sz="8000" b="1">
                <a:solidFill>
                  <a:srgbClr val="F8FAFC"/>
                </a:solidFill>
                <a:latin typeface="Trebuchet MS"/>
                <a:ea typeface="Trebuchet MS"/>
                <a:cs typeface="Trebuchet MS"/>
                <a:sym typeface="Trebuchet MS"/>
              </a:rPr>
              <a:t>OWALA</a:t>
            </a:r>
            <a:endParaRPr sz="8000" b="0" i="0" u="none" strike="noStrike" cap="none">
              <a:solidFill>
                <a:schemeClr val="dk1"/>
              </a:solidFill>
              <a:latin typeface="Calibri"/>
              <a:ea typeface="Calibri"/>
              <a:cs typeface="Calibri"/>
              <a:sym typeface="Calibri"/>
            </a:endParaRPr>
          </a:p>
        </p:txBody>
      </p:sp>
      <p:sp>
        <p:nvSpPr>
          <p:cNvPr id="19" name="Google Shape;19;p1"/>
          <p:cNvSpPr/>
          <p:nvPr/>
        </p:nvSpPr>
        <p:spPr>
          <a:xfrm>
            <a:off x="457200" y="2153375"/>
            <a:ext cx="4632300" cy="100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8000"/>
              <a:buFont typeface="Trebuchet MS"/>
              <a:buNone/>
            </a:pPr>
            <a:r>
              <a:rPr lang="en-US" sz="5400" b="1">
                <a:solidFill>
                  <a:srgbClr val="BCB2D2"/>
                </a:solidFill>
                <a:latin typeface="Trebuchet MS"/>
                <a:ea typeface="Trebuchet MS"/>
                <a:cs typeface="Trebuchet MS"/>
                <a:sym typeface="Trebuchet MS"/>
              </a:rPr>
              <a:t>WATER </a:t>
            </a:r>
            <a:r>
              <a:rPr lang="en-US" sz="5400" b="1" i="0" u="none" strike="noStrike" cap="none">
                <a:solidFill>
                  <a:srgbClr val="BCB2D2"/>
                </a:solidFill>
                <a:latin typeface="Trebuchet MS"/>
                <a:ea typeface="Trebuchet MS"/>
                <a:cs typeface="Trebuchet MS"/>
                <a:sym typeface="Trebuchet MS"/>
              </a:rPr>
              <a:t>TIMER</a:t>
            </a:r>
            <a:endParaRPr sz="5400" b="0" i="0" u="none" strike="noStrike" cap="none">
              <a:solidFill>
                <a:srgbClr val="BCB2D2"/>
              </a:solidFill>
              <a:latin typeface="Calibri"/>
              <a:ea typeface="Calibri"/>
              <a:cs typeface="Calibri"/>
              <a:sym typeface="Calibri"/>
            </a:endParaRPr>
          </a:p>
        </p:txBody>
      </p:sp>
      <p:sp>
        <p:nvSpPr>
          <p:cNvPr id="20" name="Google Shape;20;p1"/>
          <p:cNvSpPr/>
          <p:nvPr/>
        </p:nvSpPr>
        <p:spPr>
          <a:xfrm>
            <a:off x="457200" y="3200400"/>
            <a:ext cx="4572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600"/>
              <a:buFont typeface="Calibri"/>
              <a:buNone/>
            </a:pPr>
            <a:r>
              <a:rPr lang="en-US" sz="1600" b="0" i="1" u="none" strike="noStrike" cap="none">
                <a:solidFill>
                  <a:srgbClr val="94A3B8"/>
                </a:solidFill>
                <a:latin typeface="Calibri"/>
                <a:ea typeface="Calibri"/>
                <a:cs typeface="Calibri"/>
                <a:sym typeface="Calibri"/>
              </a:rPr>
              <a:t>Smart Hydration. Built Into Your Bottle.</a:t>
            </a:r>
            <a:endParaRPr sz="1600" b="0" i="0" u="none" strike="noStrike" cap="none">
              <a:solidFill>
                <a:schemeClr val="dk1"/>
              </a:solidFill>
              <a:latin typeface="Calibri"/>
              <a:ea typeface="Calibri"/>
              <a:cs typeface="Calibri"/>
              <a:sym typeface="Calibri"/>
            </a:endParaRPr>
          </a:p>
        </p:txBody>
      </p:sp>
      <p:sp>
        <p:nvSpPr>
          <p:cNvPr id="21" name="Google Shape;21;p1"/>
          <p:cNvSpPr/>
          <p:nvPr/>
        </p:nvSpPr>
        <p:spPr>
          <a:xfrm>
            <a:off x="457200" y="3794760"/>
            <a:ext cx="2743200" cy="27432"/>
          </a:xfrm>
          <a:prstGeom prst="rect">
            <a:avLst/>
          </a:prstGeom>
          <a:solidFill>
            <a:srgbClr val="BCB2D2"/>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BCB2D2"/>
              </a:solidFill>
            </a:endParaRPr>
          </a:p>
        </p:txBody>
      </p:sp>
      <p:sp>
        <p:nvSpPr>
          <p:cNvPr id="22" name="Google Shape;22;p1"/>
          <p:cNvSpPr/>
          <p:nvPr/>
        </p:nvSpPr>
        <p:spPr>
          <a:xfrm>
            <a:off x="457200" y="3931925"/>
            <a:ext cx="45720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AE6FD"/>
              </a:buClr>
              <a:buSzPts val="1100"/>
              <a:buFont typeface="Calibri"/>
              <a:buNone/>
            </a:pPr>
            <a:r>
              <a:rPr lang="en-US" sz="1100" b="1" i="0" u="none" strike="noStrike" cap="none">
                <a:solidFill>
                  <a:srgbClr val="BAE6FD"/>
                </a:solidFill>
                <a:latin typeface="Calibri"/>
                <a:ea typeface="Calibri"/>
                <a:cs typeface="Calibri"/>
                <a:sym typeface="Calibri"/>
              </a:rPr>
              <a:t>Group Members: </a:t>
            </a:r>
            <a:r>
              <a:rPr lang="en-US" sz="1100">
                <a:solidFill>
                  <a:srgbClr val="94A3B8"/>
                </a:solidFill>
                <a:latin typeface="Calibri"/>
                <a:ea typeface="Calibri"/>
                <a:cs typeface="Calibri"/>
                <a:sym typeface="Calibri"/>
              </a:rPr>
              <a:t>Anika Bandwar</a:t>
            </a:r>
            <a:r>
              <a:rPr lang="en-US" sz="1100" b="0" i="0" u="none" strike="noStrike" cap="none">
                <a:solidFill>
                  <a:srgbClr val="94A3B8"/>
                </a:solidFill>
                <a:latin typeface="Calibri"/>
                <a:ea typeface="Calibri"/>
                <a:cs typeface="Calibri"/>
                <a:sym typeface="Calibri"/>
              </a:rPr>
              <a:t> •  </a:t>
            </a:r>
            <a:r>
              <a:rPr lang="en-US" sz="1100">
                <a:solidFill>
                  <a:srgbClr val="94A3B8"/>
                </a:solidFill>
                <a:latin typeface="Calibri"/>
                <a:ea typeface="Calibri"/>
                <a:cs typeface="Calibri"/>
                <a:sym typeface="Calibri"/>
              </a:rPr>
              <a:t>Mehul Jain</a:t>
            </a:r>
            <a:r>
              <a:rPr lang="en-US" sz="1100" b="0" i="0" u="none" strike="noStrike" cap="none">
                <a:solidFill>
                  <a:srgbClr val="94A3B8"/>
                </a:solidFill>
                <a:latin typeface="Calibri"/>
                <a:ea typeface="Calibri"/>
                <a:cs typeface="Calibri"/>
                <a:sym typeface="Calibri"/>
              </a:rPr>
              <a:t>  •  </a:t>
            </a:r>
            <a:r>
              <a:rPr lang="en-US" sz="1100">
                <a:solidFill>
                  <a:srgbClr val="94A3B8"/>
                </a:solidFill>
                <a:latin typeface="Calibri"/>
                <a:ea typeface="Calibri"/>
                <a:cs typeface="Calibri"/>
                <a:sym typeface="Calibri"/>
              </a:rPr>
              <a:t>Colin Kummings</a:t>
            </a:r>
            <a:r>
              <a:rPr lang="en-US" sz="1100" b="0" i="0" u="none" strike="noStrike" cap="none">
                <a:solidFill>
                  <a:srgbClr val="94A3B8"/>
                </a:solidFill>
                <a:latin typeface="Calibri"/>
                <a:ea typeface="Calibri"/>
                <a:cs typeface="Calibri"/>
                <a:sym typeface="Calibri"/>
              </a:rPr>
              <a:t>  • </a:t>
            </a:r>
            <a:r>
              <a:rPr lang="en-US" sz="1100">
                <a:solidFill>
                  <a:srgbClr val="94A3B8"/>
                </a:solidFill>
                <a:latin typeface="Calibri"/>
                <a:ea typeface="Calibri"/>
                <a:cs typeface="Calibri"/>
                <a:sym typeface="Calibri"/>
              </a:rPr>
              <a:t>Rosie Kwok • Victoria Kokoszka •  Aditya Patel •  Sahishnav Grende •  Vishwajith Banala</a:t>
            </a:r>
            <a:endParaRPr sz="1100" b="0" i="0" u="none" strike="noStrike" cap="none">
              <a:solidFill>
                <a:schemeClr val="dk1"/>
              </a:solidFill>
              <a:latin typeface="Calibri"/>
              <a:ea typeface="Calibri"/>
              <a:cs typeface="Calibri"/>
              <a:sym typeface="Calibri"/>
            </a:endParaRPr>
          </a:p>
        </p:txBody>
      </p:sp>
      <p:sp>
        <p:nvSpPr>
          <p:cNvPr id="23" name="Google Shape;23;p1"/>
          <p:cNvSpPr/>
          <p:nvPr/>
        </p:nvSpPr>
        <p:spPr>
          <a:xfrm>
            <a:off x="457200" y="4251960"/>
            <a:ext cx="4572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AE6FD"/>
              </a:buClr>
              <a:buSzPts val="1100"/>
              <a:buFont typeface="Calibri"/>
              <a:buNone/>
            </a:pPr>
            <a:r>
              <a:rPr lang="en-US" sz="1100" b="1" i="0" u="none" strike="noStrike" cap="none">
                <a:solidFill>
                  <a:srgbClr val="BAE6FD"/>
                </a:solidFill>
                <a:latin typeface="Calibri"/>
                <a:ea typeface="Calibri"/>
                <a:cs typeface="Calibri"/>
                <a:sym typeface="Calibri"/>
              </a:rPr>
              <a:t>Course: </a:t>
            </a:r>
            <a:r>
              <a:rPr lang="en-US" sz="1100">
                <a:solidFill>
                  <a:srgbClr val="94A3B8"/>
                </a:solidFill>
                <a:latin typeface="Calibri"/>
                <a:ea typeface="Calibri"/>
                <a:cs typeface="Calibri"/>
                <a:sym typeface="Calibri"/>
              </a:rPr>
              <a:t>I</a:t>
            </a:r>
            <a:r>
              <a:rPr lang="en-US" sz="1100" b="0" i="0" u="none" strike="noStrike" cap="none">
                <a:solidFill>
                  <a:srgbClr val="94A3B8"/>
                </a:solidFill>
                <a:latin typeface="Calibri"/>
                <a:ea typeface="Calibri"/>
                <a:cs typeface="Calibri"/>
                <a:sym typeface="Calibri"/>
              </a:rPr>
              <a:t>ntro to Marketing</a:t>
            </a:r>
            <a:r>
              <a:rPr lang="en-US" sz="1100">
                <a:solidFill>
                  <a:srgbClr val="94A3B8"/>
                </a:solidFill>
                <a:latin typeface="Calibri"/>
                <a:ea typeface="Calibri"/>
                <a:cs typeface="Calibri"/>
                <a:sym typeface="Calibri"/>
              </a:rPr>
              <a:t>, Spring 2026, 04/23/26</a:t>
            </a:r>
            <a:endParaRPr sz="1100" b="0" i="0" u="none" strike="noStrike" cap="none">
              <a:solidFill>
                <a:schemeClr val="dk1"/>
              </a:solidFill>
              <a:latin typeface="Calibri"/>
              <a:ea typeface="Calibri"/>
              <a:cs typeface="Calibri"/>
              <a:sym typeface="Calibri"/>
            </a:endParaRPr>
          </a:p>
        </p:txBody>
      </p:sp>
      <p:pic>
        <p:nvPicPr>
          <p:cNvPr id="24" name="Google Shape;24;p1"/>
          <p:cNvPicPr preferRelativeResize="0"/>
          <p:nvPr/>
        </p:nvPicPr>
        <p:blipFill>
          <a:blip r:embed="rId3">
            <a:alphaModFix/>
          </a:blip>
          <a:stretch>
            <a:fillRect/>
          </a:stretch>
        </p:blipFill>
        <p:spPr>
          <a:xfrm>
            <a:off x="5508600" y="171623"/>
            <a:ext cx="3200128" cy="4800250"/>
          </a:xfrm>
          <a:prstGeom prst="rect">
            <a:avLst/>
          </a:prstGeom>
          <a:noFill/>
          <a:ln w="28575" cap="flat" cmpd="sng">
            <a:solidFill>
              <a:srgbClr val="A78BFA"/>
            </a:solidFill>
            <a:prstDash val="solid"/>
            <a:round/>
            <a:headEnd type="none" w="sm" len="sm"/>
            <a:tailEnd type="none" w="sm" len="sm"/>
          </a:ln>
        </p:spPr>
      </p:pic>
      <p:pic>
        <p:nvPicPr>
          <p:cNvPr id="25" name="Google Shape;25;p1" descr="make this look like a realistic water drop and make the shape look better"/>
          <p:cNvPicPr preferRelativeResize="0"/>
          <p:nvPr/>
        </p:nvPicPr>
        <p:blipFill>
          <a:blip r:embed="rId4">
            <a:alphaModFix/>
          </a:blip>
          <a:stretch>
            <a:fillRect/>
          </a:stretch>
        </p:blipFill>
        <p:spPr>
          <a:xfrm>
            <a:off x="3723950" y="743900"/>
            <a:ext cx="1111775" cy="1111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30"/>
        <p:cNvGrpSpPr/>
        <p:nvPr/>
      </p:nvGrpSpPr>
      <p:grpSpPr>
        <a:xfrm>
          <a:off x="0" y="0"/>
          <a:ext cx="0" cy="0"/>
          <a:chOff x="0" y="0"/>
          <a:chExt cx="0" cy="0"/>
        </a:xfrm>
      </p:grpSpPr>
      <p:sp>
        <p:nvSpPr>
          <p:cNvPr id="31" name="Google Shape;31;p2"/>
          <p:cNvSpPr/>
          <p:nvPr/>
        </p:nvSpPr>
        <p:spPr>
          <a:xfrm>
            <a:off x="0" y="0"/>
            <a:ext cx="9144000" cy="73152"/>
          </a:xfrm>
          <a:prstGeom prst="rect">
            <a:avLst/>
          </a:prstGeom>
          <a:solidFill>
            <a:srgbClr val="14B8A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457200" y="201168"/>
            <a:ext cx="82296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2800"/>
              <a:buFont typeface="Trebuchet MS"/>
              <a:buNone/>
            </a:pPr>
            <a:r>
              <a:rPr lang="en-US" sz="2800" b="1" i="0" u="none" strike="noStrike" cap="none">
                <a:solidFill>
                  <a:srgbClr val="F8FAFC"/>
                </a:solidFill>
                <a:latin typeface="Trebuchet MS"/>
                <a:ea typeface="Trebuchet MS"/>
                <a:cs typeface="Trebuchet MS"/>
                <a:sym typeface="Trebuchet MS"/>
              </a:rPr>
              <a:t>Market Research                               </a:t>
            </a:r>
            <a:r>
              <a:rPr lang="en-US" sz="1200" b="1">
                <a:solidFill>
                  <a:srgbClr val="B7B7B7"/>
                </a:solidFill>
                <a:latin typeface="Trebuchet MS"/>
                <a:ea typeface="Trebuchet MS"/>
                <a:cs typeface="Trebuchet MS"/>
                <a:sym typeface="Trebuchet MS"/>
              </a:rPr>
              <a:t>Colin Kummings</a:t>
            </a:r>
            <a:endParaRPr sz="2800" b="0" i="0" u="none" strike="noStrike" cap="none">
              <a:solidFill>
                <a:schemeClr val="dk1"/>
              </a:solidFill>
              <a:latin typeface="Calibri"/>
              <a:ea typeface="Calibri"/>
              <a:cs typeface="Calibri"/>
              <a:sym typeface="Calibri"/>
            </a:endParaRPr>
          </a:p>
        </p:txBody>
      </p:sp>
      <p:sp>
        <p:nvSpPr>
          <p:cNvPr id="33" name="Google Shape;33;p2"/>
          <p:cNvSpPr/>
          <p:nvPr/>
        </p:nvSpPr>
        <p:spPr>
          <a:xfrm>
            <a:off x="457200" y="749808"/>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200"/>
              <a:buFont typeface="Calibri"/>
              <a:buNone/>
            </a:pPr>
            <a:r>
              <a:rPr lang="en-US" sz="1200" b="0" i="1" u="none" strike="noStrike" cap="none">
                <a:solidFill>
                  <a:srgbClr val="14B8A6"/>
                </a:solidFill>
                <a:latin typeface="Calibri"/>
                <a:ea typeface="Calibri"/>
                <a:cs typeface="Calibri"/>
                <a:sym typeface="Calibri"/>
              </a:rPr>
              <a:t>Consumer Trends &amp; Competitive Landscape</a:t>
            </a:r>
            <a:endParaRPr sz="1200" b="0" i="0" u="none" strike="noStrike" cap="none">
              <a:solidFill>
                <a:schemeClr val="dk1"/>
              </a:solidFill>
              <a:latin typeface="Calibri"/>
              <a:ea typeface="Calibri"/>
              <a:cs typeface="Calibri"/>
              <a:sym typeface="Calibri"/>
            </a:endParaRPr>
          </a:p>
        </p:txBody>
      </p:sp>
      <p:sp>
        <p:nvSpPr>
          <p:cNvPr id="34" name="Google Shape;34;p2"/>
          <p:cNvSpPr/>
          <p:nvPr/>
        </p:nvSpPr>
        <p:spPr>
          <a:xfrm>
            <a:off x="0" y="4956048"/>
            <a:ext cx="9144000" cy="182880"/>
          </a:xfrm>
          <a:prstGeom prst="rect">
            <a:avLst/>
          </a:prstGeom>
          <a:solidFill>
            <a:srgbClr val="0A0F1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457200" y="4974336"/>
            <a:ext cx="6400800" cy="1463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700"/>
              <a:buFont typeface="Calibri"/>
              <a:buNone/>
            </a:pPr>
            <a:r>
              <a:rPr lang="en-US" sz="700" b="0" i="0" u="none" strike="noStrike" cap="none">
                <a:solidFill>
                  <a:srgbClr val="475569"/>
                </a:solidFill>
                <a:latin typeface="Calibri"/>
                <a:ea typeface="Calibri"/>
                <a:cs typeface="Calibri"/>
                <a:sym typeface="Calibri"/>
              </a:rPr>
              <a:t>WATER TIMER  |  Owala Innovation Concept</a:t>
            </a:r>
            <a:endParaRPr sz="700" b="0" i="0" u="none" strike="noStrike" cap="none">
              <a:solidFill>
                <a:schemeClr val="dk1"/>
              </a:solidFill>
              <a:latin typeface="Calibri"/>
              <a:ea typeface="Calibri"/>
              <a:cs typeface="Calibri"/>
              <a:sym typeface="Calibri"/>
            </a:endParaRPr>
          </a:p>
        </p:txBody>
      </p:sp>
      <p:sp>
        <p:nvSpPr>
          <p:cNvPr id="36" name="Google Shape;36;p2"/>
          <p:cNvSpPr/>
          <p:nvPr/>
        </p:nvSpPr>
        <p:spPr>
          <a:xfrm>
            <a:off x="8503920" y="4974336"/>
            <a:ext cx="457200" cy="14630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9488"/>
              </a:buClr>
              <a:buSzPts val="700"/>
              <a:buFont typeface="Calibri"/>
              <a:buNone/>
            </a:pPr>
            <a:r>
              <a:rPr lang="en-US" sz="700" b="0" i="0" u="none" strike="noStrike" cap="none">
                <a:solidFill>
                  <a:srgbClr val="0D9488"/>
                </a:solidFill>
                <a:latin typeface="Calibri"/>
                <a:ea typeface="Calibri"/>
                <a:cs typeface="Calibri"/>
                <a:sym typeface="Calibri"/>
              </a:rPr>
              <a:t>2</a:t>
            </a:r>
            <a:endParaRPr sz="700" b="0" i="0" u="none" strike="noStrike" cap="none">
              <a:solidFill>
                <a:schemeClr val="dk1"/>
              </a:solidFill>
              <a:latin typeface="Calibri"/>
              <a:ea typeface="Calibri"/>
              <a:cs typeface="Calibri"/>
              <a:sym typeface="Calibri"/>
            </a:endParaRPr>
          </a:p>
        </p:txBody>
      </p:sp>
      <p:sp>
        <p:nvSpPr>
          <p:cNvPr id="37" name="Google Shape;37;p2"/>
          <p:cNvSpPr/>
          <p:nvPr/>
        </p:nvSpPr>
        <p:spPr>
          <a:xfrm>
            <a:off x="7772400" y="45720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046720" y="45720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8321040" y="45720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595360" y="45720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8869680" y="45720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7772400" y="73152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8046720" y="73152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8321040" y="73152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8595360" y="73152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8869680" y="73152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7772400" y="100584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046720" y="100584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321040" y="100584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8595360" y="100584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8869680" y="100584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7772400" y="128016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8046720" y="128016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8321040" y="128016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8595360" y="128016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8869680" y="128016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7772400" y="155448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8046720" y="155448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8321040" y="155448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8595360" y="155448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8869680" y="155448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7772400" y="182880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8046720" y="182880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8321040" y="182880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8595360" y="182880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8869680" y="1828800"/>
            <a:ext cx="54864" cy="54864"/>
          </a:xfrm>
          <a:prstGeom prst="ellipse">
            <a:avLst/>
          </a:prstGeom>
          <a:solidFill>
            <a:srgbClr val="0D9488">
              <a:alpha val="7843"/>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365760" y="1143000"/>
            <a:ext cx="2606040" cy="1234440"/>
          </a:xfrm>
          <a:prstGeom prst="rect">
            <a:avLst/>
          </a:prstGeom>
          <a:solidFill>
            <a:srgbClr val="161B22"/>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8" name="Google Shape;68;p2" descr="preencoded.png"/>
          <p:cNvPicPr preferRelativeResize="0"/>
          <p:nvPr/>
        </p:nvPicPr>
        <p:blipFill rotWithShape="1">
          <a:blip r:embed="rId3">
            <a:alphaModFix/>
          </a:blip>
          <a:srcRect/>
          <a:stretch/>
        </p:blipFill>
        <p:spPr>
          <a:xfrm>
            <a:off x="548640" y="1261872"/>
            <a:ext cx="347472" cy="347472"/>
          </a:xfrm>
          <a:prstGeom prst="rect">
            <a:avLst/>
          </a:prstGeom>
          <a:noFill/>
          <a:ln>
            <a:noFill/>
          </a:ln>
        </p:spPr>
      </p:pic>
      <p:sp>
        <p:nvSpPr>
          <p:cNvPr id="69" name="Google Shape;69;p2"/>
          <p:cNvSpPr/>
          <p:nvPr/>
        </p:nvSpPr>
        <p:spPr>
          <a:xfrm>
            <a:off x="1005840" y="1207008"/>
            <a:ext cx="18288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3000"/>
              <a:buFont typeface="Trebuchet MS"/>
              <a:buNone/>
            </a:pPr>
            <a:r>
              <a:rPr lang="en-US" sz="3000" b="1" i="0" u="none" strike="noStrike" cap="none">
                <a:solidFill>
                  <a:srgbClr val="14B8A6"/>
                </a:solidFill>
                <a:latin typeface="Trebuchet MS"/>
                <a:ea typeface="Trebuchet MS"/>
                <a:cs typeface="Trebuchet MS"/>
                <a:sym typeface="Trebuchet MS"/>
              </a:rPr>
              <a:t>$</a:t>
            </a:r>
            <a:r>
              <a:rPr lang="en-US" sz="3000" b="1">
                <a:solidFill>
                  <a:srgbClr val="14B8A6"/>
                </a:solidFill>
                <a:latin typeface="Trebuchet MS"/>
                <a:ea typeface="Trebuchet MS"/>
                <a:cs typeface="Trebuchet MS"/>
                <a:sym typeface="Trebuchet MS"/>
              </a:rPr>
              <a:t>2.8</a:t>
            </a:r>
            <a:r>
              <a:rPr lang="en-US" sz="3000" b="1" i="0" u="none" strike="noStrike" cap="none">
                <a:solidFill>
                  <a:srgbClr val="14B8A6"/>
                </a:solidFill>
                <a:latin typeface="Trebuchet MS"/>
                <a:ea typeface="Trebuchet MS"/>
                <a:cs typeface="Trebuchet MS"/>
                <a:sym typeface="Trebuchet MS"/>
              </a:rPr>
              <a:t>B</a:t>
            </a:r>
            <a:endParaRPr sz="3000" b="0" i="0" u="none" strike="noStrike" cap="none">
              <a:solidFill>
                <a:schemeClr val="dk1"/>
              </a:solidFill>
              <a:latin typeface="Calibri"/>
              <a:ea typeface="Calibri"/>
              <a:cs typeface="Calibri"/>
              <a:sym typeface="Calibri"/>
            </a:endParaRPr>
          </a:p>
        </p:txBody>
      </p:sp>
      <p:sp>
        <p:nvSpPr>
          <p:cNvPr id="70" name="Google Shape;70;p2"/>
          <p:cNvSpPr/>
          <p:nvPr/>
        </p:nvSpPr>
        <p:spPr>
          <a:xfrm>
            <a:off x="548640" y="1719072"/>
            <a:ext cx="2286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b="0" i="0" u="none" strike="noStrike" cap="none">
                <a:solidFill>
                  <a:srgbClr val="94A3B8"/>
                </a:solidFill>
                <a:latin typeface="Calibri"/>
                <a:ea typeface="Calibri"/>
                <a:cs typeface="Calibri"/>
                <a:sym typeface="Calibri"/>
              </a:rPr>
              <a:t>Global Smart Water Bottle</a:t>
            </a:r>
            <a:endParaRPr sz="10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94A3B8"/>
              </a:buClr>
              <a:buSzPts val="1000"/>
              <a:buFont typeface="Calibri"/>
              <a:buNone/>
            </a:pPr>
            <a:r>
              <a:rPr lang="en-US" sz="1000" b="0" i="0" u="none" strike="noStrike" cap="none">
                <a:solidFill>
                  <a:srgbClr val="94A3B8"/>
                </a:solidFill>
                <a:latin typeface="Calibri"/>
                <a:ea typeface="Calibri"/>
                <a:cs typeface="Calibri"/>
                <a:sym typeface="Calibri"/>
              </a:rPr>
              <a:t>Market (2025</a:t>
            </a:r>
            <a:endParaRPr sz="1000" b="0" i="0" u="none" strike="noStrike" cap="none">
              <a:solidFill>
                <a:schemeClr val="dk1"/>
              </a:solidFill>
              <a:latin typeface="Calibri"/>
              <a:ea typeface="Calibri"/>
              <a:cs typeface="Calibri"/>
              <a:sym typeface="Calibri"/>
            </a:endParaRPr>
          </a:p>
        </p:txBody>
      </p:sp>
      <p:sp>
        <p:nvSpPr>
          <p:cNvPr id="71" name="Google Shape;71;p2"/>
          <p:cNvSpPr/>
          <p:nvPr/>
        </p:nvSpPr>
        <p:spPr>
          <a:xfrm>
            <a:off x="3200400" y="1143000"/>
            <a:ext cx="2606040" cy="1234440"/>
          </a:xfrm>
          <a:prstGeom prst="rect">
            <a:avLst/>
          </a:prstGeom>
          <a:solidFill>
            <a:srgbClr val="161B22"/>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3840480" y="1207008"/>
            <a:ext cx="18288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3000"/>
              <a:buFont typeface="Trebuchet MS"/>
              <a:buNone/>
            </a:pPr>
            <a:r>
              <a:rPr lang="en-US" sz="3000" b="1" i="0" u="none" strike="noStrike" cap="none">
                <a:solidFill>
                  <a:srgbClr val="14B8A6"/>
                </a:solidFill>
                <a:latin typeface="Trebuchet MS"/>
                <a:ea typeface="Trebuchet MS"/>
                <a:cs typeface="Trebuchet MS"/>
                <a:sym typeface="Trebuchet MS"/>
              </a:rPr>
              <a:t>$</a:t>
            </a:r>
            <a:r>
              <a:rPr lang="en-US" sz="3000" b="1">
                <a:solidFill>
                  <a:srgbClr val="14B8A6"/>
                </a:solidFill>
                <a:latin typeface="Trebuchet MS"/>
                <a:ea typeface="Trebuchet MS"/>
                <a:cs typeface="Trebuchet MS"/>
                <a:sym typeface="Trebuchet MS"/>
              </a:rPr>
              <a:t>8.9B</a:t>
            </a:r>
            <a:endParaRPr sz="3000" b="0" i="0" u="none" strike="noStrike" cap="none">
              <a:solidFill>
                <a:schemeClr val="dk1"/>
              </a:solidFill>
              <a:latin typeface="Calibri"/>
              <a:ea typeface="Calibri"/>
              <a:cs typeface="Calibri"/>
              <a:sym typeface="Calibri"/>
            </a:endParaRPr>
          </a:p>
        </p:txBody>
      </p:sp>
      <p:sp>
        <p:nvSpPr>
          <p:cNvPr id="73" name="Google Shape;73;p2"/>
          <p:cNvSpPr/>
          <p:nvPr/>
        </p:nvSpPr>
        <p:spPr>
          <a:xfrm>
            <a:off x="3383280" y="1719072"/>
            <a:ext cx="2286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a:solidFill>
                  <a:srgbClr val="94A3B8"/>
                </a:solidFill>
                <a:latin typeface="Calibri"/>
                <a:ea typeface="Calibri"/>
                <a:cs typeface="Calibri"/>
                <a:sym typeface="Calibri"/>
              </a:rPr>
              <a:t>Projected Global Smart Water Bottle Market by 2036</a:t>
            </a:r>
            <a:endParaRPr sz="1000" b="0" i="0" u="none" strike="noStrike" cap="none">
              <a:solidFill>
                <a:schemeClr val="dk1"/>
              </a:solidFill>
              <a:latin typeface="Calibri"/>
              <a:ea typeface="Calibri"/>
              <a:cs typeface="Calibri"/>
              <a:sym typeface="Calibri"/>
            </a:endParaRPr>
          </a:p>
        </p:txBody>
      </p:sp>
      <p:sp>
        <p:nvSpPr>
          <p:cNvPr id="74" name="Google Shape;74;p2"/>
          <p:cNvSpPr/>
          <p:nvPr/>
        </p:nvSpPr>
        <p:spPr>
          <a:xfrm>
            <a:off x="6035040" y="1143000"/>
            <a:ext cx="2606040" cy="1234440"/>
          </a:xfrm>
          <a:prstGeom prst="rect">
            <a:avLst/>
          </a:prstGeom>
          <a:solidFill>
            <a:srgbClr val="161B22"/>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5" name="Google Shape;75;p2" descr="preencoded.png"/>
          <p:cNvPicPr preferRelativeResize="0"/>
          <p:nvPr/>
        </p:nvPicPr>
        <p:blipFill rotWithShape="1">
          <a:blip r:embed="rId4">
            <a:alphaModFix/>
          </a:blip>
          <a:srcRect/>
          <a:stretch/>
        </p:blipFill>
        <p:spPr>
          <a:xfrm>
            <a:off x="6217920" y="1261872"/>
            <a:ext cx="347472" cy="347472"/>
          </a:xfrm>
          <a:prstGeom prst="rect">
            <a:avLst/>
          </a:prstGeom>
          <a:noFill/>
          <a:ln>
            <a:noFill/>
          </a:ln>
        </p:spPr>
      </p:pic>
      <p:sp>
        <p:nvSpPr>
          <p:cNvPr id="76" name="Google Shape;76;p2"/>
          <p:cNvSpPr/>
          <p:nvPr/>
        </p:nvSpPr>
        <p:spPr>
          <a:xfrm>
            <a:off x="6675120" y="1207008"/>
            <a:ext cx="18288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3000"/>
              <a:buFont typeface="Trebuchet MS"/>
              <a:buNone/>
            </a:pPr>
            <a:r>
              <a:rPr lang="en-US" sz="3000" b="1">
                <a:solidFill>
                  <a:srgbClr val="14B8A6"/>
                </a:solidFill>
                <a:latin typeface="Trebuchet MS"/>
                <a:ea typeface="Trebuchet MS"/>
                <a:cs typeface="Trebuchet MS"/>
                <a:sym typeface="Trebuchet MS"/>
              </a:rPr>
              <a:t>10.7%</a:t>
            </a:r>
            <a:endParaRPr sz="3000" b="0" i="0" u="none" strike="noStrike" cap="none">
              <a:solidFill>
                <a:schemeClr val="dk1"/>
              </a:solidFill>
              <a:latin typeface="Calibri"/>
              <a:ea typeface="Calibri"/>
              <a:cs typeface="Calibri"/>
              <a:sym typeface="Calibri"/>
            </a:endParaRPr>
          </a:p>
        </p:txBody>
      </p:sp>
      <p:sp>
        <p:nvSpPr>
          <p:cNvPr id="77" name="Google Shape;77;p2"/>
          <p:cNvSpPr/>
          <p:nvPr/>
        </p:nvSpPr>
        <p:spPr>
          <a:xfrm>
            <a:off x="6217920" y="1719072"/>
            <a:ext cx="2286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a:solidFill>
                  <a:srgbClr val="94A3B8"/>
                </a:solidFill>
                <a:latin typeface="Calibri"/>
                <a:ea typeface="Calibri"/>
                <a:cs typeface="Calibri"/>
                <a:sym typeface="Calibri"/>
              </a:rPr>
              <a:t>Compound Annual Growth Rate for the Global Smart Water Bottle Market</a:t>
            </a:r>
            <a:endParaRPr sz="1000" b="0" i="0" u="none" strike="noStrike" cap="none">
              <a:solidFill>
                <a:schemeClr val="dk1"/>
              </a:solidFill>
              <a:latin typeface="Calibri"/>
              <a:ea typeface="Calibri"/>
              <a:cs typeface="Calibri"/>
              <a:sym typeface="Calibri"/>
            </a:endParaRPr>
          </a:p>
        </p:txBody>
      </p:sp>
      <p:sp>
        <p:nvSpPr>
          <p:cNvPr id="78" name="Google Shape;78;p2"/>
          <p:cNvSpPr/>
          <p:nvPr/>
        </p:nvSpPr>
        <p:spPr>
          <a:xfrm>
            <a:off x="365750" y="2560326"/>
            <a:ext cx="4120800" cy="2341200"/>
          </a:xfrm>
          <a:prstGeom prst="rect">
            <a:avLst/>
          </a:prstGeom>
          <a:solidFill>
            <a:srgbClr val="161B22"/>
          </a:solidFill>
          <a:ln w="12700" cap="flat" cmpd="sng">
            <a:solidFill>
              <a:srgbClr val="21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548640" y="2651760"/>
            <a:ext cx="36576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AE6FD"/>
              </a:buClr>
              <a:buSzPts val="1300"/>
              <a:buFont typeface="Trebuchet MS"/>
              <a:buNone/>
            </a:pPr>
            <a:r>
              <a:rPr lang="en-US" sz="1300" b="1">
                <a:solidFill>
                  <a:srgbClr val="BAE6FD"/>
                </a:solidFill>
                <a:latin typeface="Trebuchet MS"/>
                <a:ea typeface="Trebuchet MS"/>
                <a:cs typeface="Trebuchet MS"/>
                <a:sym typeface="Trebuchet MS"/>
              </a:rPr>
              <a:t>Market Trends and Target Customers</a:t>
            </a:r>
            <a:endParaRPr sz="1300" b="0" i="0" u="none" strike="noStrike" cap="none">
              <a:solidFill>
                <a:schemeClr val="dk1"/>
              </a:solidFill>
              <a:latin typeface="Calibri"/>
              <a:ea typeface="Calibri"/>
              <a:cs typeface="Calibri"/>
              <a:sym typeface="Calibri"/>
            </a:endParaRPr>
          </a:p>
        </p:txBody>
      </p:sp>
      <p:pic>
        <p:nvPicPr>
          <p:cNvPr id="80" name="Google Shape;80;p2" descr="preencoded.png"/>
          <p:cNvPicPr preferRelativeResize="0"/>
          <p:nvPr/>
        </p:nvPicPr>
        <p:blipFill rotWithShape="1">
          <a:blip r:embed="rId5">
            <a:alphaModFix/>
          </a:blip>
          <a:srcRect/>
          <a:stretch/>
        </p:blipFill>
        <p:spPr>
          <a:xfrm>
            <a:off x="502920" y="3090672"/>
            <a:ext cx="201168" cy="201168"/>
          </a:xfrm>
          <a:prstGeom prst="rect">
            <a:avLst/>
          </a:prstGeom>
          <a:noFill/>
          <a:ln>
            <a:noFill/>
          </a:ln>
        </p:spPr>
      </p:pic>
      <p:sp>
        <p:nvSpPr>
          <p:cNvPr id="81" name="Google Shape;81;p2"/>
          <p:cNvSpPr/>
          <p:nvPr/>
        </p:nvSpPr>
        <p:spPr>
          <a:xfrm>
            <a:off x="777240" y="3054096"/>
            <a:ext cx="356616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b="0" i="0" u="none" strike="noStrike" cap="none">
                <a:solidFill>
                  <a:srgbClr val="94A3B8"/>
                </a:solidFill>
                <a:latin typeface="Calibri"/>
                <a:ea typeface="Calibri"/>
                <a:cs typeface="Calibri"/>
                <a:sym typeface="Calibri"/>
              </a:rPr>
              <a:t>Water bottle trends cycle every 2–3 years (Nalgene → HydroFlask → Stanley → Owala)(Driven</a:t>
            </a:r>
            <a:r>
              <a:rPr lang="en-US" sz="1000">
                <a:solidFill>
                  <a:srgbClr val="94A3B8"/>
                </a:solidFill>
                <a:latin typeface="Calibri"/>
                <a:ea typeface="Calibri"/>
                <a:cs typeface="Calibri"/>
                <a:sym typeface="Calibri"/>
              </a:rPr>
              <a:t> by Social Media/Influencers)</a:t>
            </a:r>
            <a:endParaRPr sz="1000" b="0" i="0" u="none" strike="noStrike" cap="none">
              <a:solidFill>
                <a:schemeClr val="dk1"/>
              </a:solidFill>
              <a:latin typeface="Calibri"/>
              <a:ea typeface="Calibri"/>
              <a:cs typeface="Calibri"/>
              <a:sym typeface="Calibri"/>
            </a:endParaRPr>
          </a:p>
        </p:txBody>
      </p:sp>
      <p:pic>
        <p:nvPicPr>
          <p:cNvPr id="82" name="Google Shape;82;p2" descr="preencoded.png"/>
          <p:cNvPicPr preferRelativeResize="0"/>
          <p:nvPr/>
        </p:nvPicPr>
        <p:blipFill rotWithShape="1">
          <a:blip r:embed="rId5">
            <a:alphaModFix/>
          </a:blip>
          <a:srcRect/>
          <a:stretch/>
        </p:blipFill>
        <p:spPr>
          <a:xfrm>
            <a:off x="502920" y="3474720"/>
            <a:ext cx="201168" cy="201168"/>
          </a:xfrm>
          <a:prstGeom prst="rect">
            <a:avLst/>
          </a:prstGeom>
          <a:noFill/>
          <a:ln>
            <a:noFill/>
          </a:ln>
        </p:spPr>
      </p:pic>
      <p:sp>
        <p:nvSpPr>
          <p:cNvPr id="83" name="Google Shape;83;p2"/>
          <p:cNvSpPr/>
          <p:nvPr/>
        </p:nvSpPr>
        <p:spPr>
          <a:xfrm>
            <a:off x="777240" y="3438144"/>
            <a:ext cx="356616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a:solidFill>
                  <a:srgbClr val="94A3B8"/>
                </a:solidFill>
                <a:latin typeface="Calibri"/>
                <a:ea typeface="Calibri"/>
                <a:cs typeface="Calibri"/>
                <a:sym typeface="Calibri"/>
              </a:rPr>
              <a:t>Target Customers: Fitness enthusiasts, office and remote workers, Gen Z and millenials (18-25), healthcare and medical Users</a:t>
            </a:r>
            <a:endParaRPr sz="1000" b="0" i="0" u="none" strike="noStrike" cap="none">
              <a:solidFill>
                <a:schemeClr val="dk1"/>
              </a:solidFill>
              <a:latin typeface="Calibri"/>
              <a:ea typeface="Calibri"/>
              <a:cs typeface="Calibri"/>
              <a:sym typeface="Calibri"/>
            </a:endParaRPr>
          </a:p>
        </p:txBody>
      </p:sp>
      <p:pic>
        <p:nvPicPr>
          <p:cNvPr id="84" name="Google Shape;84;p2" descr="preencoded.png"/>
          <p:cNvPicPr preferRelativeResize="0"/>
          <p:nvPr/>
        </p:nvPicPr>
        <p:blipFill rotWithShape="1">
          <a:blip r:embed="rId5">
            <a:alphaModFix/>
          </a:blip>
          <a:srcRect/>
          <a:stretch/>
        </p:blipFill>
        <p:spPr>
          <a:xfrm>
            <a:off x="502920" y="3858768"/>
            <a:ext cx="201168" cy="201168"/>
          </a:xfrm>
          <a:prstGeom prst="rect">
            <a:avLst/>
          </a:prstGeom>
          <a:noFill/>
          <a:ln>
            <a:noFill/>
          </a:ln>
        </p:spPr>
      </p:pic>
      <p:sp>
        <p:nvSpPr>
          <p:cNvPr id="85" name="Google Shape;85;p2"/>
          <p:cNvSpPr/>
          <p:nvPr/>
        </p:nvSpPr>
        <p:spPr>
          <a:xfrm>
            <a:off x="777240" y="3822192"/>
            <a:ext cx="356616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a:solidFill>
                  <a:srgbClr val="94A3B8"/>
                </a:solidFill>
                <a:latin typeface="Calibri"/>
                <a:ea typeface="Calibri"/>
                <a:cs typeface="Calibri"/>
                <a:sym typeface="Calibri"/>
              </a:rPr>
              <a:t>Wellness/Fitness culture are driving demand along with sustainability pushing reusable drinkware</a:t>
            </a:r>
            <a:endParaRPr sz="1000" b="0" i="0" u="none" strike="noStrike" cap="none">
              <a:solidFill>
                <a:schemeClr val="dk1"/>
              </a:solidFill>
              <a:latin typeface="Calibri"/>
              <a:ea typeface="Calibri"/>
              <a:cs typeface="Calibri"/>
              <a:sym typeface="Calibri"/>
            </a:endParaRPr>
          </a:p>
        </p:txBody>
      </p:sp>
      <p:pic>
        <p:nvPicPr>
          <p:cNvPr id="86" name="Google Shape;86;p2" descr="preencoded.png"/>
          <p:cNvPicPr preferRelativeResize="0"/>
          <p:nvPr/>
        </p:nvPicPr>
        <p:blipFill rotWithShape="1">
          <a:blip r:embed="rId5">
            <a:alphaModFix/>
          </a:blip>
          <a:srcRect/>
          <a:stretch/>
        </p:blipFill>
        <p:spPr>
          <a:xfrm>
            <a:off x="502920" y="4242816"/>
            <a:ext cx="201168" cy="201168"/>
          </a:xfrm>
          <a:prstGeom prst="rect">
            <a:avLst/>
          </a:prstGeom>
          <a:noFill/>
          <a:ln>
            <a:noFill/>
          </a:ln>
        </p:spPr>
      </p:pic>
      <p:sp>
        <p:nvSpPr>
          <p:cNvPr id="87" name="Google Shape;87;p2"/>
          <p:cNvSpPr/>
          <p:nvPr/>
        </p:nvSpPr>
        <p:spPr>
          <a:xfrm>
            <a:off x="777240" y="4206240"/>
            <a:ext cx="356616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b="0" i="0" u="none" strike="noStrike" cap="none">
                <a:solidFill>
                  <a:srgbClr val="94A3B8"/>
                </a:solidFill>
                <a:latin typeface="Calibri"/>
                <a:ea typeface="Calibri"/>
                <a:cs typeface="Calibri"/>
                <a:sym typeface="Calibri"/>
              </a:rPr>
              <a:t>Physical product reminders outperform digital alerts in behavior change studies</a:t>
            </a:r>
            <a:endParaRPr sz="1000" b="0" i="0" u="none" strike="noStrike" cap="none">
              <a:solidFill>
                <a:schemeClr val="dk1"/>
              </a:solidFill>
              <a:latin typeface="Calibri"/>
              <a:ea typeface="Calibri"/>
              <a:cs typeface="Calibri"/>
              <a:sym typeface="Calibri"/>
            </a:endParaRPr>
          </a:p>
        </p:txBody>
      </p:sp>
      <p:sp>
        <p:nvSpPr>
          <p:cNvPr id="88" name="Google Shape;88;p2"/>
          <p:cNvSpPr/>
          <p:nvPr/>
        </p:nvSpPr>
        <p:spPr>
          <a:xfrm>
            <a:off x="4754880" y="2560320"/>
            <a:ext cx="4023360" cy="2103120"/>
          </a:xfrm>
          <a:prstGeom prst="rect">
            <a:avLst/>
          </a:prstGeom>
          <a:solidFill>
            <a:srgbClr val="161B22"/>
          </a:solidFill>
          <a:ln w="12700" cap="flat" cmpd="sng">
            <a:solidFill>
              <a:srgbClr val="21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4937760" y="2651760"/>
            <a:ext cx="34747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AE6FD"/>
              </a:buClr>
              <a:buSzPts val="1300"/>
              <a:buFont typeface="Trebuchet MS"/>
              <a:buNone/>
            </a:pPr>
            <a:r>
              <a:rPr lang="en-US" sz="1300" b="1" i="0" u="none" strike="noStrike" cap="none">
                <a:solidFill>
                  <a:srgbClr val="BAE6FD"/>
                </a:solidFill>
                <a:latin typeface="Trebuchet MS"/>
                <a:ea typeface="Trebuchet MS"/>
                <a:cs typeface="Trebuchet MS"/>
                <a:sym typeface="Trebuchet MS"/>
              </a:rPr>
              <a:t>Competitor Landscape</a:t>
            </a:r>
            <a:endParaRPr sz="1300" b="0" i="0" u="none" strike="noStrike" cap="none">
              <a:solidFill>
                <a:schemeClr val="dk1"/>
              </a:solidFill>
              <a:latin typeface="Calibri"/>
              <a:ea typeface="Calibri"/>
              <a:cs typeface="Calibri"/>
              <a:sym typeface="Calibri"/>
            </a:endParaRPr>
          </a:p>
        </p:txBody>
      </p:sp>
      <p:graphicFrame>
        <p:nvGraphicFramePr>
          <p:cNvPr id="90" name="Google Shape;90;p2"/>
          <p:cNvGraphicFramePr/>
          <p:nvPr/>
        </p:nvGraphicFramePr>
        <p:xfrm>
          <a:off x="4800600" y="3017520"/>
          <a:ext cx="3000000" cy="3000000"/>
        </p:xfrm>
        <a:graphic>
          <a:graphicData uri="http://schemas.openxmlformats.org/drawingml/2006/table">
            <a:tbl>
              <a:tblPr>
                <a:noFill/>
                <a:tableStyleId>{4448D342-DFC0-491A-835A-FC63651FD996}</a:tableStyleId>
              </a:tblPr>
              <a:tblGrid>
                <a:gridCol w="1645925">
                  <a:extLst>
                    <a:ext uri="{9D8B030D-6E8A-4147-A177-3AD203B41FA5}">
                      <a16:colId xmlns:a16="http://schemas.microsoft.com/office/drawing/2014/main" val="20000"/>
                    </a:ext>
                  </a:extLst>
                </a:gridCol>
                <a:gridCol w="738425">
                  <a:extLst>
                    <a:ext uri="{9D8B030D-6E8A-4147-A177-3AD203B41FA5}">
                      <a16:colId xmlns:a16="http://schemas.microsoft.com/office/drawing/2014/main" val="20001"/>
                    </a:ext>
                  </a:extLst>
                </a:gridCol>
                <a:gridCol w="730850">
                  <a:extLst>
                    <a:ext uri="{9D8B030D-6E8A-4147-A177-3AD203B41FA5}">
                      <a16:colId xmlns:a16="http://schemas.microsoft.com/office/drawing/2014/main" val="20002"/>
                    </a:ext>
                  </a:extLst>
                </a:gridCol>
                <a:gridCol w="679550">
                  <a:extLst>
                    <a:ext uri="{9D8B030D-6E8A-4147-A177-3AD203B41FA5}">
                      <a16:colId xmlns:a16="http://schemas.microsoft.com/office/drawing/2014/main" val="20003"/>
                    </a:ext>
                  </a:extLst>
                </a:gridCol>
              </a:tblGrid>
              <a:tr h="310900">
                <a:tc>
                  <a:txBody>
                    <a:bodyPr/>
                    <a:lstStyle/>
                    <a:p>
                      <a:pPr marL="0" marR="0" lvl="0" indent="0" algn="l" rtl="0">
                        <a:spcBef>
                          <a:spcPts val="0"/>
                        </a:spcBef>
                        <a:spcAft>
                          <a:spcPts val="0"/>
                        </a:spcAft>
                        <a:buClr>
                          <a:srgbClr val="0D1117"/>
                        </a:buClr>
                        <a:buSzPts val="1000"/>
                        <a:buFont typeface="Calibri"/>
                        <a:buNone/>
                      </a:pPr>
                      <a:r>
                        <a:rPr lang="en-US" sz="1000" b="1" u="none" strike="noStrike" cap="none">
                          <a:solidFill>
                            <a:srgbClr val="0D1117"/>
                          </a:solidFill>
                          <a:latin typeface="Calibri"/>
                          <a:ea typeface="Calibri"/>
                          <a:cs typeface="Calibri"/>
                          <a:sym typeface="Calibri"/>
                        </a:rPr>
                        <a:t>Brand</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0D9488"/>
                    </a:solidFill>
                  </a:tcPr>
                </a:tc>
                <a:tc>
                  <a:txBody>
                    <a:bodyPr/>
                    <a:lstStyle/>
                    <a:p>
                      <a:pPr marL="0" marR="0" lvl="0" indent="0" algn="ctr" rtl="0">
                        <a:spcBef>
                          <a:spcPts val="0"/>
                        </a:spcBef>
                        <a:spcAft>
                          <a:spcPts val="0"/>
                        </a:spcAft>
                        <a:buClr>
                          <a:srgbClr val="0D1117"/>
                        </a:buClr>
                        <a:buSzPts val="1000"/>
                        <a:buFont typeface="Calibri"/>
                        <a:buNone/>
                      </a:pPr>
                      <a:r>
                        <a:rPr lang="en-US" sz="1000" b="1" u="none" strike="noStrike" cap="none">
                          <a:solidFill>
                            <a:srgbClr val="0D1117"/>
                          </a:solidFill>
                          <a:latin typeface="Calibri"/>
                          <a:ea typeface="Calibri"/>
                          <a:cs typeface="Calibri"/>
                          <a:sym typeface="Calibri"/>
                        </a:rPr>
                        <a:t>Reminder</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0D9488"/>
                    </a:solidFill>
                  </a:tcPr>
                </a:tc>
                <a:tc>
                  <a:txBody>
                    <a:bodyPr/>
                    <a:lstStyle/>
                    <a:p>
                      <a:pPr marL="0" marR="0" lvl="0" indent="0" algn="ctr" rtl="0">
                        <a:spcBef>
                          <a:spcPts val="0"/>
                        </a:spcBef>
                        <a:spcAft>
                          <a:spcPts val="0"/>
                        </a:spcAft>
                        <a:buClr>
                          <a:srgbClr val="0D1117"/>
                        </a:buClr>
                        <a:buSzPts val="1000"/>
                        <a:buFont typeface="Calibri"/>
                        <a:buNone/>
                      </a:pPr>
                      <a:r>
                        <a:rPr lang="en-US" sz="1000" b="1" u="none" strike="noStrike" cap="none">
                          <a:solidFill>
                            <a:srgbClr val="0D1117"/>
                          </a:solidFill>
                          <a:latin typeface="Calibri"/>
                          <a:ea typeface="Calibri"/>
                          <a:cs typeface="Calibri"/>
                          <a:sym typeface="Calibri"/>
                        </a:rPr>
                        <a:t>Tracker</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0D9488"/>
                    </a:solidFill>
                  </a:tcPr>
                </a:tc>
                <a:tc>
                  <a:txBody>
                    <a:bodyPr/>
                    <a:lstStyle/>
                    <a:p>
                      <a:pPr marL="0" marR="0" lvl="0" indent="0" algn="ctr" rtl="0">
                        <a:spcBef>
                          <a:spcPts val="0"/>
                        </a:spcBef>
                        <a:spcAft>
                          <a:spcPts val="0"/>
                        </a:spcAft>
                        <a:buClr>
                          <a:srgbClr val="0D1117"/>
                        </a:buClr>
                        <a:buSzPts val="1000"/>
                        <a:buFont typeface="Calibri"/>
                        <a:buNone/>
                      </a:pPr>
                      <a:r>
                        <a:rPr lang="en-US" sz="1000" b="1" u="none" strike="noStrike" cap="none">
                          <a:solidFill>
                            <a:srgbClr val="0D1117"/>
                          </a:solidFill>
                          <a:latin typeface="Calibri"/>
                          <a:ea typeface="Calibri"/>
                          <a:cs typeface="Calibri"/>
                          <a:sym typeface="Calibri"/>
                        </a:rPr>
                        <a:t>Physical Timer</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0D9488"/>
                    </a:solidFill>
                  </a:tcPr>
                </a:tc>
                <a:extLst>
                  <a:ext uri="{0D108BD9-81ED-4DB2-BD59-A6C34878D82A}">
                    <a16:rowId xmlns:a16="http://schemas.microsoft.com/office/drawing/2014/main" val="10000"/>
                  </a:ext>
                </a:extLst>
              </a:tr>
              <a:tr h="310900">
                <a:tc>
                  <a:txBody>
                    <a:bodyPr/>
                    <a:lstStyle/>
                    <a:p>
                      <a:pPr marL="0" marR="0" lvl="0" indent="0" algn="l" rtl="0">
                        <a:spcBef>
                          <a:spcPts val="0"/>
                        </a:spcBef>
                        <a:spcAft>
                          <a:spcPts val="0"/>
                        </a:spcAft>
                        <a:buClr>
                          <a:srgbClr val="F8FAFC"/>
                        </a:buClr>
                        <a:buSzPts val="1000"/>
                        <a:buFont typeface="Calibri"/>
                        <a:buNone/>
                      </a:pPr>
                      <a:r>
                        <a:rPr lang="en-US" sz="1000" u="none" strike="noStrike" cap="none">
                          <a:solidFill>
                            <a:srgbClr val="F8FAFC"/>
                          </a:solidFill>
                          <a:latin typeface="Calibri"/>
                          <a:ea typeface="Calibri"/>
                          <a:cs typeface="Calibri"/>
                          <a:sym typeface="Calibri"/>
                        </a:rPr>
                        <a:t>Owala (current)</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161B22"/>
                    </a:solidFill>
                  </a:tcPr>
                </a:tc>
                <a:tc>
                  <a:txBody>
                    <a:bodyPr/>
                    <a:lstStyle/>
                    <a:p>
                      <a:pPr marL="0" marR="0" lvl="0" indent="0" algn="ctr" rtl="0">
                        <a:spcBef>
                          <a:spcPts val="0"/>
                        </a:spcBef>
                        <a:spcAft>
                          <a:spcPts val="0"/>
                        </a:spcAft>
                        <a:buClr>
                          <a:srgbClr val="EF4444"/>
                        </a:buClr>
                        <a:buSzPts val="1000"/>
                        <a:buFont typeface="Calibri"/>
                        <a:buNone/>
                      </a:pPr>
                      <a:r>
                        <a:rPr lang="en-US" sz="1000" u="none" strike="noStrike" cap="none">
                          <a:solidFill>
                            <a:srgbClr val="EF4444"/>
                          </a:solidFill>
                          <a:latin typeface="Calibri"/>
                          <a:ea typeface="Calibri"/>
                          <a:cs typeface="Calibri"/>
                          <a:sym typeface="Calibri"/>
                        </a:rPr>
                        <a:t>✗</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161B22"/>
                    </a:solidFill>
                  </a:tcPr>
                </a:tc>
                <a:tc>
                  <a:txBody>
                    <a:bodyPr/>
                    <a:lstStyle/>
                    <a:p>
                      <a:pPr marL="0" marR="0" lvl="0" indent="0" algn="ctr" rtl="0">
                        <a:spcBef>
                          <a:spcPts val="0"/>
                        </a:spcBef>
                        <a:spcAft>
                          <a:spcPts val="0"/>
                        </a:spcAft>
                        <a:buClr>
                          <a:srgbClr val="EF4444"/>
                        </a:buClr>
                        <a:buSzPts val="1000"/>
                        <a:buFont typeface="Calibri"/>
                        <a:buNone/>
                      </a:pPr>
                      <a:r>
                        <a:rPr lang="en-US" sz="1000" u="none" strike="noStrike" cap="none">
                          <a:solidFill>
                            <a:srgbClr val="EF4444"/>
                          </a:solidFill>
                          <a:latin typeface="Calibri"/>
                          <a:ea typeface="Calibri"/>
                          <a:cs typeface="Calibri"/>
                          <a:sym typeface="Calibri"/>
                        </a:rPr>
                        <a:t>✗</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161B22"/>
                    </a:solidFill>
                  </a:tcPr>
                </a:tc>
                <a:tc>
                  <a:txBody>
                    <a:bodyPr/>
                    <a:lstStyle/>
                    <a:p>
                      <a:pPr marL="0" marR="0" lvl="0" indent="0" algn="ctr" rtl="0">
                        <a:spcBef>
                          <a:spcPts val="0"/>
                        </a:spcBef>
                        <a:spcAft>
                          <a:spcPts val="0"/>
                        </a:spcAft>
                        <a:buClr>
                          <a:srgbClr val="EF4444"/>
                        </a:buClr>
                        <a:buSzPts val="1000"/>
                        <a:buFont typeface="Calibri"/>
                        <a:buNone/>
                      </a:pPr>
                      <a:r>
                        <a:rPr lang="en-US" sz="1000" u="none" strike="noStrike" cap="none">
                          <a:solidFill>
                            <a:srgbClr val="EF4444"/>
                          </a:solidFill>
                          <a:latin typeface="Calibri"/>
                          <a:ea typeface="Calibri"/>
                          <a:cs typeface="Calibri"/>
                          <a:sym typeface="Calibri"/>
                        </a:rPr>
                        <a:t>✗</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161B22"/>
                    </a:solidFill>
                  </a:tcPr>
                </a:tc>
                <a:extLst>
                  <a:ext uri="{0D108BD9-81ED-4DB2-BD59-A6C34878D82A}">
                    <a16:rowId xmlns:a16="http://schemas.microsoft.com/office/drawing/2014/main" val="10001"/>
                  </a:ext>
                </a:extLst>
              </a:tr>
              <a:tr h="310900">
                <a:tc>
                  <a:txBody>
                    <a:bodyPr/>
                    <a:lstStyle/>
                    <a:p>
                      <a:pPr marL="0" marR="0" lvl="0" indent="0" algn="l" rtl="0">
                        <a:spcBef>
                          <a:spcPts val="0"/>
                        </a:spcBef>
                        <a:spcAft>
                          <a:spcPts val="0"/>
                        </a:spcAft>
                        <a:buClr>
                          <a:srgbClr val="F8FAFC"/>
                        </a:buClr>
                        <a:buSzPts val="1000"/>
                        <a:buFont typeface="Calibri"/>
                        <a:buNone/>
                      </a:pPr>
                      <a:r>
                        <a:rPr lang="en-US" sz="1000" u="none" strike="noStrike" cap="none">
                          <a:solidFill>
                            <a:srgbClr val="F8FAFC"/>
                          </a:solidFill>
                          <a:latin typeface="Calibri"/>
                          <a:ea typeface="Calibri"/>
                          <a:cs typeface="Calibri"/>
                          <a:sym typeface="Calibri"/>
                        </a:rPr>
                        <a:t>HidrateSpark PRO 2</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161B22"/>
                    </a:solidFill>
                  </a:tcPr>
                </a:tc>
                <a:tc>
                  <a:txBody>
                    <a:bodyPr/>
                    <a:lstStyle/>
                    <a:p>
                      <a:pPr marL="0" marR="0" lvl="0" indent="0" algn="ctr" rtl="0">
                        <a:spcBef>
                          <a:spcPts val="0"/>
                        </a:spcBef>
                        <a:spcAft>
                          <a:spcPts val="0"/>
                        </a:spcAft>
                        <a:buClr>
                          <a:srgbClr val="F8FAFC"/>
                        </a:buClr>
                        <a:buSzPts val="1000"/>
                        <a:buFont typeface="Calibri"/>
                        <a:buNone/>
                      </a:pPr>
                      <a:r>
                        <a:rPr lang="en-US" sz="1000" u="none" strike="noStrike" cap="none">
                          <a:solidFill>
                            <a:srgbClr val="F8FAFC"/>
                          </a:solidFill>
                          <a:latin typeface="Calibri"/>
                          <a:ea typeface="Calibri"/>
                          <a:cs typeface="Calibri"/>
                          <a:sym typeface="Calibri"/>
                        </a:rPr>
                        <a:t>✓ App</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161B22"/>
                    </a:solidFill>
                  </a:tcPr>
                </a:tc>
                <a:tc>
                  <a:txBody>
                    <a:bodyPr/>
                    <a:lstStyle/>
                    <a:p>
                      <a:pPr marL="0" marR="0" lvl="0" indent="0" algn="ctr" rtl="0">
                        <a:spcBef>
                          <a:spcPts val="0"/>
                        </a:spcBef>
                        <a:spcAft>
                          <a:spcPts val="0"/>
                        </a:spcAft>
                        <a:buClr>
                          <a:srgbClr val="F8FAFC"/>
                        </a:buClr>
                        <a:buSzPts val="1000"/>
                        <a:buFont typeface="Calibri"/>
                        <a:buNone/>
                      </a:pPr>
                      <a:r>
                        <a:rPr lang="en-US" sz="1000" u="none" strike="noStrike" cap="none">
                          <a:solidFill>
                            <a:srgbClr val="F8FAFC"/>
                          </a:solidFill>
                          <a:latin typeface="Calibri"/>
                          <a:ea typeface="Calibri"/>
                          <a:cs typeface="Calibri"/>
                          <a:sym typeface="Calibri"/>
                        </a:rPr>
                        <a:t>✓ App</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161B22"/>
                    </a:solidFill>
                  </a:tcPr>
                </a:tc>
                <a:tc>
                  <a:txBody>
                    <a:bodyPr/>
                    <a:lstStyle/>
                    <a:p>
                      <a:pPr marL="0" marR="0" lvl="0" indent="0" algn="ctr" rtl="0">
                        <a:spcBef>
                          <a:spcPts val="0"/>
                        </a:spcBef>
                        <a:spcAft>
                          <a:spcPts val="0"/>
                        </a:spcAft>
                        <a:buClr>
                          <a:srgbClr val="EF4444"/>
                        </a:buClr>
                        <a:buSzPts val="1000"/>
                        <a:buFont typeface="Calibri"/>
                        <a:buNone/>
                      </a:pPr>
                      <a:r>
                        <a:rPr lang="en-US" sz="1000" u="none" strike="noStrike" cap="none">
                          <a:solidFill>
                            <a:srgbClr val="EF4444"/>
                          </a:solidFill>
                          <a:latin typeface="Calibri"/>
                          <a:ea typeface="Calibri"/>
                          <a:cs typeface="Calibri"/>
                          <a:sym typeface="Calibri"/>
                        </a:rPr>
                        <a:t>✗</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161B22"/>
                    </a:solidFill>
                  </a:tcPr>
                </a:tc>
                <a:extLst>
                  <a:ext uri="{0D108BD9-81ED-4DB2-BD59-A6C34878D82A}">
                    <a16:rowId xmlns:a16="http://schemas.microsoft.com/office/drawing/2014/main" val="10002"/>
                  </a:ext>
                </a:extLst>
              </a:tr>
              <a:tr h="310900">
                <a:tc>
                  <a:txBody>
                    <a:bodyPr/>
                    <a:lstStyle/>
                    <a:p>
                      <a:pPr marL="0" marR="0" lvl="0" indent="0" algn="l" rtl="0">
                        <a:spcBef>
                          <a:spcPts val="0"/>
                        </a:spcBef>
                        <a:spcAft>
                          <a:spcPts val="0"/>
                        </a:spcAft>
                        <a:buClr>
                          <a:srgbClr val="F8FAFC"/>
                        </a:buClr>
                        <a:buSzPts val="1000"/>
                        <a:buFont typeface="Calibri"/>
                        <a:buNone/>
                      </a:pPr>
                      <a:r>
                        <a:rPr lang="en-US" sz="1000" u="none" strike="noStrike" cap="none">
                          <a:solidFill>
                            <a:srgbClr val="F8FAFC"/>
                          </a:solidFill>
                          <a:latin typeface="Calibri"/>
                          <a:ea typeface="Calibri"/>
                          <a:cs typeface="Calibri"/>
                          <a:sym typeface="Calibri"/>
                        </a:rPr>
                        <a:t>LARQ Pure</a:t>
                      </a:r>
                      <a:r>
                        <a:rPr lang="en-US" sz="1000">
                          <a:solidFill>
                            <a:srgbClr val="F8FAFC"/>
                          </a:solidFill>
                          <a:latin typeface="Calibri"/>
                          <a:ea typeface="Calibri"/>
                          <a:cs typeface="Calibri"/>
                          <a:sym typeface="Calibri"/>
                        </a:rPr>
                        <a:t>Vis 2</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161B22"/>
                    </a:solidFill>
                  </a:tcPr>
                </a:tc>
                <a:tc>
                  <a:txBody>
                    <a:bodyPr/>
                    <a:lstStyle/>
                    <a:p>
                      <a:pPr marL="0" marR="0" lvl="0" indent="0" algn="ctr" rtl="0">
                        <a:spcBef>
                          <a:spcPts val="0"/>
                        </a:spcBef>
                        <a:spcAft>
                          <a:spcPts val="0"/>
                        </a:spcAft>
                        <a:buClr>
                          <a:srgbClr val="EF4444"/>
                        </a:buClr>
                        <a:buSzPts val="1000"/>
                        <a:buFont typeface="Calibri"/>
                        <a:buNone/>
                      </a:pPr>
                      <a:r>
                        <a:rPr lang="en-US" sz="1000" u="none" strike="noStrike" cap="none">
                          <a:solidFill>
                            <a:srgbClr val="EF4444"/>
                          </a:solidFill>
                          <a:latin typeface="Calibri"/>
                          <a:ea typeface="Calibri"/>
                          <a:cs typeface="Calibri"/>
                          <a:sym typeface="Calibri"/>
                        </a:rPr>
                        <a:t>✗</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161B22"/>
                    </a:solidFill>
                  </a:tcPr>
                </a:tc>
                <a:tc>
                  <a:txBody>
                    <a:bodyPr/>
                    <a:lstStyle/>
                    <a:p>
                      <a:pPr marL="0" marR="0" lvl="0" indent="0" algn="ctr" rtl="0">
                        <a:spcBef>
                          <a:spcPts val="0"/>
                        </a:spcBef>
                        <a:spcAft>
                          <a:spcPts val="0"/>
                        </a:spcAft>
                        <a:buClr>
                          <a:srgbClr val="EF4444"/>
                        </a:buClr>
                        <a:buSzPts val="1000"/>
                        <a:buFont typeface="Calibri"/>
                        <a:buNone/>
                      </a:pPr>
                      <a:r>
                        <a:rPr lang="en-US" sz="1000" u="none" strike="noStrike" cap="none">
                          <a:solidFill>
                            <a:srgbClr val="EF4444"/>
                          </a:solidFill>
                          <a:latin typeface="Calibri"/>
                          <a:ea typeface="Calibri"/>
                          <a:cs typeface="Calibri"/>
                          <a:sym typeface="Calibri"/>
                        </a:rPr>
                        <a:t>✗</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161B22"/>
                    </a:solidFill>
                  </a:tcPr>
                </a:tc>
                <a:tc>
                  <a:txBody>
                    <a:bodyPr/>
                    <a:lstStyle/>
                    <a:p>
                      <a:pPr marL="0" marR="0" lvl="0" indent="0" algn="ctr" rtl="0">
                        <a:spcBef>
                          <a:spcPts val="0"/>
                        </a:spcBef>
                        <a:spcAft>
                          <a:spcPts val="0"/>
                        </a:spcAft>
                        <a:buClr>
                          <a:srgbClr val="EF4444"/>
                        </a:buClr>
                        <a:buSzPts val="1000"/>
                        <a:buFont typeface="Calibri"/>
                        <a:buNone/>
                      </a:pPr>
                      <a:r>
                        <a:rPr lang="en-US" sz="1000" u="none" strike="noStrike" cap="none">
                          <a:solidFill>
                            <a:srgbClr val="EF4444"/>
                          </a:solidFill>
                          <a:latin typeface="Calibri"/>
                          <a:ea typeface="Calibri"/>
                          <a:cs typeface="Calibri"/>
                          <a:sym typeface="Calibri"/>
                        </a:rPr>
                        <a:t>✗</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161B22"/>
                    </a:solidFill>
                  </a:tcPr>
                </a:tc>
                <a:extLst>
                  <a:ext uri="{0D108BD9-81ED-4DB2-BD59-A6C34878D82A}">
                    <a16:rowId xmlns:a16="http://schemas.microsoft.com/office/drawing/2014/main" val="10003"/>
                  </a:ext>
                </a:extLst>
              </a:tr>
              <a:tr h="310900">
                <a:tc>
                  <a:txBody>
                    <a:bodyPr/>
                    <a:lstStyle/>
                    <a:p>
                      <a:pPr marL="0" marR="0" lvl="0" indent="0" algn="l" rtl="0">
                        <a:spcBef>
                          <a:spcPts val="0"/>
                        </a:spcBef>
                        <a:spcAft>
                          <a:spcPts val="0"/>
                        </a:spcAft>
                        <a:buClr>
                          <a:srgbClr val="5EEAD4"/>
                        </a:buClr>
                        <a:buSzPts val="1000"/>
                        <a:buFont typeface="Calibri"/>
                        <a:buNone/>
                      </a:pPr>
                      <a:r>
                        <a:rPr lang="en-US" sz="1000" b="1" u="none" strike="noStrike" cap="none">
                          <a:solidFill>
                            <a:srgbClr val="5EEAD4"/>
                          </a:solidFill>
                          <a:latin typeface="Calibri"/>
                          <a:ea typeface="Calibri"/>
                          <a:cs typeface="Calibri"/>
                          <a:sym typeface="Calibri"/>
                        </a:rPr>
                        <a:t>Water Timer ✦</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1A3A35"/>
                    </a:solidFill>
                  </a:tcPr>
                </a:tc>
                <a:tc>
                  <a:txBody>
                    <a:bodyPr/>
                    <a:lstStyle/>
                    <a:p>
                      <a:pPr marL="0" marR="0" lvl="0" indent="0" algn="ctr" rtl="0">
                        <a:spcBef>
                          <a:spcPts val="0"/>
                        </a:spcBef>
                        <a:spcAft>
                          <a:spcPts val="0"/>
                        </a:spcAft>
                        <a:buClr>
                          <a:srgbClr val="5EEAD4"/>
                        </a:buClr>
                        <a:buSzPts val="1000"/>
                        <a:buFont typeface="Calibri"/>
                        <a:buNone/>
                      </a:pPr>
                      <a:r>
                        <a:rPr lang="en-US" sz="1000" u="none" strike="noStrike" cap="none">
                          <a:solidFill>
                            <a:srgbClr val="5EEAD4"/>
                          </a:solidFill>
                          <a:latin typeface="Calibri"/>
                          <a:ea typeface="Calibri"/>
                          <a:cs typeface="Calibri"/>
                          <a:sym typeface="Calibri"/>
                        </a:rPr>
                        <a:t>✓ Built-in</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1A3A35"/>
                    </a:solidFill>
                  </a:tcPr>
                </a:tc>
                <a:tc>
                  <a:txBody>
                    <a:bodyPr/>
                    <a:lstStyle/>
                    <a:p>
                      <a:pPr marL="0" marR="0" lvl="0" indent="0" algn="ctr" rtl="0">
                        <a:spcBef>
                          <a:spcPts val="0"/>
                        </a:spcBef>
                        <a:spcAft>
                          <a:spcPts val="0"/>
                        </a:spcAft>
                        <a:buClr>
                          <a:srgbClr val="5EEAD4"/>
                        </a:buClr>
                        <a:buSzPts val="1000"/>
                        <a:buFont typeface="Calibri"/>
                        <a:buNone/>
                      </a:pPr>
                      <a:r>
                        <a:rPr lang="en-US" sz="1000" u="none" strike="noStrike" cap="none">
                          <a:solidFill>
                            <a:srgbClr val="5EEAD4"/>
                          </a:solidFill>
                          <a:latin typeface="Calibri"/>
                          <a:ea typeface="Calibri"/>
                          <a:cs typeface="Calibri"/>
                          <a:sym typeface="Calibri"/>
                        </a:rPr>
                        <a:t>✓ Built-in</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1A3A35"/>
                    </a:solidFill>
                  </a:tcPr>
                </a:tc>
                <a:tc>
                  <a:txBody>
                    <a:bodyPr/>
                    <a:lstStyle/>
                    <a:p>
                      <a:pPr marL="0" marR="0" lvl="0" indent="0" algn="ctr" rtl="0">
                        <a:spcBef>
                          <a:spcPts val="0"/>
                        </a:spcBef>
                        <a:spcAft>
                          <a:spcPts val="0"/>
                        </a:spcAft>
                        <a:buClr>
                          <a:srgbClr val="5EEAD4"/>
                        </a:buClr>
                        <a:buSzPts val="1000"/>
                        <a:buFont typeface="Calibri"/>
                        <a:buNone/>
                      </a:pPr>
                      <a:r>
                        <a:rPr lang="en-US" sz="1000" u="none" strike="noStrike" cap="none">
                          <a:solidFill>
                            <a:srgbClr val="5EEAD4"/>
                          </a:solidFill>
                          <a:latin typeface="Calibri"/>
                          <a:ea typeface="Calibri"/>
                          <a:cs typeface="Calibri"/>
                          <a:sym typeface="Calibri"/>
                        </a:rPr>
                        <a:t>✓</a:t>
                      </a:r>
                      <a:endParaRPr sz="1000" u="none" strike="noStrike" cap="none">
                        <a:latin typeface="Calibri"/>
                        <a:ea typeface="Calibri"/>
                        <a:cs typeface="Calibri"/>
                        <a:sym typeface="Calibri"/>
                      </a:endParaRPr>
                    </a:p>
                  </a:txBody>
                  <a:tcPr marL="91450" marR="91450" marT="45725" marB="45725">
                    <a:lnL w="9525" cap="flat" cmpd="sng">
                      <a:solidFill>
                        <a:srgbClr val="1E293B"/>
                      </a:solidFill>
                      <a:prstDash val="solid"/>
                      <a:round/>
                      <a:headEnd type="none" w="sm" len="sm"/>
                      <a:tailEnd type="none" w="sm" len="sm"/>
                    </a:lnL>
                    <a:lnR w="9525" cap="flat" cmpd="sng">
                      <a:solidFill>
                        <a:srgbClr val="1E293B"/>
                      </a:solidFill>
                      <a:prstDash val="solid"/>
                      <a:round/>
                      <a:headEnd type="none" w="sm" len="sm"/>
                      <a:tailEnd type="none" w="sm" len="sm"/>
                    </a:lnR>
                    <a:lnT w="9525" cap="flat" cmpd="sng">
                      <a:solidFill>
                        <a:srgbClr val="1E293B"/>
                      </a:solidFill>
                      <a:prstDash val="solid"/>
                      <a:round/>
                      <a:headEnd type="none" w="sm" len="sm"/>
                      <a:tailEnd type="none" w="sm" len="sm"/>
                    </a:lnT>
                    <a:lnB w="9525" cap="flat" cmpd="sng">
                      <a:solidFill>
                        <a:srgbClr val="1E293B"/>
                      </a:solidFill>
                      <a:prstDash val="solid"/>
                      <a:round/>
                      <a:headEnd type="none" w="sm" len="sm"/>
                      <a:tailEnd type="none" w="sm" len="sm"/>
                    </a:lnB>
                    <a:solidFill>
                      <a:srgbClr val="1A3A35"/>
                    </a:solidFill>
                  </a:tcPr>
                </a:tc>
                <a:extLst>
                  <a:ext uri="{0D108BD9-81ED-4DB2-BD59-A6C34878D82A}">
                    <a16:rowId xmlns:a16="http://schemas.microsoft.com/office/drawing/2014/main" val="10004"/>
                  </a:ext>
                </a:extLst>
              </a:tr>
            </a:tbl>
          </a:graphicData>
        </a:graphic>
      </p:graphicFrame>
      <p:pic>
        <p:nvPicPr>
          <p:cNvPr id="91" name="Google Shape;91;p2" descr="preencoded.png"/>
          <p:cNvPicPr preferRelativeResize="0"/>
          <p:nvPr/>
        </p:nvPicPr>
        <p:blipFill rotWithShape="1">
          <a:blip r:embed="rId5">
            <a:alphaModFix/>
          </a:blip>
          <a:srcRect/>
          <a:stretch/>
        </p:blipFill>
        <p:spPr>
          <a:xfrm>
            <a:off x="502920" y="4608566"/>
            <a:ext cx="201168" cy="201168"/>
          </a:xfrm>
          <a:prstGeom prst="rect">
            <a:avLst/>
          </a:prstGeom>
          <a:noFill/>
          <a:ln>
            <a:noFill/>
          </a:ln>
        </p:spPr>
      </p:pic>
      <p:sp>
        <p:nvSpPr>
          <p:cNvPr id="92" name="Google Shape;92;p2"/>
          <p:cNvSpPr/>
          <p:nvPr/>
        </p:nvSpPr>
        <p:spPr>
          <a:xfrm>
            <a:off x="777265" y="4544590"/>
            <a:ext cx="3566100" cy="32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a:solidFill>
                  <a:srgbClr val="94A3B8"/>
                </a:solidFill>
                <a:latin typeface="Calibri"/>
                <a:ea typeface="Calibri"/>
                <a:cs typeface="Calibri"/>
                <a:sym typeface="Calibri"/>
              </a:rPr>
              <a:t>North America = 39.6% market share and reminder feature usage is up 14% YoY</a:t>
            </a:r>
            <a:endParaRPr sz="1000" b="0" i="0" u="none" strike="noStrike" cap="none">
              <a:solidFill>
                <a:schemeClr val="dk1"/>
              </a:solidFill>
              <a:latin typeface="Calibri"/>
              <a:ea typeface="Calibri"/>
              <a:cs typeface="Calibri"/>
              <a:sym typeface="Calibri"/>
            </a:endParaRPr>
          </a:p>
        </p:txBody>
      </p:sp>
      <p:pic>
        <p:nvPicPr>
          <p:cNvPr id="93" name="Google Shape;93;p2"/>
          <p:cNvPicPr preferRelativeResize="0"/>
          <p:nvPr/>
        </p:nvPicPr>
        <p:blipFill>
          <a:blip r:embed="rId6">
            <a:alphaModFix/>
          </a:blip>
          <a:stretch>
            <a:fillRect/>
          </a:stretch>
        </p:blipFill>
        <p:spPr>
          <a:xfrm>
            <a:off x="3328412" y="1232283"/>
            <a:ext cx="457200" cy="45235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98"/>
        <p:cNvGrpSpPr/>
        <p:nvPr/>
      </p:nvGrpSpPr>
      <p:grpSpPr>
        <a:xfrm>
          <a:off x="0" y="0"/>
          <a:ext cx="0" cy="0"/>
          <a:chOff x="0" y="0"/>
          <a:chExt cx="0" cy="0"/>
        </a:xfrm>
      </p:grpSpPr>
      <p:sp>
        <p:nvSpPr>
          <p:cNvPr id="99" name="Google Shape;99;p3"/>
          <p:cNvSpPr/>
          <p:nvPr/>
        </p:nvSpPr>
        <p:spPr>
          <a:xfrm>
            <a:off x="0" y="0"/>
            <a:ext cx="9144000" cy="73152"/>
          </a:xfrm>
          <a:prstGeom prst="rect">
            <a:avLst/>
          </a:prstGeom>
          <a:solidFill>
            <a:srgbClr val="14B8A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3"/>
          <p:cNvSpPr/>
          <p:nvPr/>
        </p:nvSpPr>
        <p:spPr>
          <a:xfrm>
            <a:off x="457200" y="201175"/>
            <a:ext cx="84126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2800"/>
              <a:buFont typeface="Trebuchet MS"/>
              <a:buNone/>
            </a:pPr>
            <a:r>
              <a:rPr lang="en-US" sz="2800" b="1" i="0" u="none" strike="noStrike" cap="none">
                <a:solidFill>
                  <a:srgbClr val="F8FAFC"/>
                </a:solidFill>
                <a:latin typeface="Trebuchet MS"/>
                <a:ea typeface="Trebuchet MS"/>
                <a:cs typeface="Trebuchet MS"/>
                <a:sym typeface="Trebuchet MS"/>
              </a:rPr>
              <a:t>SWOT Analysis 											</a:t>
            </a:r>
            <a:r>
              <a:rPr lang="en-US" sz="1200" b="1">
                <a:solidFill>
                  <a:srgbClr val="B7B7B7"/>
                </a:solidFill>
                <a:latin typeface="Trebuchet MS"/>
                <a:ea typeface="Trebuchet MS"/>
                <a:cs typeface="Trebuchet MS"/>
                <a:sym typeface="Trebuchet MS"/>
              </a:rPr>
              <a:t>Anika Bandwar</a:t>
            </a:r>
            <a:endParaRPr sz="2800" b="0" i="0" u="none" strike="noStrike" cap="none">
              <a:solidFill>
                <a:schemeClr val="dk1"/>
              </a:solidFill>
              <a:latin typeface="Calibri"/>
              <a:ea typeface="Calibri"/>
              <a:cs typeface="Calibri"/>
              <a:sym typeface="Calibri"/>
            </a:endParaRPr>
          </a:p>
        </p:txBody>
      </p:sp>
      <p:sp>
        <p:nvSpPr>
          <p:cNvPr id="101" name="Google Shape;101;p3"/>
          <p:cNvSpPr/>
          <p:nvPr/>
        </p:nvSpPr>
        <p:spPr>
          <a:xfrm>
            <a:off x="457200" y="749800"/>
            <a:ext cx="84126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200"/>
              <a:buFont typeface="Calibri"/>
              <a:buNone/>
            </a:pPr>
            <a:r>
              <a:rPr lang="en-US" sz="1200" b="0" i="1" u="none" strike="noStrike" cap="none">
                <a:solidFill>
                  <a:srgbClr val="14B8A6"/>
                </a:solidFill>
                <a:latin typeface="Calibri"/>
                <a:ea typeface="Calibri"/>
                <a:cs typeface="Calibri"/>
                <a:sym typeface="Calibri"/>
              </a:rPr>
              <a:t>Strategic Assessment of Water Timer</a:t>
            </a:r>
            <a:endParaRPr sz="1200" b="0" i="0" u="none" strike="noStrike" cap="none">
              <a:solidFill>
                <a:schemeClr val="dk1"/>
              </a:solidFill>
              <a:latin typeface="Calibri"/>
              <a:ea typeface="Calibri"/>
              <a:cs typeface="Calibri"/>
              <a:sym typeface="Calibri"/>
            </a:endParaRPr>
          </a:p>
        </p:txBody>
      </p:sp>
      <p:sp>
        <p:nvSpPr>
          <p:cNvPr id="102" name="Google Shape;102;p3"/>
          <p:cNvSpPr/>
          <p:nvPr/>
        </p:nvSpPr>
        <p:spPr>
          <a:xfrm>
            <a:off x="0" y="4956048"/>
            <a:ext cx="9144000" cy="182880"/>
          </a:xfrm>
          <a:prstGeom prst="rect">
            <a:avLst/>
          </a:prstGeom>
          <a:solidFill>
            <a:srgbClr val="0A0F1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3"/>
          <p:cNvSpPr/>
          <p:nvPr/>
        </p:nvSpPr>
        <p:spPr>
          <a:xfrm>
            <a:off x="457200" y="4974336"/>
            <a:ext cx="6400800" cy="1463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700"/>
              <a:buFont typeface="Calibri"/>
              <a:buNone/>
            </a:pPr>
            <a:r>
              <a:rPr lang="en-US" sz="700" b="0" i="0" u="none" strike="noStrike" cap="none">
                <a:solidFill>
                  <a:srgbClr val="475569"/>
                </a:solidFill>
                <a:latin typeface="Calibri"/>
                <a:ea typeface="Calibri"/>
                <a:cs typeface="Calibri"/>
                <a:sym typeface="Calibri"/>
              </a:rPr>
              <a:t>WATER TIMER  |  Owala Innovation Concept</a:t>
            </a:r>
            <a:endParaRPr sz="700" b="0" i="0" u="none" strike="noStrike" cap="none">
              <a:solidFill>
                <a:schemeClr val="dk1"/>
              </a:solidFill>
              <a:latin typeface="Calibri"/>
              <a:ea typeface="Calibri"/>
              <a:cs typeface="Calibri"/>
              <a:sym typeface="Calibri"/>
            </a:endParaRPr>
          </a:p>
        </p:txBody>
      </p:sp>
      <p:sp>
        <p:nvSpPr>
          <p:cNvPr id="104" name="Google Shape;104;p3"/>
          <p:cNvSpPr/>
          <p:nvPr/>
        </p:nvSpPr>
        <p:spPr>
          <a:xfrm>
            <a:off x="8503920" y="4974336"/>
            <a:ext cx="457200" cy="14630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9488"/>
              </a:buClr>
              <a:buSzPts val="700"/>
              <a:buFont typeface="Calibri"/>
              <a:buNone/>
            </a:pPr>
            <a:r>
              <a:rPr lang="en-US" sz="700" b="0" i="0" u="none" strike="noStrike" cap="none">
                <a:solidFill>
                  <a:srgbClr val="0D9488"/>
                </a:solidFill>
                <a:latin typeface="Calibri"/>
                <a:ea typeface="Calibri"/>
                <a:cs typeface="Calibri"/>
                <a:sym typeface="Calibri"/>
              </a:rPr>
              <a:t>3</a:t>
            </a:r>
            <a:endParaRPr sz="700" b="0" i="0" u="none" strike="noStrike" cap="none">
              <a:solidFill>
                <a:schemeClr val="dk1"/>
              </a:solidFill>
              <a:latin typeface="Calibri"/>
              <a:ea typeface="Calibri"/>
              <a:cs typeface="Calibri"/>
              <a:sym typeface="Calibri"/>
            </a:endParaRPr>
          </a:p>
        </p:txBody>
      </p:sp>
      <p:sp>
        <p:nvSpPr>
          <p:cNvPr id="105" name="Google Shape;105;p3"/>
          <p:cNvSpPr/>
          <p:nvPr/>
        </p:nvSpPr>
        <p:spPr>
          <a:xfrm>
            <a:off x="274320" y="1143000"/>
            <a:ext cx="4160520" cy="1691640"/>
          </a:xfrm>
          <a:prstGeom prst="rect">
            <a:avLst/>
          </a:prstGeom>
          <a:solidFill>
            <a:srgbClr val="161B22"/>
          </a:solidFill>
          <a:ln w="1905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274320" y="1143000"/>
            <a:ext cx="4160520" cy="320040"/>
          </a:xfrm>
          <a:prstGeom prst="rect">
            <a:avLst/>
          </a:prstGeom>
          <a:solidFill>
            <a:srgbClr val="0D9488">
              <a:alpha val="30196"/>
            </a:srgbClr>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7" name="Google Shape;107;p3" descr="preencoded.png"/>
          <p:cNvPicPr preferRelativeResize="0"/>
          <p:nvPr/>
        </p:nvPicPr>
        <p:blipFill rotWithShape="1">
          <a:blip r:embed="rId3">
            <a:alphaModFix/>
          </a:blip>
          <a:srcRect/>
          <a:stretch/>
        </p:blipFill>
        <p:spPr>
          <a:xfrm>
            <a:off x="411480" y="1197864"/>
            <a:ext cx="219456" cy="219456"/>
          </a:xfrm>
          <a:prstGeom prst="rect">
            <a:avLst/>
          </a:prstGeom>
          <a:noFill/>
          <a:ln>
            <a:noFill/>
          </a:ln>
        </p:spPr>
      </p:pic>
      <p:sp>
        <p:nvSpPr>
          <p:cNvPr id="108" name="Google Shape;108;p3"/>
          <p:cNvSpPr/>
          <p:nvPr/>
        </p:nvSpPr>
        <p:spPr>
          <a:xfrm>
            <a:off x="713232" y="1188720"/>
            <a:ext cx="3474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300"/>
              <a:buFont typeface="Trebuchet MS"/>
              <a:buNone/>
            </a:pPr>
            <a:r>
              <a:rPr lang="en-US" sz="1300" b="1" i="0" u="none" strike="noStrike" cap="none">
                <a:solidFill>
                  <a:srgbClr val="0D9488"/>
                </a:solidFill>
                <a:latin typeface="Trebuchet MS"/>
                <a:ea typeface="Trebuchet MS"/>
                <a:cs typeface="Trebuchet MS"/>
                <a:sym typeface="Trebuchet MS"/>
              </a:rPr>
              <a:t>STRENGTHS</a:t>
            </a:r>
            <a:endParaRPr sz="1300" b="0" i="0" u="none" strike="noStrike" cap="none">
              <a:solidFill>
                <a:schemeClr val="dk1"/>
              </a:solidFill>
              <a:latin typeface="Calibri"/>
              <a:ea typeface="Calibri"/>
              <a:cs typeface="Calibri"/>
              <a:sym typeface="Calibri"/>
            </a:endParaRPr>
          </a:p>
        </p:txBody>
      </p:sp>
      <p:sp>
        <p:nvSpPr>
          <p:cNvPr id="109" name="Google Shape;109;p3"/>
          <p:cNvSpPr/>
          <p:nvPr/>
        </p:nvSpPr>
        <p:spPr>
          <a:xfrm>
            <a:off x="457200" y="1527048"/>
            <a:ext cx="3840480" cy="1234440"/>
          </a:xfrm>
          <a:prstGeom prst="rect">
            <a:avLst/>
          </a:prstGeom>
          <a:noFill/>
          <a:ln>
            <a:noFill/>
          </a:ln>
        </p:spPr>
        <p:txBody>
          <a:bodyPr spcFirstLastPara="1" wrap="square" lIns="0" tIns="0" rIns="0" bIns="0" anchor="ctr" anchorCtr="0">
            <a:noAutofit/>
          </a:bodyPr>
          <a:lstStyle/>
          <a:p>
            <a:pPr marL="457200" lvl="0" indent="-292100" algn="l" rtl="0">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Established Owala brand equity and recognizable aesthetic</a:t>
            </a:r>
            <a:endParaRPr sz="1000">
              <a:solidFill>
                <a:srgbClr val="94A3B8"/>
              </a:solidFill>
              <a:latin typeface="Calibri"/>
              <a:ea typeface="Calibri"/>
              <a:cs typeface="Calibri"/>
              <a:sym typeface="Calibri"/>
            </a:endParaRPr>
          </a:p>
          <a:p>
            <a:pPr marL="457200" lvl="0" indent="-292100" algn="l" rtl="0">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Product differentiation through built-in hydration reminder functionality</a:t>
            </a:r>
            <a:endParaRPr sz="1000">
              <a:solidFill>
                <a:srgbClr val="94A3B8"/>
              </a:solidFill>
              <a:latin typeface="Calibri"/>
              <a:ea typeface="Calibri"/>
              <a:cs typeface="Calibri"/>
              <a:sym typeface="Calibri"/>
            </a:endParaRPr>
          </a:p>
          <a:p>
            <a:pPr marL="457200" lvl="0" indent="-292100" algn="l" rtl="0">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Greater convenience than app-based reminder alternatives</a:t>
            </a:r>
            <a:endParaRPr sz="1000">
              <a:solidFill>
                <a:srgbClr val="94A3B8"/>
              </a:solidFill>
              <a:latin typeface="Calibri"/>
              <a:ea typeface="Calibri"/>
              <a:cs typeface="Calibri"/>
              <a:sym typeface="Calibri"/>
            </a:endParaRPr>
          </a:p>
          <a:p>
            <a:pPr marL="457200" marR="0" lvl="0" indent="-292100" algn="l" rtl="0">
              <a:lnSpc>
                <a:spcPct val="115000"/>
              </a:lnSpc>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Blends form and function for a wellness-oriented consumer</a:t>
            </a:r>
            <a:endParaRPr sz="1000">
              <a:solidFill>
                <a:srgbClr val="94A3B8"/>
              </a:solidFill>
              <a:latin typeface="Calibri"/>
              <a:ea typeface="Calibri"/>
              <a:cs typeface="Calibri"/>
              <a:sym typeface="Calibri"/>
            </a:endParaRPr>
          </a:p>
        </p:txBody>
      </p:sp>
      <p:sp>
        <p:nvSpPr>
          <p:cNvPr id="110" name="Google Shape;110;p3"/>
          <p:cNvSpPr/>
          <p:nvPr/>
        </p:nvSpPr>
        <p:spPr>
          <a:xfrm>
            <a:off x="297228" y="2953650"/>
            <a:ext cx="4160400" cy="1691700"/>
          </a:xfrm>
          <a:prstGeom prst="rect">
            <a:avLst/>
          </a:prstGeom>
          <a:solidFill>
            <a:srgbClr val="161B22"/>
          </a:solidFill>
          <a:ln w="1905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297228" y="2953650"/>
            <a:ext cx="4160400" cy="320100"/>
          </a:xfrm>
          <a:prstGeom prst="rect">
            <a:avLst/>
          </a:prstGeom>
          <a:solidFill>
            <a:srgbClr val="F59E0B">
              <a:alpha val="30196"/>
            </a:srgbClr>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2" name="Google Shape;112;p3" descr="preencoded.png"/>
          <p:cNvPicPr preferRelativeResize="0"/>
          <p:nvPr/>
        </p:nvPicPr>
        <p:blipFill rotWithShape="1">
          <a:blip r:embed="rId4">
            <a:alphaModFix/>
          </a:blip>
          <a:srcRect/>
          <a:stretch/>
        </p:blipFill>
        <p:spPr>
          <a:xfrm>
            <a:off x="434388" y="3008514"/>
            <a:ext cx="219456" cy="219456"/>
          </a:xfrm>
          <a:prstGeom prst="rect">
            <a:avLst/>
          </a:prstGeom>
          <a:noFill/>
          <a:ln>
            <a:noFill/>
          </a:ln>
        </p:spPr>
      </p:pic>
      <p:sp>
        <p:nvSpPr>
          <p:cNvPr id="113" name="Google Shape;113;p3"/>
          <p:cNvSpPr/>
          <p:nvPr/>
        </p:nvSpPr>
        <p:spPr>
          <a:xfrm>
            <a:off x="736140" y="2999370"/>
            <a:ext cx="34746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9E0B"/>
              </a:buClr>
              <a:buSzPts val="1300"/>
              <a:buFont typeface="Trebuchet MS"/>
              <a:buNone/>
            </a:pPr>
            <a:r>
              <a:rPr lang="en-US" sz="1300" b="1" i="0" u="none" strike="noStrike" cap="none">
                <a:solidFill>
                  <a:srgbClr val="F59E0B"/>
                </a:solidFill>
                <a:latin typeface="Trebuchet MS"/>
                <a:ea typeface="Trebuchet MS"/>
                <a:cs typeface="Trebuchet MS"/>
                <a:sym typeface="Trebuchet MS"/>
              </a:rPr>
              <a:t>WEAKNESSES</a:t>
            </a:r>
            <a:endParaRPr sz="1300" b="0" i="0" u="none" strike="noStrike" cap="none">
              <a:solidFill>
                <a:schemeClr val="dk1"/>
              </a:solidFill>
              <a:latin typeface="Calibri"/>
              <a:ea typeface="Calibri"/>
              <a:cs typeface="Calibri"/>
              <a:sym typeface="Calibri"/>
            </a:endParaRPr>
          </a:p>
        </p:txBody>
      </p:sp>
      <p:sp>
        <p:nvSpPr>
          <p:cNvPr id="114" name="Google Shape;114;p3"/>
          <p:cNvSpPr/>
          <p:nvPr/>
        </p:nvSpPr>
        <p:spPr>
          <a:xfrm>
            <a:off x="480108" y="3337698"/>
            <a:ext cx="3840600" cy="1234500"/>
          </a:xfrm>
          <a:prstGeom prst="rect">
            <a:avLst/>
          </a:prstGeom>
          <a:noFill/>
          <a:ln>
            <a:noFill/>
          </a:ln>
        </p:spPr>
        <p:txBody>
          <a:bodyPr spcFirstLastPara="1" wrap="square" lIns="0" tIns="0" rIns="0" bIns="0" anchor="ctr" anchorCtr="0">
            <a:noAutofit/>
          </a:bodyPr>
          <a:lstStyle/>
          <a:p>
            <a:pPr marL="457200" lvl="0" indent="-298450" algn="l" rtl="0">
              <a:lnSpc>
                <a:spcPct val="115000"/>
              </a:lnSpc>
              <a:spcBef>
                <a:spcPts val="1200"/>
              </a:spcBef>
              <a:spcAft>
                <a:spcPts val="0"/>
              </a:spcAft>
              <a:buClr>
                <a:srgbClr val="94A3B8"/>
              </a:buClr>
              <a:buSzPts val="1100"/>
              <a:buChar char="●"/>
            </a:pPr>
            <a:r>
              <a:rPr lang="en-US" sz="1000">
                <a:solidFill>
                  <a:srgbClr val="94A3B8"/>
                </a:solidFill>
                <a:latin typeface="Calibri"/>
                <a:ea typeface="Calibri"/>
                <a:cs typeface="Calibri"/>
                <a:sym typeface="Calibri"/>
              </a:rPr>
              <a:t>Increased manufacturing and retail cost due to added technology</a:t>
            </a:r>
            <a:endParaRPr sz="1000">
              <a:solidFill>
                <a:srgbClr val="94A3B8"/>
              </a:solidFill>
              <a:latin typeface="Calibri"/>
              <a:ea typeface="Calibri"/>
              <a:cs typeface="Calibri"/>
              <a:sym typeface="Calibri"/>
            </a:endParaRPr>
          </a:p>
          <a:p>
            <a:pPr marL="457200" lvl="0" indent="-298450" algn="l" rtl="0">
              <a:lnSpc>
                <a:spcPct val="115000"/>
              </a:lnSpc>
              <a:spcBef>
                <a:spcPts val="0"/>
              </a:spcBef>
              <a:spcAft>
                <a:spcPts val="0"/>
              </a:spcAft>
              <a:buClr>
                <a:srgbClr val="94A3B8"/>
              </a:buClr>
              <a:buSzPts val="1100"/>
              <a:buChar char="●"/>
            </a:pPr>
            <a:r>
              <a:rPr lang="en-US" sz="1000">
                <a:solidFill>
                  <a:srgbClr val="94A3B8"/>
                </a:solidFill>
                <a:latin typeface="Calibri"/>
                <a:ea typeface="Calibri"/>
                <a:cs typeface="Calibri"/>
                <a:sym typeface="Calibri"/>
              </a:rPr>
              <a:t>Potential maintenance concerns such as charging, durability, or technical failure</a:t>
            </a:r>
            <a:endParaRPr sz="1000">
              <a:solidFill>
                <a:srgbClr val="94A3B8"/>
              </a:solidFill>
              <a:latin typeface="Calibri"/>
              <a:ea typeface="Calibri"/>
              <a:cs typeface="Calibri"/>
              <a:sym typeface="Calibri"/>
            </a:endParaRPr>
          </a:p>
          <a:p>
            <a:pPr marL="457200" lvl="0" indent="-298450" algn="l" rtl="0">
              <a:lnSpc>
                <a:spcPct val="115000"/>
              </a:lnSpc>
              <a:spcBef>
                <a:spcPts val="0"/>
              </a:spcBef>
              <a:spcAft>
                <a:spcPts val="0"/>
              </a:spcAft>
              <a:buClr>
                <a:srgbClr val="94A3B8"/>
              </a:buClr>
              <a:buSzPts val="1100"/>
              <a:buChar char="●"/>
            </a:pPr>
            <a:r>
              <a:rPr lang="en-US" sz="1000">
                <a:solidFill>
                  <a:srgbClr val="94A3B8"/>
                </a:solidFill>
                <a:latin typeface="Calibri"/>
                <a:ea typeface="Calibri"/>
                <a:cs typeface="Calibri"/>
                <a:sym typeface="Calibri"/>
              </a:rPr>
              <a:t>More complex product offering than Owala’s standard bottles</a:t>
            </a:r>
            <a:endParaRPr sz="1000">
              <a:solidFill>
                <a:srgbClr val="94A3B8"/>
              </a:solidFill>
              <a:latin typeface="Calibri"/>
              <a:ea typeface="Calibri"/>
              <a:cs typeface="Calibri"/>
              <a:sym typeface="Calibri"/>
            </a:endParaRPr>
          </a:p>
          <a:p>
            <a:pPr marL="457200" lvl="0" indent="-298450" algn="l" rtl="0">
              <a:lnSpc>
                <a:spcPct val="115000"/>
              </a:lnSpc>
              <a:spcBef>
                <a:spcPts val="0"/>
              </a:spcBef>
              <a:spcAft>
                <a:spcPts val="0"/>
              </a:spcAft>
              <a:buClr>
                <a:srgbClr val="94A3B8"/>
              </a:buClr>
              <a:buSzPts val="1100"/>
              <a:buChar char="●"/>
            </a:pPr>
            <a:r>
              <a:rPr lang="en-US" sz="1000">
                <a:solidFill>
                  <a:srgbClr val="94A3B8"/>
                </a:solidFill>
                <a:latin typeface="Calibri"/>
                <a:ea typeface="Calibri"/>
                <a:cs typeface="Calibri"/>
                <a:sym typeface="Calibri"/>
              </a:rPr>
              <a:t>Uncertainty around long-term consumer adoption of the added feature</a:t>
            </a:r>
            <a:endParaRPr sz="1000">
              <a:solidFill>
                <a:srgbClr val="94A3B8"/>
              </a:solidFill>
              <a:latin typeface="Calibri"/>
              <a:ea typeface="Calibri"/>
              <a:cs typeface="Calibri"/>
              <a:sym typeface="Calibri"/>
            </a:endParaRPr>
          </a:p>
        </p:txBody>
      </p:sp>
      <p:sp>
        <p:nvSpPr>
          <p:cNvPr id="115" name="Google Shape;115;p3"/>
          <p:cNvSpPr/>
          <p:nvPr/>
        </p:nvSpPr>
        <p:spPr>
          <a:xfrm>
            <a:off x="4686358" y="1138331"/>
            <a:ext cx="4160400" cy="1691700"/>
          </a:xfrm>
          <a:prstGeom prst="rect">
            <a:avLst/>
          </a:prstGeom>
          <a:solidFill>
            <a:srgbClr val="161B22"/>
          </a:solidFill>
          <a:ln w="1905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3"/>
          <p:cNvSpPr/>
          <p:nvPr/>
        </p:nvSpPr>
        <p:spPr>
          <a:xfrm>
            <a:off x="4686358" y="1138331"/>
            <a:ext cx="4160400" cy="320100"/>
          </a:xfrm>
          <a:prstGeom prst="rect">
            <a:avLst/>
          </a:prstGeom>
          <a:solidFill>
            <a:srgbClr val="38BDF8">
              <a:alpha val="30196"/>
            </a:srgbClr>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7" name="Google Shape;117;p3" descr="preencoded.png"/>
          <p:cNvPicPr preferRelativeResize="0"/>
          <p:nvPr/>
        </p:nvPicPr>
        <p:blipFill rotWithShape="1">
          <a:blip r:embed="rId5">
            <a:alphaModFix/>
          </a:blip>
          <a:srcRect/>
          <a:stretch/>
        </p:blipFill>
        <p:spPr>
          <a:xfrm>
            <a:off x="4823518" y="1193195"/>
            <a:ext cx="219456" cy="219456"/>
          </a:xfrm>
          <a:prstGeom prst="rect">
            <a:avLst/>
          </a:prstGeom>
          <a:noFill/>
          <a:ln>
            <a:noFill/>
          </a:ln>
        </p:spPr>
      </p:pic>
      <p:sp>
        <p:nvSpPr>
          <p:cNvPr id="118" name="Google Shape;118;p3"/>
          <p:cNvSpPr/>
          <p:nvPr/>
        </p:nvSpPr>
        <p:spPr>
          <a:xfrm>
            <a:off x="5125270" y="1184051"/>
            <a:ext cx="34746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8BDF8"/>
              </a:buClr>
              <a:buSzPts val="1300"/>
              <a:buFont typeface="Trebuchet MS"/>
              <a:buNone/>
            </a:pPr>
            <a:r>
              <a:rPr lang="en-US" sz="1300" b="1" i="0" u="none" strike="noStrike" cap="none">
                <a:solidFill>
                  <a:srgbClr val="38BDF8"/>
                </a:solidFill>
                <a:latin typeface="Trebuchet MS"/>
                <a:ea typeface="Trebuchet MS"/>
                <a:cs typeface="Trebuchet MS"/>
                <a:sym typeface="Trebuchet MS"/>
              </a:rPr>
              <a:t>OPPORTUNITIES</a:t>
            </a:r>
            <a:endParaRPr sz="1300" b="0" i="0" u="none" strike="noStrike" cap="none">
              <a:solidFill>
                <a:schemeClr val="dk1"/>
              </a:solidFill>
              <a:latin typeface="Calibri"/>
              <a:ea typeface="Calibri"/>
              <a:cs typeface="Calibri"/>
              <a:sym typeface="Calibri"/>
            </a:endParaRPr>
          </a:p>
        </p:txBody>
      </p:sp>
      <p:sp>
        <p:nvSpPr>
          <p:cNvPr id="119" name="Google Shape;119;p3"/>
          <p:cNvSpPr/>
          <p:nvPr/>
        </p:nvSpPr>
        <p:spPr>
          <a:xfrm>
            <a:off x="4869238" y="1522379"/>
            <a:ext cx="3840600" cy="1234500"/>
          </a:xfrm>
          <a:prstGeom prst="rect">
            <a:avLst/>
          </a:prstGeom>
          <a:noFill/>
          <a:ln>
            <a:noFill/>
          </a:ln>
        </p:spPr>
        <p:txBody>
          <a:bodyPr spcFirstLastPara="1" wrap="square" lIns="0" tIns="0" rIns="0" bIns="0" anchor="ctr" anchorCtr="0">
            <a:noAutofit/>
          </a:bodyPr>
          <a:lstStyle/>
          <a:p>
            <a:pPr marL="457200" lvl="0" indent="-292100" algn="l" rtl="0">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Expansion of the health-conscious and wellness-focused consumer market</a:t>
            </a:r>
            <a:endParaRPr sz="1000">
              <a:solidFill>
                <a:srgbClr val="94A3B8"/>
              </a:solidFill>
              <a:latin typeface="Calibri"/>
              <a:ea typeface="Calibri"/>
              <a:cs typeface="Calibri"/>
              <a:sym typeface="Calibri"/>
            </a:endParaRPr>
          </a:p>
          <a:p>
            <a:pPr marL="457200" lvl="0" indent="-292100" algn="l" rtl="0">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Increased popularity of products tied to habit formation and self-improvement</a:t>
            </a:r>
            <a:endParaRPr sz="1000">
              <a:solidFill>
                <a:srgbClr val="94A3B8"/>
              </a:solidFill>
              <a:latin typeface="Calibri"/>
              <a:ea typeface="Calibri"/>
              <a:cs typeface="Calibri"/>
              <a:sym typeface="Calibri"/>
            </a:endParaRPr>
          </a:p>
          <a:p>
            <a:pPr marL="457200" lvl="0" indent="-292100" algn="l" rtl="0">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Ability to capitalize on evolving reusable bottle trends</a:t>
            </a:r>
            <a:endParaRPr sz="1000">
              <a:solidFill>
                <a:srgbClr val="94A3B8"/>
              </a:solidFill>
              <a:latin typeface="Calibri"/>
              <a:ea typeface="Calibri"/>
              <a:cs typeface="Calibri"/>
              <a:sym typeface="Calibri"/>
            </a:endParaRPr>
          </a:p>
          <a:p>
            <a:pPr marL="457200" lvl="0" indent="-292100" algn="l" rtl="0">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External partnership and influencer marketing opportunities in fitness and wellness spaces</a:t>
            </a:r>
            <a:endParaRPr sz="1000">
              <a:solidFill>
                <a:srgbClr val="94A3B8"/>
              </a:solidFill>
              <a:latin typeface="Calibri"/>
              <a:ea typeface="Calibri"/>
              <a:cs typeface="Calibri"/>
              <a:sym typeface="Calibri"/>
            </a:endParaRPr>
          </a:p>
        </p:txBody>
      </p:sp>
      <p:sp>
        <p:nvSpPr>
          <p:cNvPr id="120" name="Google Shape;120;p3"/>
          <p:cNvSpPr/>
          <p:nvPr/>
        </p:nvSpPr>
        <p:spPr>
          <a:xfrm>
            <a:off x="4663440" y="2944368"/>
            <a:ext cx="4160520" cy="1691640"/>
          </a:xfrm>
          <a:prstGeom prst="rect">
            <a:avLst/>
          </a:prstGeom>
          <a:solidFill>
            <a:srgbClr val="161B22"/>
          </a:solidFill>
          <a:ln w="19050" cap="flat" cmpd="sng">
            <a:solidFill>
              <a:srgbClr val="EF44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p:nvPr/>
        </p:nvSpPr>
        <p:spPr>
          <a:xfrm>
            <a:off x="4663440" y="2944368"/>
            <a:ext cx="4160520" cy="320040"/>
          </a:xfrm>
          <a:prstGeom prst="rect">
            <a:avLst/>
          </a:prstGeom>
          <a:solidFill>
            <a:srgbClr val="EF4444">
              <a:alpha val="30196"/>
            </a:srgbClr>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2" name="Google Shape;122;p3" descr="preencoded.png"/>
          <p:cNvPicPr preferRelativeResize="0"/>
          <p:nvPr/>
        </p:nvPicPr>
        <p:blipFill rotWithShape="1">
          <a:blip r:embed="rId6">
            <a:alphaModFix/>
          </a:blip>
          <a:srcRect/>
          <a:stretch/>
        </p:blipFill>
        <p:spPr>
          <a:xfrm>
            <a:off x="4800600" y="2999232"/>
            <a:ext cx="219456" cy="219456"/>
          </a:xfrm>
          <a:prstGeom prst="rect">
            <a:avLst/>
          </a:prstGeom>
          <a:noFill/>
          <a:ln>
            <a:noFill/>
          </a:ln>
        </p:spPr>
      </p:pic>
      <p:sp>
        <p:nvSpPr>
          <p:cNvPr id="123" name="Google Shape;123;p3"/>
          <p:cNvSpPr/>
          <p:nvPr/>
        </p:nvSpPr>
        <p:spPr>
          <a:xfrm>
            <a:off x="5102352" y="2990088"/>
            <a:ext cx="3474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1300"/>
              <a:buFont typeface="Trebuchet MS"/>
              <a:buNone/>
            </a:pPr>
            <a:r>
              <a:rPr lang="en-US" sz="1300" b="1" i="0" u="none" strike="noStrike" cap="none">
                <a:solidFill>
                  <a:srgbClr val="EF4444"/>
                </a:solidFill>
                <a:latin typeface="Trebuchet MS"/>
                <a:ea typeface="Trebuchet MS"/>
                <a:cs typeface="Trebuchet MS"/>
                <a:sym typeface="Trebuchet MS"/>
              </a:rPr>
              <a:t>THREATS</a:t>
            </a:r>
            <a:endParaRPr sz="1300" b="0" i="0" u="none" strike="noStrike" cap="none">
              <a:solidFill>
                <a:schemeClr val="dk1"/>
              </a:solidFill>
              <a:latin typeface="Calibri"/>
              <a:ea typeface="Calibri"/>
              <a:cs typeface="Calibri"/>
              <a:sym typeface="Calibri"/>
            </a:endParaRPr>
          </a:p>
        </p:txBody>
      </p:sp>
      <p:sp>
        <p:nvSpPr>
          <p:cNvPr id="124" name="Google Shape;124;p3"/>
          <p:cNvSpPr/>
          <p:nvPr/>
        </p:nvSpPr>
        <p:spPr>
          <a:xfrm>
            <a:off x="4846320" y="3328416"/>
            <a:ext cx="3840480" cy="1234440"/>
          </a:xfrm>
          <a:prstGeom prst="rect">
            <a:avLst/>
          </a:prstGeom>
          <a:noFill/>
          <a:ln>
            <a:noFill/>
          </a:ln>
        </p:spPr>
        <p:txBody>
          <a:bodyPr spcFirstLastPara="1" wrap="square" lIns="0" tIns="0" rIns="0" bIns="0" anchor="ctr" anchorCtr="0">
            <a:noAutofit/>
          </a:bodyPr>
          <a:lstStyle/>
          <a:p>
            <a:pPr marL="457200" lvl="0" indent="-292100" algn="l" rtl="0">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Competitive pressure from existing bottle brands and substitute products</a:t>
            </a:r>
            <a:endParaRPr sz="1000">
              <a:solidFill>
                <a:srgbClr val="94A3B8"/>
              </a:solidFill>
              <a:latin typeface="Calibri"/>
              <a:ea typeface="Calibri"/>
              <a:cs typeface="Calibri"/>
              <a:sym typeface="Calibri"/>
            </a:endParaRPr>
          </a:p>
          <a:p>
            <a:pPr marL="457200" lvl="0" indent="-292100" algn="l" rtl="0">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Indirect competition from free digital hydration reminder tools</a:t>
            </a:r>
            <a:endParaRPr sz="1000">
              <a:solidFill>
                <a:srgbClr val="94A3B8"/>
              </a:solidFill>
              <a:latin typeface="Calibri"/>
              <a:ea typeface="Calibri"/>
              <a:cs typeface="Calibri"/>
              <a:sym typeface="Calibri"/>
            </a:endParaRPr>
          </a:p>
          <a:p>
            <a:pPr marL="457200" lvl="0" indent="-292100" algn="l" rtl="0">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Risk of feature imitation if the concept gains popularity</a:t>
            </a:r>
            <a:endParaRPr sz="1000">
              <a:solidFill>
                <a:srgbClr val="94A3B8"/>
              </a:solidFill>
              <a:latin typeface="Calibri"/>
              <a:ea typeface="Calibri"/>
              <a:cs typeface="Calibri"/>
              <a:sym typeface="Calibri"/>
            </a:endParaRPr>
          </a:p>
          <a:p>
            <a:pPr marL="457200" lvl="0" indent="-292100" algn="l" rtl="0">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Consumer resistance to a premium-priced bottle in a crowded market</a:t>
            </a:r>
            <a:endParaRPr sz="1000">
              <a:solidFill>
                <a:srgbClr val="94A3B8"/>
              </a:solidFill>
              <a:latin typeface="Calibri"/>
              <a:ea typeface="Calibri"/>
              <a:cs typeface="Calibri"/>
              <a:sym typeface="Calibri"/>
            </a:endParaRPr>
          </a:p>
        </p:txBody>
      </p:sp>
      <p:sp>
        <p:nvSpPr>
          <p:cNvPr id="125" name="Google Shape;125;p3"/>
          <p:cNvSpPr/>
          <p:nvPr/>
        </p:nvSpPr>
        <p:spPr>
          <a:xfrm>
            <a:off x="4434840" y="1143000"/>
            <a:ext cx="274320" cy="3493008"/>
          </a:xfrm>
          <a:prstGeom prst="rect">
            <a:avLst/>
          </a:prstGeom>
          <a:solidFill>
            <a:srgbClr val="0D1117"/>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3"/>
          <p:cNvSpPr/>
          <p:nvPr/>
        </p:nvSpPr>
        <p:spPr>
          <a:xfrm>
            <a:off x="274320" y="2788920"/>
            <a:ext cx="8595360" cy="155448"/>
          </a:xfrm>
          <a:prstGeom prst="rect">
            <a:avLst/>
          </a:prstGeom>
          <a:solidFill>
            <a:srgbClr val="0D1117"/>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p:cNvSpPr/>
          <p:nvPr/>
        </p:nvSpPr>
        <p:spPr>
          <a:xfrm>
            <a:off x="1954975" y="2725000"/>
            <a:ext cx="7992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4B8A6"/>
              </a:buClr>
              <a:buSzPts val="1200"/>
              <a:buFont typeface="Calibri"/>
              <a:buNone/>
            </a:pPr>
            <a:r>
              <a:rPr lang="en-US" sz="1200" b="1">
                <a:solidFill>
                  <a:schemeClr val="lt1"/>
                </a:solidFill>
                <a:latin typeface="Calibri"/>
                <a:ea typeface="Calibri"/>
                <a:cs typeface="Calibri"/>
                <a:sym typeface="Calibri"/>
              </a:rPr>
              <a:t>INTERNAL</a:t>
            </a:r>
            <a:endParaRPr sz="1200" b="1" u="none" strike="noStrike" cap="none">
              <a:solidFill>
                <a:schemeClr val="lt1"/>
              </a:solidFill>
              <a:latin typeface="Calibri"/>
              <a:ea typeface="Calibri"/>
              <a:cs typeface="Calibri"/>
              <a:sym typeface="Calibri"/>
            </a:endParaRPr>
          </a:p>
        </p:txBody>
      </p:sp>
      <p:sp>
        <p:nvSpPr>
          <p:cNvPr id="128" name="Google Shape;128;p3"/>
          <p:cNvSpPr/>
          <p:nvPr/>
        </p:nvSpPr>
        <p:spPr>
          <a:xfrm>
            <a:off x="6462975" y="2725000"/>
            <a:ext cx="7992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4B8A6"/>
              </a:buClr>
              <a:buSzPts val="1200"/>
              <a:buFont typeface="Calibri"/>
              <a:buNone/>
            </a:pPr>
            <a:r>
              <a:rPr lang="en-US" sz="1200" b="1">
                <a:solidFill>
                  <a:schemeClr val="lt1"/>
                </a:solidFill>
                <a:latin typeface="Calibri"/>
                <a:ea typeface="Calibri"/>
                <a:cs typeface="Calibri"/>
                <a:sym typeface="Calibri"/>
              </a:rPr>
              <a:t>EXTERNAL</a:t>
            </a:r>
            <a:endParaRPr sz="1200" b="1" u="none" strike="noStrike" cap="non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133"/>
        <p:cNvGrpSpPr/>
        <p:nvPr/>
      </p:nvGrpSpPr>
      <p:grpSpPr>
        <a:xfrm>
          <a:off x="0" y="0"/>
          <a:ext cx="0" cy="0"/>
          <a:chOff x="0" y="0"/>
          <a:chExt cx="0" cy="0"/>
        </a:xfrm>
      </p:grpSpPr>
      <p:sp>
        <p:nvSpPr>
          <p:cNvPr id="134" name="Google Shape;134;p4"/>
          <p:cNvSpPr/>
          <p:nvPr/>
        </p:nvSpPr>
        <p:spPr>
          <a:xfrm>
            <a:off x="0" y="0"/>
            <a:ext cx="9144000" cy="73152"/>
          </a:xfrm>
          <a:prstGeom prst="rect">
            <a:avLst/>
          </a:prstGeom>
          <a:solidFill>
            <a:srgbClr val="14B8A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4"/>
          <p:cNvSpPr/>
          <p:nvPr/>
        </p:nvSpPr>
        <p:spPr>
          <a:xfrm>
            <a:off x="457200" y="201168"/>
            <a:ext cx="8229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2800"/>
              <a:buFont typeface="Trebuchet MS"/>
              <a:buNone/>
            </a:pPr>
            <a:r>
              <a:rPr lang="en-US" sz="2800" b="1" i="0" u="none" strike="noStrike" cap="none">
                <a:solidFill>
                  <a:srgbClr val="F8FAFC"/>
                </a:solidFill>
                <a:latin typeface="Trebuchet MS"/>
                <a:ea typeface="Trebuchet MS"/>
                <a:cs typeface="Trebuchet MS"/>
                <a:sym typeface="Trebuchet MS"/>
              </a:rPr>
              <a:t>Segmentation, Targeting &amp; Positioning</a:t>
            </a:r>
            <a:r>
              <a:rPr lang="en-US" sz="2800" b="1">
                <a:solidFill>
                  <a:srgbClr val="F8FAFC"/>
                </a:solidFill>
                <a:latin typeface="Trebuchet MS"/>
                <a:ea typeface="Trebuchet MS"/>
                <a:cs typeface="Trebuchet MS"/>
                <a:sym typeface="Trebuchet MS"/>
              </a:rPr>
              <a:t> 		</a:t>
            </a:r>
            <a:r>
              <a:rPr lang="en-US" sz="1200" b="1">
                <a:solidFill>
                  <a:srgbClr val="B7B7B7"/>
                </a:solidFill>
                <a:latin typeface="Trebuchet MS"/>
                <a:ea typeface="Trebuchet MS"/>
                <a:cs typeface="Trebuchet MS"/>
                <a:sym typeface="Trebuchet MS"/>
              </a:rPr>
              <a:t>Aditya Patel</a:t>
            </a:r>
            <a:endParaRPr sz="2800" b="1">
              <a:solidFill>
                <a:srgbClr val="F8FAFC"/>
              </a:solidFill>
              <a:latin typeface="Trebuchet MS"/>
              <a:ea typeface="Trebuchet MS"/>
              <a:cs typeface="Trebuchet MS"/>
              <a:sym typeface="Trebuchet MS"/>
            </a:endParaRPr>
          </a:p>
        </p:txBody>
      </p:sp>
      <p:sp>
        <p:nvSpPr>
          <p:cNvPr id="136" name="Google Shape;136;p4"/>
          <p:cNvSpPr/>
          <p:nvPr/>
        </p:nvSpPr>
        <p:spPr>
          <a:xfrm>
            <a:off x="457200" y="749808"/>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200"/>
              <a:buFont typeface="Calibri"/>
              <a:buNone/>
            </a:pPr>
            <a:r>
              <a:rPr lang="en-US" sz="1200" b="0" i="1" u="none" strike="noStrike" cap="none">
                <a:solidFill>
                  <a:srgbClr val="14B8A6"/>
                </a:solidFill>
                <a:latin typeface="Calibri"/>
                <a:ea typeface="Calibri"/>
                <a:cs typeface="Calibri"/>
                <a:sym typeface="Calibri"/>
              </a:rPr>
              <a:t>Who We Reach and How We Stand Out</a:t>
            </a:r>
            <a:endParaRPr sz="1200" b="0" i="0" u="none" strike="noStrike" cap="none">
              <a:solidFill>
                <a:schemeClr val="dk1"/>
              </a:solidFill>
              <a:latin typeface="Calibri"/>
              <a:ea typeface="Calibri"/>
              <a:cs typeface="Calibri"/>
              <a:sym typeface="Calibri"/>
            </a:endParaRPr>
          </a:p>
        </p:txBody>
      </p:sp>
      <p:sp>
        <p:nvSpPr>
          <p:cNvPr id="137" name="Google Shape;137;p4"/>
          <p:cNvSpPr/>
          <p:nvPr/>
        </p:nvSpPr>
        <p:spPr>
          <a:xfrm>
            <a:off x="0" y="4956048"/>
            <a:ext cx="9144000" cy="182880"/>
          </a:xfrm>
          <a:prstGeom prst="rect">
            <a:avLst/>
          </a:prstGeom>
          <a:solidFill>
            <a:srgbClr val="0A0F1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457200" y="4974336"/>
            <a:ext cx="6400800" cy="1463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700"/>
              <a:buFont typeface="Calibri"/>
              <a:buNone/>
            </a:pPr>
            <a:r>
              <a:rPr lang="en-US" sz="700" b="0" i="0" u="none" strike="noStrike" cap="none">
                <a:solidFill>
                  <a:srgbClr val="475569"/>
                </a:solidFill>
                <a:latin typeface="Calibri"/>
                <a:ea typeface="Calibri"/>
                <a:cs typeface="Calibri"/>
                <a:sym typeface="Calibri"/>
              </a:rPr>
              <a:t>WATER TIMER  |  Owala Innovation Concept</a:t>
            </a:r>
            <a:endParaRPr sz="700" b="0" i="0" u="none" strike="noStrike" cap="none">
              <a:solidFill>
                <a:schemeClr val="dk1"/>
              </a:solidFill>
              <a:latin typeface="Calibri"/>
              <a:ea typeface="Calibri"/>
              <a:cs typeface="Calibri"/>
              <a:sym typeface="Calibri"/>
            </a:endParaRPr>
          </a:p>
        </p:txBody>
      </p:sp>
      <p:sp>
        <p:nvSpPr>
          <p:cNvPr id="139" name="Google Shape;139;p4"/>
          <p:cNvSpPr/>
          <p:nvPr/>
        </p:nvSpPr>
        <p:spPr>
          <a:xfrm>
            <a:off x="8503920" y="4974336"/>
            <a:ext cx="457200" cy="14630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9488"/>
              </a:buClr>
              <a:buSzPts val="700"/>
              <a:buFont typeface="Calibri"/>
              <a:buNone/>
            </a:pPr>
            <a:r>
              <a:rPr lang="en-US" sz="700" b="0" i="0" u="none" strike="noStrike" cap="none">
                <a:solidFill>
                  <a:srgbClr val="0D9488"/>
                </a:solidFill>
                <a:latin typeface="Calibri"/>
                <a:ea typeface="Calibri"/>
                <a:cs typeface="Calibri"/>
                <a:sym typeface="Calibri"/>
              </a:rPr>
              <a:t>4</a:t>
            </a:r>
            <a:endParaRPr sz="700" b="0" i="0" u="none" strike="noStrike" cap="none">
              <a:solidFill>
                <a:schemeClr val="dk1"/>
              </a:solidFill>
              <a:latin typeface="Calibri"/>
              <a:ea typeface="Calibri"/>
              <a:cs typeface="Calibri"/>
              <a:sym typeface="Calibri"/>
            </a:endParaRPr>
          </a:p>
        </p:txBody>
      </p:sp>
      <p:sp>
        <p:nvSpPr>
          <p:cNvPr id="140" name="Google Shape;140;p4"/>
          <p:cNvSpPr/>
          <p:nvPr/>
        </p:nvSpPr>
        <p:spPr>
          <a:xfrm>
            <a:off x="7772400" y="1097280"/>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8028432" y="1097280"/>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8284464" y="1097280"/>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4"/>
          <p:cNvSpPr/>
          <p:nvPr/>
        </p:nvSpPr>
        <p:spPr>
          <a:xfrm>
            <a:off x="8540496" y="1097280"/>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4"/>
          <p:cNvSpPr/>
          <p:nvPr/>
        </p:nvSpPr>
        <p:spPr>
          <a:xfrm>
            <a:off x="8796528" y="1097280"/>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7772400" y="1353312"/>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8028432" y="1353312"/>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8284464" y="1353312"/>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4"/>
          <p:cNvSpPr/>
          <p:nvPr/>
        </p:nvSpPr>
        <p:spPr>
          <a:xfrm>
            <a:off x="8540496" y="1353312"/>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4"/>
          <p:cNvSpPr/>
          <p:nvPr/>
        </p:nvSpPr>
        <p:spPr>
          <a:xfrm>
            <a:off x="8796528" y="1353312"/>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7772400" y="1609344"/>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8028432" y="1609344"/>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8284464" y="1609344"/>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4"/>
          <p:cNvSpPr/>
          <p:nvPr/>
        </p:nvSpPr>
        <p:spPr>
          <a:xfrm>
            <a:off x="8540496" y="1609344"/>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4"/>
          <p:cNvSpPr/>
          <p:nvPr/>
        </p:nvSpPr>
        <p:spPr>
          <a:xfrm>
            <a:off x="8796528" y="1609344"/>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7772400" y="1865376"/>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8028432" y="1865376"/>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4"/>
          <p:cNvSpPr/>
          <p:nvPr/>
        </p:nvSpPr>
        <p:spPr>
          <a:xfrm>
            <a:off x="8284464" y="1865376"/>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4"/>
          <p:cNvSpPr/>
          <p:nvPr/>
        </p:nvSpPr>
        <p:spPr>
          <a:xfrm>
            <a:off x="8540496" y="1865376"/>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8796528" y="1865376"/>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7772400" y="2121408"/>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4"/>
          <p:cNvSpPr/>
          <p:nvPr/>
        </p:nvSpPr>
        <p:spPr>
          <a:xfrm>
            <a:off x="8028432" y="2121408"/>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4"/>
          <p:cNvSpPr/>
          <p:nvPr/>
        </p:nvSpPr>
        <p:spPr>
          <a:xfrm>
            <a:off x="8284464" y="2121408"/>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p:nvPr/>
        </p:nvSpPr>
        <p:spPr>
          <a:xfrm>
            <a:off x="8540496" y="2121408"/>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8796528" y="2121408"/>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4"/>
          <p:cNvSpPr/>
          <p:nvPr/>
        </p:nvSpPr>
        <p:spPr>
          <a:xfrm>
            <a:off x="7772400" y="2377440"/>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4"/>
          <p:cNvSpPr/>
          <p:nvPr/>
        </p:nvSpPr>
        <p:spPr>
          <a:xfrm>
            <a:off x="8028432" y="2377440"/>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8284464" y="2377440"/>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8540496" y="2377440"/>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4"/>
          <p:cNvSpPr/>
          <p:nvPr/>
        </p:nvSpPr>
        <p:spPr>
          <a:xfrm>
            <a:off x="8796528" y="2377440"/>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4"/>
          <p:cNvSpPr/>
          <p:nvPr/>
        </p:nvSpPr>
        <p:spPr>
          <a:xfrm>
            <a:off x="7772400" y="2633472"/>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4"/>
          <p:cNvSpPr/>
          <p:nvPr/>
        </p:nvSpPr>
        <p:spPr>
          <a:xfrm>
            <a:off x="8028432" y="2633472"/>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8284464" y="2633472"/>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540496" y="2633472"/>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8796528" y="2633472"/>
            <a:ext cx="54864" cy="54864"/>
          </a:xfrm>
          <a:prstGeom prst="ellipse">
            <a:avLst/>
          </a:prstGeom>
          <a:solidFill>
            <a:srgbClr val="38BDF8">
              <a:alpha val="7843"/>
            </a:srgbClr>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4"/>
          <p:cNvSpPr/>
          <p:nvPr/>
        </p:nvSpPr>
        <p:spPr>
          <a:xfrm>
            <a:off x="274320" y="1097280"/>
            <a:ext cx="4114800" cy="2560320"/>
          </a:xfrm>
          <a:prstGeom prst="rect">
            <a:avLst/>
          </a:prstGeom>
          <a:solidFill>
            <a:srgbClr val="161B22"/>
          </a:solidFill>
          <a:ln w="1905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4"/>
          <p:cNvSpPr/>
          <p:nvPr/>
        </p:nvSpPr>
        <p:spPr>
          <a:xfrm>
            <a:off x="457200" y="1170432"/>
            <a:ext cx="36576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300"/>
              <a:buFont typeface="Trebuchet MS"/>
              <a:buNone/>
            </a:pPr>
            <a:r>
              <a:rPr lang="en-US" sz="1300" b="1" i="0" u="none" strike="noStrike" cap="none">
                <a:solidFill>
                  <a:srgbClr val="14B8A6"/>
                </a:solidFill>
                <a:latin typeface="Trebuchet MS"/>
                <a:ea typeface="Trebuchet MS"/>
                <a:cs typeface="Trebuchet MS"/>
                <a:sym typeface="Trebuchet MS"/>
              </a:rPr>
              <a:t>SEGMENTATION</a:t>
            </a:r>
            <a:endParaRPr sz="1300" b="0" i="0" u="none" strike="noStrike" cap="none">
              <a:solidFill>
                <a:schemeClr val="dk1"/>
              </a:solidFill>
              <a:latin typeface="Calibri"/>
              <a:ea typeface="Calibri"/>
              <a:cs typeface="Calibri"/>
              <a:sym typeface="Calibri"/>
            </a:endParaRPr>
          </a:p>
        </p:txBody>
      </p:sp>
      <p:sp>
        <p:nvSpPr>
          <p:cNvPr id="177" name="Google Shape;177;p4"/>
          <p:cNvSpPr/>
          <p:nvPr/>
        </p:nvSpPr>
        <p:spPr>
          <a:xfrm>
            <a:off x="457200" y="1572768"/>
            <a:ext cx="384048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AE6FD"/>
              </a:buClr>
              <a:buSzPts val="1050"/>
              <a:buFont typeface="Calibri"/>
              <a:buNone/>
            </a:pPr>
            <a:r>
              <a:rPr lang="en-US" sz="1050" b="1" i="0" u="none" strike="noStrike" cap="none">
                <a:solidFill>
                  <a:srgbClr val="BAE6FD"/>
                </a:solidFill>
                <a:latin typeface="Calibri"/>
                <a:ea typeface="Calibri"/>
                <a:cs typeface="Calibri"/>
                <a:sym typeface="Calibri"/>
              </a:rPr>
              <a:t>Age: </a:t>
            </a:r>
            <a:r>
              <a:rPr lang="en-US" sz="1050" b="0" i="0" u="none" strike="noStrike" cap="none">
                <a:solidFill>
                  <a:srgbClr val="94A3B8"/>
                </a:solidFill>
                <a:latin typeface="Calibri"/>
                <a:ea typeface="Calibri"/>
                <a:cs typeface="Calibri"/>
                <a:sym typeface="Calibri"/>
              </a:rPr>
              <a:t>18–35 (Millennials &amp; Gen Z)</a:t>
            </a:r>
            <a:endParaRPr sz="1050" b="0" i="0" u="none" strike="noStrike" cap="none">
              <a:solidFill>
                <a:schemeClr val="dk1"/>
              </a:solidFill>
              <a:latin typeface="Calibri"/>
              <a:ea typeface="Calibri"/>
              <a:cs typeface="Calibri"/>
              <a:sym typeface="Calibri"/>
            </a:endParaRPr>
          </a:p>
        </p:txBody>
      </p:sp>
      <p:sp>
        <p:nvSpPr>
          <p:cNvPr id="178" name="Google Shape;178;p4"/>
          <p:cNvSpPr/>
          <p:nvPr/>
        </p:nvSpPr>
        <p:spPr>
          <a:xfrm>
            <a:off x="457200" y="1965960"/>
            <a:ext cx="384048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AE6FD"/>
              </a:buClr>
              <a:buSzPts val="1050"/>
              <a:buFont typeface="Calibri"/>
              <a:buNone/>
            </a:pPr>
            <a:r>
              <a:rPr lang="en-US" sz="1050" b="1" i="0" u="none" strike="noStrike" cap="none">
                <a:solidFill>
                  <a:srgbClr val="BAE6FD"/>
                </a:solidFill>
                <a:latin typeface="Calibri"/>
                <a:ea typeface="Calibri"/>
                <a:cs typeface="Calibri"/>
                <a:sym typeface="Calibri"/>
              </a:rPr>
              <a:t>Lifestyle: </a:t>
            </a:r>
            <a:r>
              <a:rPr lang="en-US" sz="1050" b="0" i="0" u="none" strike="noStrike" cap="none">
                <a:solidFill>
                  <a:srgbClr val="94A3B8"/>
                </a:solidFill>
                <a:latin typeface="Calibri"/>
                <a:ea typeface="Calibri"/>
                <a:cs typeface="Calibri"/>
                <a:sym typeface="Calibri"/>
              </a:rPr>
              <a:t>Health-conscious, gym-goers, remote workers</a:t>
            </a:r>
            <a:endParaRPr sz="1050" b="0" i="0" u="none" strike="noStrike" cap="none">
              <a:solidFill>
                <a:schemeClr val="dk1"/>
              </a:solidFill>
              <a:latin typeface="Calibri"/>
              <a:ea typeface="Calibri"/>
              <a:cs typeface="Calibri"/>
              <a:sym typeface="Calibri"/>
            </a:endParaRPr>
          </a:p>
        </p:txBody>
      </p:sp>
      <p:sp>
        <p:nvSpPr>
          <p:cNvPr id="179" name="Google Shape;179;p4"/>
          <p:cNvSpPr/>
          <p:nvPr/>
        </p:nvSpPr>
        <p:spPr>
          <a:xfrm>
            <a:off x="457200" y="2359152"/>
            <a:ext cx="384048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AE6FD"/>
              </a:buClr>
              <a:buSzPts val="1050"/>
              <a:buFont typeface="Calibri"/>
              <a:buNone/>
            </a:pPr>
            <a:r>
              <a:rPr lang="en-US" sz="1050" b="1" i="0" u="none" strike="noStrike" cap="none">
                <a:solidFill>
                  <a:srgbClr val="BAE6FD"/>
                </a:solidFill>
                <a:latin typeface="Calibri"/>
                <a:ea typeface="Calibri"/>
                <a:cs typeface="Calibri"/>
                <a:sym typeface="Calibri"/>
              </a:rPr>
              <a:t>Behavior: </a:t>
            </a:r>
            <a:r>
              <a:rPr lang="en-US" sz="1050" b="0" i="0" u="none" strike="noStrike" cap="none">
                <a:solidFill>
                  <a:srgbClr val="94A3B8"/>
                </a:solidFill>
                <a:latin typeface="Calibri"/>
                <a:ea typeface="Calibri"/>
                <a:cs typeface="Calibri"/>
                <a:sym typeface="Calibri"/>
              </a:rPr>
              <a:t>Frequent water bottle users, wellness app users</a:t>
            </a:r>
            <a:endParaRPr sz="1050" b="0" i="0" u="none" strike="noStrike" cap="none">
              <a:solidFill>
                <a:schemeClr val="dk1"/>
              </a:solidFill>
              <a:latin typeface="Calibri"/>
              <a:ea typeface="Calibri"/>
              <a:cs typeface="Calibri"/>
              <a:sym typeface="Calibri"/>
            </a:endParaRPr>
          </a:p>
        </p:txBody>
      </p:sp>
      <p:sp>
        <p:nvSpPr>
          <p:cNvPr id="180" name="Google Shape;180;p4"/>
          <p:cNvSpPr/>
          <p:nvPr/>
        </p:nvSpPr>
        <p:spPr>
          <a:xfrm>
            <a:off x="457200" y="2752344"/>
            <a:ext cx="384048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AE6FD"/>
              </a:buClr>
              <a:buSzPts val="1050"/>
              <a:buFont typeface="Calibri"/>
              <a:buNone/>
            </a:pPr>
            <a:r>
              <a:rPr lang="en-US" sz="1050" b="1" i="0" u="none" strike="noStrike" cap="none">
                <a:solidFill>
                  <a:srgbClr val="BAE6FD"/>
                </a:solidFill>
                <a:latin typeface="Calibri"/>
                <a:ea typeface="Calibri"/>
                <a:cs typeface="Calibri"/>
                <a:sym typeface="Calibri"/>
              </a:rPr>
              <a:t>Income: </a:t>
            </a:r>
            <a:r>
              <a:rPr lang="en-US" sz="1050" b="0" i="0" u="none" strike="noStrike" cap="none">
                <a:solidFill>
                  <a:srgbClr val="94A3B8"/>
                </a:solidFill>
                <a:latin typeface="Calibri"/>
                <a:ea typeface="Calibri"/>
                <a:cs typeface="Calibri"/>
                <a:sym typeface="Calibri"/>
              </a:rPr>
              <a:t>Mid to upper — $40K+ household</a:t>
            </a:r>
            <a:endParaRPr sz="1050" b="0" i="0" u="none" strike="noStrike" cap="none">
              <a:solidFill>
                <a:schemeClr val="dk1"/>
              </a:solidFill>
              <a:latin typeface="Calibri"/>
              <a:ea typeface="Calibri"/>
              <a:cs typeface="Calibri"/>
              <a:sym typeface="Calibri"/>
            </a:endParaRPr>
          </a:p>
        </p:txBody>
      </p:sp>
      <p:sp>
        <p:nvSpPr>
          <p:cNvPr id="181" name="Google Shape;181;p4"/>
          <p:cNvSpPr/>
          <p:nvPr/>
        </p:nvSpPr>
        <p:spPr>
          <a:xfrm>
            <a:off x="457200" y="3145536"/>
            <a:ext cx="384048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AE6FD"/>
              </a:buClr>
              <a:buSzPts val="1050"/>
              <a:buFont typeface="Calibri"/>
              <a:buNone/>
            </a:pPr>
            <a:r>
              <a:rPr lang="en-US" sz="1050" b="1" i="0" u="none" strike="noStrike" cap="none">
                <a:solidFill>
                  <a:srgbClr val="BAE6FD"/>
                </a:solidFill>
                <a:latin typeface="Calibri"/>
                <a:ea typeface="Calibri"/>
                <a:cs typeface="Calibri"/>
                <a:sym typeface="Calibri"/>
              </a:rPr>
              <a:t>Values: </a:t>
            </a:r>
            <a:r>
              <a:rPr lang="en-US" sz="1050" b="0" i="0" u="none" strike="noStrike" cap="none">
                <a:solidFill>
                  <a:srgbClr val="94A3B8"/>
                </a:solidFill>
                <a:latin typeface="Calibri"/>
                <a:ea typeface="Calibri"/>
                <a:cs typeface="Calibri"/>
                <a:sym typeface="Calibri"/>
              </a:rPr>
              <a:t>Sustainability, self-improvement, routines</a:t>
            </a:r>
            <a:endParaRPr sz="1050" b="0" i="0" u="none" strike="noStrike" cap="none">
              <a:solidFill>
                <a:schemeClr val="dk1"/>
              </a:solidFill>
              <a:latin typeface="Calibri"/>
              <a:ea typeface="Calibri"/>
              <a:cs typeface="Calibri"/>
              <a:sym typeface="Calibri"/>
            </a:endParaRPr>
          </a:p>
        </p:txBody>
      </p:sp>
      <p:sp>
        <p:nvSpPr>
          <p:cNvPr id="182" name="Google Shape;182;p4"/>
          <p:cNvSpPr/>
          <p:nvPr/>
        </p:nvSpPr>
        <p:spPr>
          <a:xfrm>
            <a:off x="4617720" y="1097280"/>
            <a:ext cx="4206240" cy="1828800"/>
          </a:xfrm>
          <a:prstGeom prst="rect">
            <a:avLst/>
          </a:prstGeom>
          <a:solidFill>
            <a:srgbClr val="1A2F3A"/>
          </a:solidFill>
          <a:ln w="1905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4"/>
          <p:cNvSpPr/>
          <p:nvPr/>
        </p:nvSpPr>
        <p:spPr>
          <a:xfrm>
            <a:off x="4617720" y="1097280"/>
            <a:ext cx="4206240" cy="320040"/>
          </a:xfrm>
          <a:prstGeom prst="rect">
            <a:avLst/>
          </a:prstGeom>
          <a:solidFill>
            <a:srgbClr val="38BDF8">
              <a:alpha val="30196"/>
            </a:srgbClr>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4" name="Google Shape;184;p4" descr="preencoded.png"/>
          <p:cNvPicPr preferRelativeResize="0"/>
          <p:nvPr/>
        </p:nvPicPr>
        <p:blipFill rotWithShape="1">
          <a:blip r:embed="rId3">
            <a:alphaModFix/>
          </a:blip>
          <a:srcRect/>
          <a:stretch/>
        </p:blipFill>
        <p:spPr>
          <a:xfrm>
            <a:off x="4736592" y="1152144"/>
            <a:ext cx="219456" cy="219456"/>
          </a:xfrm>
          <a:prstGeom prst="rect">
            <a:avLst/>
          </a:prstGeom>
          <a:noFill/>
          <a:ln>
            <a:noFill/>
          </a:ln>
        </p:spPr>
      </p:pic>
      <p:sp>
        <p:nvSpPr>
          <p:cNvPr id="185" name="Google Shape;185;p4"/>
          <p:cNvSpPr/>
          <p:nvPr/>
        </p:nvSpPr>
        <p:spPr>
          <a:xfrm>
            <a:off x="5029200" y="1161288"/>
            <a:ext cx="36576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8BDF8"/>
              </a:buClr>
              <a:buSzPts val="1200"/>
              <a:buFont typeface="Trebuchet MS"/>
              <a:buNone/>
            </a:pPr>
            <a:r>
              <a:rPr lang="en-US" sz="1200" b="1" i="0" u="none" strike="noStrike" cap="none">
                <a:solidFill>
                  <a:srgbClr val="38BDF8"/>
                </a:solidFill>
                <a:latin typeface="Trebuchet MS"/>
                <a:ea typeface="Trebuchet MS"/>
                <a:cs typeface="Trebuchet MS"/>
                <a:sym typeface="Trebuchet MS"/>
              </a:rPr>
              <a:t>TARGET AUDIENCE</a:t>
            </a:r>
            <a:endParaRPr sz="1200" b="0" i="0" u="none" strike="noStrike" cap="none">
              <a:solidFill>
                <a:schemeClr val="dk1"/>
              </a:solidFill>
              <a:latin typeface="Calibri"/>
              <a:ea typeface="Calibri"/>
              <a:cs typeface="Calibri"/>
              <a:sym typeface="Calibri"/>
            </a:endParaRPr>
          </a:p>
        </p:txBody>
      </p:sp>
      <p:sp>
        <p:nvSpPr>
          <p:cNvPr id="186" name="Google Shape;186;p4"/>
          <p:cNvSpPr/>
          <p:nvPr/>
        </p:nvSpPr>
        <p:spPr>
          <a:xfrm>
            <a:off x="4709160" y="1508760"/>
            <a:ext cx="38404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AE6FD"/>
              </a:buClr>
              <a:buSzPts val="1600"/>
              <a:buFont typeface="Trebuchet MS"/>
              <a:buNone/>
            </a:pPr>
            <a:r>
              <a:rPr lang="en-US" sz="1600" b="1" i="1" u="none" strike="noStrike" cap="none">
                <a:solidFill>
                  <a:srgbClr val="BAE6FD"/>
                </a:solidFill>
                <a:latin typeface="Trebuchet MS"/>
                <a:ea typeface="Trebuchet MS"/>
                <a:cs typeface="Trebuchet MS"/>
                <a:sym typeface="Trebuchet MS"/>
              </a:rPr>
              <a:t>"The Wellness Optimizer"</a:t>
            </a:r>
            <a:endParaRPr sz="1600" b="0" i="0" u="none" strike="noStrike" cap="none">
              <a:solidFill>
                <a:schemeClr val="dk1"/>
              </a:solidFill>
              <a:latin typeface="Calibri"/>
              <a:ea typeface="Calibri"/>
              <a:cs typeface="Calibri"/>
              <a:sym typeface="Calibri"/>
            </a:endParaRPr>
          </a:p>
        </p:txBody>
      </p:sp>
      <p:pic>
        <p:nvPicPr>
          <p:cNvPr id="187" name="Google Shape;187;p4" descr="preencoded.png"/>
          <p:cNvPicPr preferRelativeResize="0"/>
          <p:nvPr/>
        </p:nvPicPr>
        <p:blipFill rotWithShape="1">
          <a:blip r:embed="rId4">
            <a:alphaModFix/>
          </a:blip>
          <a:srcRect/>
          <a:stretch/>
        </p:blipFill>
        <p:spPr>
          <a:xfrm>
            <a:off x="4709160" y="1920240"/>
            <a:ext cx="164592" cy="164592"/>
          </a:xfrm>
          <a:prstGeom prst="rect">
            <a:avLst/>
          </a:prstGeom>
          <a:noFill/>
          <a:ln>
            <a:noFill/>
          </a:ln>
        </p:spPr>
      </p:pic>
      <p:sp>
        <p:nvSpPr>
          <p:cNvPr id="188" name="Google Shape;188;p4"/>
          <p:cNvSpPr/>
          <p:nvPr/>
        </p:nvSpPr>
        <p:spPr>
          <a:xfrm>
            <a:off x="4956048" y="1901952"/>
            <a:ext cx="374904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b="0" i="0" u="none" strike="noStrike" cap="none">
                <a:solidFill>
                  <a:srgbClr val="94A3B8"/>
                </a:solidFill>
                <a:latin typeface="Calibri"/>
                <a:ea typeface="Calibri"/>
                <a:cs typeface="Calibri"/>
                <a:sym typeface="Calibri"/>
              </a:rPr>
              <a:t>Age 22–34, active lifestyle, sets daily health goals</a:t>
            </a:r>
            <a:endParaRPr sz="1000" b="0" i="0" u="none" strike="noStrike" cap="none">
              <a:solidFill>
                <a:schemeClr val="dk1"/>
              </a:solidFill>
              <a:latin typeface="Calibri"/>
              <a:ea typeface="Calibri"/>
              <a:cs typeface="Calibri"/>
              <a:sym typeface="Calibri"/>
            </a:endParaRPr>
          </a:p>
        </p:txBody>
      </p:sp>
      <p:pic>
        <p:nvPicPr>
          <p:cNvPr id="189" name="Google Shape;189;p4" descr="preencoded.png"/>
          <p:cNvPicPr preferRelativeResize="0"/>
          <p:nvPr/>
        </p:nvPicPr>
        <p:blipFill rotWithShape="1">
          <a:blip r:embed="rId4">
            <a:alphaModFix/>
          </a:blip>
          <a:srcRect/>
          <a:stretch/>
        </p:blipFill>
        <p:spPr>
          <a:xfrm>
            <a:off x="4709160" y="2176272"/>
            <a:ext cx="164592" cy="164592"/>
          </a:xfrm>
          <a:prstGeom prst="rect">
            <a:avLst/>
          </a:prstGeom>
          <a:noFill/>
          <a:ln>
            <a:noFill/>
          </a:ln>
        </p:spPr>
      </p:pic>
      <p:sp>
        <p:nvSpPr>
          <p:cNvPr id="190" name="Google Shape;190;p4"/>
          <p:cNvSpPr/>
          <p:nvPr/>
        </p:nvSpPr>
        <p:spPr>
          <a:xfrm>
            <a:off x="4956048" y="2157984"/>
            <a:ext cx="374904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b="0" i="0" u="none" strike="noStrike" cap="none">
                <a:solidFill>
                  <a:srgbClr val="94A3B8"/>
                </a:solidFill>
                <a:latin typeface="Calibri"/>
                <a:ea typeface="Calibri"/>
                <a:cs typeface="Calibri"/>
                <a:sym typeface="Calibri"/>
              </a:rPr>
              <a:t>Already owns a water bottle but wants smarter habits</a:t>
            </a:r>
            <a:endParaRPr sz="1000" b="0" i="0" u="none" strike="noStrike" cap="none">
              <a:solidFill>
                <a:schemeClr val="dk1"/>
              </a:solidFill>
              <a:latin typeface="Calibri"/>
              <a:ea typeface="Calibri"/>
              <a:cs typeface="Calibri"/>
              <a:sym typeface="Calibri"/>
            </a:endParaRPr>
          </a:p>
        </p:txBody>
      </p:sp>
      <p:pic>
        <p:nvPicPr>
          <p:cNvPr id="191" name="Google Shape;191;p4" descr="preencoded.png"/>
          <p:cNvPicPr preferRelativeResize="0"/>
          <p:nvPr/>
        </p:nvPicPr>
        <p:blipFill rotWithShape="1">
          <a:blip r:embed="rId4">
            <a:alphaModFix/>
          </a:blip>
          <a:srcRect/>
          <a:stretch/>
        </p:blipFill>
        <p:spPr>
          <a:xfrm>
            <a:off x="4709160" y="2432304"/>
            <a:ext cx="164592" cy="164592"/>
          </a:xfrm>
          <a:prstGeom prst="rect">
            <a:avLst/>
          </a:prstGeom>
          <a:noFill/>
          <a:ln>
            <a:noFill/>
          </a:ln>
        </p:spPr>
      </p:pic>
      <p:sp>
        <p:nvSpPr>
          <p:cNvPr id="192" name="Google Shape;192;p4"/>
          <p:cNvSpPr/>
          <p:nvPr/>
        </p:nvSpPr>
        <p:spPr>
          <a:xfrm>
            <a:off x="4956048" y="2414016"/>
            <a:ext cx="374904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b="0" i="0" u="none" strike="noStrike" cap="none">
                <a:solidFill>
                  <a:srgbClr val="94A3B8"/>
                </a:solidFill>
                <a:latin typeface="Calibri"/>
                <a:ea typeface="Calibri"/>
                <a:cs typeface="Calibri"/>
                <a:sym typeface="Calibri"/>
              </a:rPr>
              <a:t>Frustrated by notification overload from hydration apps</a:t>
            </a:r>
            <a:endParaRPr sz="1000" b="0" i="0" u="none" strike="noStrike" cap="none">
              <a:solidFill>
                <a:schemeClr val="dk1"/>
              </a:solidFill>
              <a:latin typeface="Calibri"/>
              <a:ea typeface="Calibri"/>
              <a:cs typeface="Calibri"/>
              <a:sym typeface="Calibri"/>
            </a:endParaRPr>
          </a:p>
        </p:txBody>
      </p:sp>
      <p:pic>
        <p:nvPicPr>
          <p:cNvPr id="193" name="Google Shape;193;p4" descr="preencoded.png"/>
          <p:cNvPicPr preferRelativeResize="0"/>
          <p:nvPr/>
        </p:nvPicPr>
        <p:blipFill rotWithShape="1">
          <a:blip r:embed="rId4">
            <a:alphaModFix/>
          </a:blip>
          <a:srcRect/>
          <a:stretch/>
        </p:blipFill>
        <p:spPr>
          <a:xfrm>
            <a:off x="4709160" y="2688336"/>
            <a:ext cx="164592" cy="164592"/>
          </a:xfrm>
          <a:prstGeom prst="rect">
            <a:avLst/>
          </a:prstGeom>
          <a:noFill/>
          <a:ln>
            <a:noFill/>
          </a:ln>
        </p:spPr>
      </p:pic>
      <p:sp>
        <p:nvSpPr>
          <p:cNvPr id="194" name="Google Shape;194;p4"/>
          <p:cNvSpPr/>
          <p:nvPr/>
        </p:nvSpPr>
        <p:spPr>
          <a:xfrm>
            <a:off x="4956048" y="2670048"/>
            <a:ext cx="374904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b="0" i="0" u="none" strike="noStrike" cap="none">
                <a:solidFill>
                  <a:srgbClr val="94A3B8"/>
                </a:solidFill>
                <a:latin typeface="Calibri"/>
                <a:ea typeface="Calibri"/>
                <a:cs typeface="Calibri"/>
                <a:sym typeface="Calibri"/>
              </a:rPr>
              <a:t>Willing to pay a premium for a clean, functional design</a:t>
            </a:r>
            <a:endParaRPr sz="1000" b="0" i="0" u="none" strike="noStrike" cap="none">
              <a:solidFill>
                <a:schemeClr val="dk1"/>
              </a:solidFill>
              <a:latin typeface="Calibri"/>
              <a:ea typeface="Calibri"/>
              <a:cs typeface="Calibri"/>
              <a:sym typeface="Calibri"/>
            </a:endParaRPr>
          </a:p>
        </p:txBody>
      </p:sp>
      <p:sp>
        <p:nvSpPr>
          <p:cNvPr id="195" name="Google Shape;195;p4"/>
          <p:cNvSpPr/>
          <p:nvPr/>
        </p:nvSpPr>
        <p:spPr>
          <a:xfrm>
            <a:off x="4617720" y="3044952"/>
            <a:ext cx="4206240" cy="1508760"/>
          </a:xfrm>
          <a:prstGeom prst="rect">
            <a:avLst/>
          </a:prstGeom>
          <a:solidFill>
            <a:srgbClr val="1A2A1E"/>
          </a:solidFill>
          <a:ln w="19050"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6" name="Google Shape;196;p4" descr="preencoded.png"/>
          <p:cNvPicPr preferRelativeResize="0"/>
          <p:nvPr/>
        </p:nvPicPr>
        <p:blipFill rotWithShape="1">
          <a:blip r:embed="rId5">
            <a:alphaModFix/>
          </a:blip>
          <a:srcRect/>
          <a:stretch/>
        </p:blipFill>
        <p:spPr>
          <a:xfrm>
            <a:off x="4736592" y="3118104"/>
            <a:ext cx="201168" cy="201168"/>
          </a:xfrm>
          <a:prstGeom prst="rect">
            <a:avLst/>
          </a:prstGeom>
          <a:noFill/>
          <a:ln>
            <a:noFill/>
          </a:ln>
        </p:spPr>
      </p:pic>
      <p:sp>
        <p:nvSpPr>
          <p:cNvPr id="197" name="Google Shape;197;p4"/>
          <p:cNvSpPr/>
          <p:nvPr/>
        </p:nvSpPr>
        <p:spPr>
          <a:xfrm>
            <a:off x="5010912" y="3090672"/>
            <a:ext cx="3657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59669"/>
              </a:buClr>
              <a:buSzPts val="1100"/>
              <a:buFont typeface="Trebuchet MS"/>
              <a:buNone/>
            </a:pPr>
            <a:r>
              <a:rPr lang="en-US" sz="1100" b="1" i="0" u="none" strike="noStrike" cap="none">
                <a:solidFill>
                  <a:srgbClr val="059669"/>
                </a:solidFill>
                <a:latin typeface="Trebuchet MS"/>
                <a:ea typeface="Trebuchet MS"/>
                <a:cs typeface="Trebuchet MS"/>
                <a:sym typeface="Trebuchet MS"/>
              </a:rPr>
              <a:t>POSITIONING STATEMENT</a:t>
            </a:r>
            <a:endParaRPr sz="1100" b="0" i="0" u="none" strike="noStrike" cap="none">
              <a:solidFill>
                <a:schemeClr val="dk1"/>
              </a:solidFill>
              <a:latin typeface="Calibri"/>
              <a:ea typeface="Calibri"/>
              <a:cs typeface="Calibri"/>
              <a:sym typeface="Calibri"/>
            </a:endParaRPr>
          </a:p>
        </p:txBody>
      </p:sp>
      <p:sp>
        <p:nvSpPr>
          <p:cNvPr id="198" name="Google Shape;198;p4"/>
          <p:cNvSpPr/>
          <p:nvPr/>
        </p:nvSpPr>
        <p:spPr>
          <a:xfrm>
            <a:off x="4709160" y="3401568"/>
            <a:ext cx="3977640" cy="107899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AE6FD"/>
              </a:buClr>
              <a:buSzPts val="1050"/>
              <a:buFont typeface="Calibri"/>
              <a:buNone/>
            </a:pPr>
            <a:r>
              <a:rPr lang="en-US" sz="1050" b="0" i="1" u="none" strike="noStrike" cap="none">
                <a:solidFill>
                  <a:srgbClr val="BAE6FD"/>
                </a:solidFill>
                <a:latin typeface="Calibri"/>
                <a:ea typeface="Calibri"/>
                <a:cs typeface="Calibri"/>
                <a:sym typeface="Calibri"/>
              </a:rPr>
              <a:t>"For health-conscious young adults who want to build better hydration habits, Water Timer is the only smart water bottle that delivers built-in reminders and daily tracking — no app required."</a:t>
            </a:r>
            <a:endParaRPr sz="1050" b="0" i="0" u="none" strike="noStrike" cap="none">
              <a:solidFill>
                <a:schemeClr val="dk1"/>
              </a:solidFill>
              <a:latin typeface="Calibri"/>
              <a:ea typeface="Calibri"/>
              <a:cs typeface="Calibri"/>
              <a:sym typeface="Calibri"/>
            </a:endParaRPr>
          </a:p>
        </p:txBody>
      </p:sp>
      <p:sp>
        <p:nvSpPr>
          <p:cNvPr id="199" name="Google Shape;199;p4"/>
          <p:cNvSpPr/>
          <p:nvPr/>
        </p:nvSpPr>
        <p:spPr>
          <a:xfrm>
            <a:off x="274320" y="3767328"/>
            <a:ext cx="4114800" cy="804672"/>
          </a:xfrm>
          <a:prstGeom prst="rect">
            <a:avLst/>
          </a:prstGeom>
          <a:solidFill>
            <a:srgbClr val="1A2030"/>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4"/>
          <p:cNvSpPr/>
          <p:nvPr/>
        </p:nvSpPr>
        <p:spPr>
          <a:xfrm>
            <a:off x="457200" y="3822192"/>
            <a:ext cx="3657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100"/>
              <a:buFont typeface="Trebuchet MS"/>
              <a:buNone/>
            </a:pPr>
            <a:r>
              <a:rPr lang="en-US" sz="1100" b="1" i="0" u="none" strike="noStrike" cap="none">
                <a:solidFill>
                  <a:srgbClr val="14B8A6"/>
                </a:solidFill>
                <a:latin typeface="Trebuchet MS"/>
                <a:ea typeface="Trebuchet MS"/>
                <a:cs typeface="Trebuchet MS"/>
                <a:sym typeface="Trebuchet MS"/>
              </a:rPr>
              <a:t>Why This Audience?</a:t>
            </a:r>
            <a:endParaRPr sz="1100" b="0" i="0" u="none" strike="noStrike" cap="none">
              <a:solidFill>
                <a:schemeClr val="dk1"/>
              </a:solidFill>
              <a:latin typeface="Calibri"/>
              <a:ea typeface="Calibri"/>
              <a:cs typeface="Calibri"/>
              <a:sym typeface="Calibri"/>
            </a:endParaRPr>
          </a:p>
        </p:txBody>
      </p:sp>
      <p:sp>
        <p:nvSpPr>
          <p:cNvPr id="201" name="Google Shape;201;p4"/>
          <p:cNvSpPr/>
          <p:nvPr/>
        </p:nvSpPr>
        <p:spPr>
          <a:xfrm>
            <a:off x="457200" y="4096512"/>
            <a:ext cx="38404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850" b="0" i="0" u="none" strike="noStrike" cap="none">
                <a:solidFill>
                  <a:srgbClr val="94A3B8"/>
                </a:solidFill>
                <a:latin typeface="Calibri"/>
                <a:ea typeface="Calibri"/>
                <a:cs typeface="Calibri"/>
                <a:sym typeface="Calibri"/>
              </a:rPr>
              <a:t>This segment has the purchasing power, brand awareness of Owala, and the unmet need that Water Timer directly solves: effortless hydration accountabilit</a:t>
            </a:r>
            <a:r>
              <a:rPr lang="en-US" sz="850">
                <a:solidFill>
                  <a:srgbClr val="94A3B8"/>
                </a:solidFill>
                <a:latin typeface="Calibri"/>
                <a:ea typeface="Calibri"/>
                <a:cs typeface="Calibri"/>
                <a:sym typeface="Calibri"/>
              </a:rPr>
              <a:t>y, especially considering drinking enough water is essential to a good lifestyle.</a:t>
            </a:r>
            <a:endParaRPr sz="85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206"/>
        <p:cNvGrpSpPr/>
        <p:nvPr/>
      </p:nvGrpSpPr>
      <p:grpSpPr>
        <a:xfrm>
          <a:off x="0" y="0"/>
          <a:ext cx="0" cy="0"/>
          <a:chOff x="0" y="0"/>
          <a:chExt cx="0" cy="0"/>
        </a:xfrm>
      </p:grpSpPr>
      <p:sp>
        <p:nvSpPr>
          <p:cNvPr id="207" name="Google Shape;207;p5"/>
          <p:cNvSpPr/>
          <p:nvPr/>
        </p:nvSpPr>
        <p:spPr>
          <a:xfrm>
            <a:off x="0" y="0"/>
            <a:ext cx="9144000" cy="73152"/>
          </a:xfrm>
          <a:prstGeom prst="rect">
            <a:avLst/>
          </a:prstGeom>
          <a:solidFill>
            <a:srgbClr val="14B8A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5"/>
          <p:cNvSpPr/>
          <p:nvPr/>
        </p:nvSpPr>
        <p:spPr>
          <a:xfrm>
            <a:off x="457200" y="201168"/>
            <a:ext cx="8229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2800"/>
              <a:buFont typeface="Trebuchet MS"/>
              <a:buNone/>
            </a:pPr>
            <a:r>
              <a:rPr lang="en-US" sz="2800" b="1" i="0" u="none" strike="noStrike" cap="none">
                <a:solidFill>
                  <a:srgbClr val="F8FAFC"/>
                </a:solidFill>
                <a:latin typeface="Trebuchet MS"/>
                <a:ea typeface="Trebuchet MS"/>
                <a:cs typeface="Trebuchet MS"/>
                <a:sym typeface="Trebuchet MS"/>
              </a:rPr>
              <a:t>Marketing Mix</a:t>
            </a:r>
            <a:r>
              <a:rPr lang="en-US" sz="2800" b="1">
                <a:solidFill>
                  <a:srgbClr val="F8FAFC"/>
                </a:solidFill>
                <a:latin typeface="Trebuchet MS"/>
                <a:ea typeface="Trebuchet MS"/>
                <a:cs typeface="Trebuchet MS"/>
                <a:sym typeface="Trebuchet MS"/>
              </a:rPr>
              <a:t>—The</a:t>
            </a:r>
            <a:r>
              <a:rPr lang="en-US" sz="2800" b="1" i="0" u="none" strike="noStrike" cap="none">
                <a:solidFill>
                  <a:srgbClr val="F8FAFC"/>
                </a:solidFill>
                <a:latin typeface="Trebuchet MS"/>
                <a:ea typeface="Trebuchet MS"/>
                <a:cs typeface="Trebuchet MS"/>
                <a:sym typeface="Trebuchet MS"/>
              </a:rPr>
              <a:t> 4 Ps							</a:t>
            </a:r>
            <a:r>
              <a:rPr lang="en-US" sz="1200" b="1" i="0" u="none" strike="noStrike" cap="none">
                <a:solidFill>
                  <a:srgbClr val="B7B7B7"/>
                </a:solidFill>
                <a:latin typeface="Trebuchet MS"/>
                <a:ea typeface="Trebuchet MS"/>
                <a:cs typeface="Trebuchet MS"/>
                <a:sym typeface="Trebuchet MS"/>
              </a:rPr>
              <a:t>Ro</a:t>
            </a:r>
            <a:r>
              <a:rPr lang="en-US" sz="1200" b="1">
                <a:solidFill>
                  <a:srgbClr val="B7B7B7"/>
                </a:solidFill>
                <a:latin typeface="Trebuchet MS"/>
                <a:ea typeface="Trebuchet MS"/>
                <a:cs typeface="Trebuchet MS"/>
                <a:sym typeface="Trebuchet MS"/>
              </a:rPr>
              <a:t>sie Kwok</a:t>
            </a:r>
            <a:endParaRPr sz="1200" b="0" i="0" u="none" strike="noStrike" cap="none">
              <a:solidFill>
                <a:srgbClr val="B7B7B7"/>
              </a:solidFill>
              <a:latin typeface="Calibri"/>
              <a:ea typeface="Calibri"/>
              <a:cs typeface="Calibri"/>
              <a:sym typeface="Calibri"/>
            </a:endParaRPr>
          </a:p>
        </p:txBody>
      </p:sp>
      <p:sp>
        <p:nvSpPr>
          <p:cNvPr id="209" name="Google Shape;209;p5"/>
          <p:cNvSpPr/>
          <p:nvPr/>
        </p:nvSpPr>
        <p:spPr>
          <a:xfrm>
            <a:off x="457200" y="749808"/>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200"/>
              <a:buFont typeface="Calibri"/>
              <a:buNone/>
            </a:pPr>
            <a:r>
              <a:rPr lang="en-US" sz="1200" b="0" i="1" u="none" strike="noStrike" cap="none">
                <a:solidFill>
                  <a:srgbClr val="14B8A6"/>
                </a:solidFill>
                <a:latin typeface="Calibri"/>
                <a:ea typeface="Calibri"/>
                <a:cs typeface="Calibri"/>
                <a:sym typeface="Calibri"/>
              </a:rPr>
              <a:t>Product · Price · Place · Promotion</a:t>
            </a:r>
            <a:endParaRPr sz="1200" b="0" i="0" u="none" strike="noStrike" cap="none">
              <a:solidFill>
                <a:schemeClr val="dk1"/>
              </a:solidFill>
              <a:latin typeface="Calibri"/>
              <a:ea typeface="Calibri"/>
              <a:cs typeface="Calibri"/>
              <a:sym typeface="Calibri"/>
            </a:endParaRPr>
          </a:p>
        </p:txBody>
      </p:sp>
      <p:sp>
        <p:nvSpPr>
          <p:cNvPr id="210" name="Google Shape;210;p5"/>
          <p:cNvSpPr/>
          <p:nvPr/>
        </p:nvSpPr>
        <p:spPr>
          <a:xfrm>
            <a:off x="0" y="4956048"/>
            <a:ext cx="9144000" cy="182880"/>
          </a:xfrm>
          <a:prstGeom prst="rect">
            <a:avLst/>
          </a:prstGeom>
          <a:solidFill>
            <a:srgbClr val="0A0F1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5"/>
          <p:cNvSpPr/>
          <p:nvPr/>
        </p:nvSpPr>
        <p:spPr>
          <a:xfrm>
            <a:off x="457200" y="4974336"/>
            <a:ext cx="6400800" cy="1463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700"/>
              <a:buFont typeface="Calibri"/>
              <a:buNone/>
            </a:pPr>
            <a:r>
              <a:rPr lang="en-US" sz="700" b="0" i="0" u="none" strike="noStrike" cap="none">
                <a:solidFill>
                  <a:srgbClr val="475569"/>
                </a:solidFill>
                <a:latin typeface="Calibri"/>
                <a:ea typeface="Calibri"/>
                <a:cs typeface="Calibri"/>
                <a:sym typeface="Calibri"/>
              </a:rPr>
              <a:t>WATER TIMER  |  Owala Innovation Concept</a:t>
            </a:r>
            <a:endParaRPr sz="700" b="0" i="0" u="none" strike="noStrike" cap="none">
              <a:solidFill>
                <a:schemeClr val="dk1"/>
              </a:solidFill>
              <a:latin typeface="Calibri"/>
              <a:ea typeface="Calibri"/>
              <a:cs typeface="Calibri"/>
              <a:sym typeface="Calibri"/>
            </a:endParaRPr>
          </a:p>
        </p:txBody>
      </p:sp>
      <p:sp>
        <p:nvSpPr>
          <p:cNvPr id="212" name="Google Shape;212;p5"/>
          <p:cNvSpPr/>
          <p:nvPr/>
        </p:nvSpPr>
        <p:spPr>
          <a:xfrm>
            <a:off x="8503920" y="4974336"/>
            <a:ext cx="457200" cy="14630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9488"/>
              </a:buClr>
              <a:buSzPts val="700"/>
              <a:buFont typeface="Calibri"/>
              <a:buNone/>
            </a:pPr>
            <a:r>
              <a:rPr lang="en-US" sz="700" b="0" i="0" u="none" strike="noStrike" cap="none">
                <a:solidFill>
                  <a:srgbClr val="0D9488"/>
                </a:solidFill>
                <a:latin typeface="Calibri"/>
                <a:ea typeface="Calibri"/>
                <a:cs typeface="Calibri"/>
                <a:sym typeface="Calibri"/>
              </a:rPr>
              <a:t>5</a:t>
            </a:r>
            <a:endParaRPr sz="700" b="0" i="0" u="none" strike="noStrike" cap="none">
              <a:solidFill>
                <a:schemeClr val="dk1"/>
              </a:solidFill>
              <a:latin typeface="Calibri"/>
              <a:ea typeface="Calibri"/>
              <a:cs typeface="Calibri"/>
              <a:sym typeface="Calibri"/>
            </a:endParaRPr>
          </a:p>
        </p:txBody>
      </p:sp>
      <p:sp>
        <p:nvSpPr>
          <p:cNvPr id="213" name="Google Shape;213;p5"/>
          <p:cNvSpPr/>
          <p:nvPr/>
        </p:nvSpPr>
        <p:spPr>
          <a:xfrm>
            <a:off x="274320" y="1188720"/>
            <a:ext cx="4160520" cy="1618488"/>
          </a:xfrm>
          <a:prstGeom prst="rect">
            <a:avLst/>
          </a:prstGeom>
          <a:solidFill>
            <a:srgbClr val="161B22"/>
          </a:solidFill>
          <a:ln w="1905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5"/>
          <p:cNvSpPr/>
          <p:nvPr/>
        </p:nvSpPr>
        <p:spPr>
          <a:xfrm>
            <a:off x="274320" y="1188720"/>
            <a:ext cx="182880" cy="1618488"/>
          </a:xfrm>
          <a:prstGeom prst="rect">
            <a:avLst/>
          </a:prstGeom>
          <a:solidFill>
            <a:srgbClr val="0D9488"/>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5" name="Google Shape;215;p5" descr="preencoded.png"/>
          <p:cNvPicPr preferRelativeResize="0"/>
          <p:nvPr/>
        </p:nvPicPr>
        <p:blipFill rotWithShape="1">
          <a:blip r:embed="rId3">
            <a:alphaModFix/>
          </a:blip>
          <a:srcRect/>
          <a:stretch/>
        </p:blipFill>
        <p:spPr>
          <a:xfrm>
            <a:off x="594360" y="1298448"/>
            <a:ext cx="292608" cy="292608"/>
          </a:xfrm>
          <a:prstGeom prst="rect">
            <a:avLst/>
          </a:prstGeom>
          <a:noFill/>
          <a:ln>
            <a:noFill/>
          </a:ln>
        </p:spPr>
      </p:pic>
      <p:sp>
        <p:nvSpPr>
          <p:cNvPr id="216" name="Google Shape;216;p5"/>
          <p:cNvSpPr/>
          <p:nvPr/>
        </p:nvSpPr>
        <p:spPr>
          <a:xfrm>
            <a:off x="987552" y="1298448"/>
            <a:ext cx="32004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500"/>
              <a:buFont typeface="Trebuchet MS"/>
              <a:buNone/>
            </a:pPr>
            <a:r>
              <a:rPr lang="en-US" sz="1500" b="1" i="0" u="none" strike="noStrike" cap="none">
                <a:solidFill>
                  <a:srgbClr val="0D9488"/>
                </a:solidFill>
                <a:latin typeface="Trebuchet MS"/>
                <a:ea typeface="Trebuchet MS"/>
                <a:cs typeface="Trebuchet MS"/>
                <a:sym typeface="Trebuchet MS"/>
              </a:rPr>
              <a:t>PRODUCT</a:t>
            </a:r>
            <a:endParaRPr sz="1500" b="0" i="0" u="none" strike="noStrike" cap="none">
              <a:solidFill>
                <a:schemeClr val="dk1"/>
              </a:solidFill>
              <a:latin typeface="Calibri"/>
              <a:ea typeface="Calibri"/>
              <a:cs typeface="Calibri"/>
              <a:sym typeface="Calibri"/>
            </a:endParaRPr>
          </a:p>
        </p:txBody>
      </p:sp>
      <p:sp>
        <p:nvSpPr>
          <p:cNvPr id="217" name="Google Shape;217;p5"/>
          <p:cNvSpPr/>
          <p:nvPr/>
        </p:nvSpPr>
        <p:spPr>
          <a:xfrm>
            <a:off x="457200" y="1539813"/>
            <a:ext cx="3886200" cy="1267500"/>
          </a:xfrm>
          <a:prstGeom prst="rect">
            <a:avLst/>
          </a:prstGeom>
          <a:noFill/>
          <a:ln>
            <a:noFill/>
          </a:ln>
        </p:spPr>
        <p:txBody>
          <a:bodyPr spcFirstLastPara="1" wrap="square" lIns="171450" tIns="0" rIns="0" bIns="0" anchor="ctr" anchorCtr="0">
            <a:noAutofit/>
          </a:bodyPr>
          <a:lstStyle/>
          <a:p>
            <a:pPr marL="342900" marR="0" lvl="0" indent="-339725" algn="l" rtl="0">
              <a:spcBef>
                <a:spcPts val="0"/>
              </a:spcBef>
              <a:spcAft>
                <a:spcPts val="0"/>
              </a:spcAft>
              <a:buClr>
                <a:srgbClr val="94A3B8"/>
              </a:buClr>
              <a:buSzPts val="900"/>
              <a:buFont typeface="Calibri"/>
              <a:buChar char="•"/>
            </a:pPr>
            <a:r>
              <a:rPr lang="en-US" sz="900" b="0" i="0" u="none" strike="noStrike" cap="none">
                <a:solidFill>
                  <a:srgbClr val="94A3B8"/>
                </a:solidFill>
                <a:latin typeface="Calibri"/>
                <a:ea typeface="Calibri"/>
                <a:cs typeface="Calibri"/>
                <a:sym typeface="Calibri"/>
              </a:rPr>
              <a:t>Owala-based bottle with </a:t>
            </a:r>
            <a:r>
              <a:rPr lang="en-US" sz="900">
                <a:solidFill>
                  <a:srgbClr val="94A3B8"/>
                </a:solidFill>
                <a:latin typeface="Calibri"/>
                <a:ea typeface="Calibri"/>
                <a:cs typeface="Calibri"/>
                <a:sym typeface="Calibri"/>
              </a:rPr>
              <a:t>side-mounted digital </a:t>
            </a:r>
            <a:r>
              <a:rPr lang="en-US" sz="900" b="0" i="0" u="none" strike="noStrike" cap="none">
                <a:solidFill>
                  <a:srgbClr val="94A3B8"/>
                </a:solidFill>
                <a:latin typeface="Calibri"/>
                <a:ea typeface="Calibri"/>
                <a:cs typeface="Calibri"/>
                <a:sym typeface="Calibri"/>
              </a:rPr>
              <a:t>built-in water t</a:t>
            </a:r>
            <a:r>
              <a:rPr lang="en-US" sz="900">
                <a:solidFill>
                  <a:srgbClr val="94A3B8"/>
                </a:solidFill>
                <a:latin typeface="Calibri"/>
                <a:ea typeface="Calibri"/>
                <a:cs typeface="Calibri"/>
                <a:sym typeface="Calibri"/>
              </a:rPr>
              <a:t>imer and water-motion sensor</a:t>
            </a:r>
            <a:endParaRPr sz="900" b="0" i="0" u="none" strike="noStrike" cap="none">
              <a:solidFill>
                <a:schemeClr val="dk1"/>
              </a:solidFill>
              <a:latin typeface="Calibri"/>
              <a:ea typeface="Calibri"/>
              <a:cs typeface="Calibri"/>
              <a:sym typeface="Calibri"/>
            </a:endParaRPr>
          </a:p>
          <a:p>
            <a:pPr marL="342900" marR="0" lvl="0" indent="-339725" algn="l" rtl="0">
              <a:spcBef>
                <a:spcPts val="0"/>
              </a:spcBef>
              <a:spcAft>
                <a:spcPts val="0"/>
              </a:spcAft>
              <a:buClr>
                <a:srgbClr val="94A3B8"/>
              </a:buClr>
              <a:buSzPts val="900"/>
              <a:buFont typeface="Calibri"/>
              <a:buChar char="•"/>
            </a:pPr>
            <a:r>
              <a:rPr lang="en-US" sz="900" b="0" i="0" u="none" strike="noStrike" cap="none">
                <a:solidFill>
                  <a:srgbClr val="94A3B8"/>
                </a:solidFill>
                <a:latin typeface="Calibri"/>
                <a:ea typeface="Calibri"/>
                <a:cs typeface="Calibri"/>
                <a:sym typeface="Calibri"/>
              </a:rPr>
              <a:t>Battery via USB-C charging port backed with solar </a:t>
            </a:r>
            <a:r>
              <a:rPr lang="en-US" sz="900">
                <a:solidFill>
                  <a:srgbClr val="94A3B8"/>
                </a:solidFill>
                <a:latin typeface="Calibri"/>
                <a:ea typeface="Calibri"/>
                <a:cs typeface="Calibri"/>
                <a:sym typeface="Calibri"/>
              </a:rPr>
              <a:t>power </a:t>
            </a:r>
            <a:endParaRPr sz="900" b="0" i="0" u="none" strike="noStrike" cap="none">
              <a:solidFill>
                <a:schemeClr val="dk1"/>
              </a:solidFill>
              <a:latin typeface="Calibri"/>
              <a:ea typeface="Calibri"/>
              <a:cs typeface="Calibri"/>
              <a:sym typeface="Calibri"/>
            </a:endParaRPr>
          </a:p>
          <a:p>
            <a:pPr marL="342900" marR="0" lvl="0" indent="-339725" algn="l" rtl="0">
              <a:spcBef>
                <a:spcPts val="0"/>
              </a:spcBef>
              <a:spcAft>
                <a:spcPts val="0"/>
              </a:spcAft>
              <a:buClr>
                <a:srgbClr val="94A3B8"/>
              </a:buClr>
              <a:buSzPts val="900"/>
              <a:buFont typeface="Calibri"/>
              <a:buChar char="•"/>
            </a:pPr>
            <a:r>
              <a:rPr lang="en-US" sz="900" b="0" i="0" u="none" strike="noStrike" cap="none">
                <a:solidFill>
                  <a:srgbClr val="94A3B8"/>
                </a:solidFill>
                <a:latin typeface="Calibri"/>
                <a:ea typeface="Calibri"/>
                <a:cs typeface="Calibri"/>
                <a:sym typeface="Calibri"/>
              </a:rPr>
              <a:t>BPA-free</a:t>
            </a:r>
            <a:r>
              <a:rPr lang="en-US" sz="900">
                <a:solidFill>
                  <a:srgbClr val="94A3B8"/>
                </a:solidFill>
                <a:latin typeface="Calibri"/>
                <a:ea typeface="Calibri"/>
                <a:cs typeface="Calibri"/>
                <a:sym typeface="Calibri"/>
              </a:rPr>
              <a:t>, free-sip technology, leak-proof lids, made to be sturdy &amp; long-lasting</a:t>
            </a:r>
            <a:endParaRPr sz="900">
              <a:solidFill>
                <a:srgbClr val="94A3B8"/>
              </a:solidFill>
              <a:latin typeface="Calibri"/>
              <a:ea typeface="Calibri"/>
              <a:cs typeface="Calibri"/>
              <a:sym typeface="Calibri"/>
            </a:endParaRPr>
          </a:p>
          <a:p>
            <a:pPr marL="342900" marR="0" lvl="0" indent="-339725" algn="l" rtl="0">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Must be handwash, not dishwasher safe; lid &amp; straws are dishwasher safe</a:t>
            </a:r>
            <a:endParaRPr sz="900">
              <a:solidFill>
                <a:srgbClr val="94A3B8"/>
              </a:solidFill>
              <a:latin typeface="Calibri"/>
              <a:ea typeface="Calibri"/>
              <a:cs typeface="Calibri"/>
              <a:sym typeface="Calibri"/>
            </a:endParaRPr>
          </a:p>
          <a:p>
            <a:pPr marL="342900" marR="0" lvl="0" indent="-339725" algn="l" rtl="0">
              <a:spcBef>
                <a:spcPts val="0"/>
              </a:spcBef>
              <a:spcAft>
                <a:spcPts val="0"/>
              </a:spcAft>
              <a:buClr>
                <a:srgbClr val="94A3B8"/>
              </a:buClr>
              <a:buSzPts val="900"/>
              <a:buFont typeface="Calibri"/>
              <a:buChar char="•"/>
            </a:pPr>
            <a:r>
              <a:rPr lang="en-US" sz="900" b="0" i="0" u="none" strike="noStrike" cap="none">
                <a:solidFill>
                  <a:srgbClr val="94A3B8"/>
                </a:solidFill>
                <a:latin typeface="Calibri"/>
                <a:ea typeface="Calibri"/>
                <a:cs typeface="Calibri"/>
                <a:sym typeface="Calibri"/>
              </a:rPr>
              <a:t>Available in 3 sizes: 24 oz, 32oz &amp; 40o</a:t>
            </a:r>
            <a:r>
              <a:rPr lang="en-US" sz="900">
                <a:solidFill>
                  <a:srgbClr val="94A3B8"/>
                </a:solidFill>
                <a:latin typeface="Calibri"/>
                <a:ea typeface="Calibri"/>
                <a:cs typeface="Calibri"/>
                <a:sym typeface="Calibri"/>
              </a:rPr>
              <a:t>z</a:t>
            </a:r>
            <a:endParaRPr sz="900">
              <a:solidFill>
                <a:srgbClr val="94A3B8"/>
              </a:solidFill>
              <a:latin typeface="Calibri"/>
              <a:ea typeface="Calibri"/>
              <a:cs typeface="Calibri"/>
              <a:sym typeface="Calibri"/>
            </a:endParaRPr>
          </a:p>
          <a:p>
            <a:pPr marL="342900" marR="0" lvl="0" indent="-339725" algn="l" rtl="0">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Multi-colored combination, compatible for males &amp; females (unisex)</a:t>
            </a:r>
            <a:endParaRPr sz="900">
              <a:solidFill>
                <a:srgbClr val="94A3B8"/>
              </a:solidFill>
              <a:latin typeface="Calibri"/>
              <a:ea typeface="Calibri"/>
              <a:cs typeface="Calibri"/>
              <a:sym typeface="Calibri"/>
            </a:endParaRPr>
          </a:p>
        </p:txBody>
      </p:sp>
      <p:sp>
        <p:nvSpPr>
          <p:cNvPr id="218" name="Google Shape;218;p5"/>
          <p:cNvSpPr/>
          <p:nvPr/>
        </p:nvSpPr>
        <p:spPr>
          <a:xfrm>
            <a:off x="4663440" y="1188720"/>
            <a:ext cx="4160520" cy="1618488"/>
          </a:xfrm>
          <a:prstGeom prst="rect">
            <a:avLst/>
          </a:prstGeom>
          <a:solidFill>
            <a:srgbClr val="161B22"/>
          </a:solidFill>
          <a:ln w="1905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4663440" y="1188720"/>
            <a:ext cx="182880" cy="1618488"/>
          </a:xfrm>
          <a:prstGeom prst="rect">
            <a:avLst/>
          </a:prstGeom>
          <a:solidFill>
            <a:srgbClr val="38BDF8"/>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0" name="Google Shape;220;p5" descr="preencoded.png"/>
          <p:cNvPicPr preferRelativeResize="0"/>
          <p:nvPr/>
        </p:nvPicPr>
        <p:blipFill rotWithShape="1">
          <a:blip r:embed="rId4">
            <a:alphaModFix/>
          </a:blip>
          <a:srcRect/>
          <a:stretch/>
        </p:blipFill>
        <p:spPr>
          <a:xfrm>
            <a:off x="4983480" y="1298448"/>
            <a:ext cx="292608" cy="292608"/>
          </a:xfrm>
          <a:prstGeom prst="rect">
            <a:avLst/>
          </a:prstGeom>
          <a:noFill/>
          <a:ln>
            <a:noFill/>
          </a:ln>
        </p:spPr>
      </p:pic>
      <p:sp>
        <p:nvSpPr>
          <p:cNvPr id="221" name="Google Shape;221;p5"/>
          <p:cNvSpPr/>
          <p:nvPr/>
        </p:nvSpPr>
        <p:spPr>
          <a:xfrm>
            <a:off x="5376672" y="1298448"/>
            <a:ext cx="32004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8BDF8"/>
              </a:buClr>
              <a:buSzPts val="1500"/>
              <a:buFont typeface="Trebuchet MS"/>
              <a:buNone/>
            </a:pPr>
            <a:r>
              <a:rPr lang="en-US" sz="1500" b="1" i="0" u="none" strike="noStrike" cap="none">
                <a:solidFill>
                  <a:srgbClr val="38BDF8"/>
                </a:solidFill>
                <a:latin typeface="Trebuchet MS"/>
                <a:ea typeface="Trebuchet MS"/>
                <a:cs typeface="Trebuchet MS"/>
                <a:sym typeface="Trebuchet MS"/>
              </a:rPr>
              <a:t>PRICE</a:t>
            </a:r>
            <a:endParaRPr sz="1500" b="0" i="0" u="none" strike="noStrike" cap="none">
              <a:solidFill>
                <a:schemeClr val="dk1"/>
              </a:solidFill>
              <a:latin typeface="Calibri"/>
              <a:ea typeface="Calibri"/>
              <a:cs typeface="Calibri"/>
              <a:sym typeface="Calibri"/>
            </a:endParaRPr>
          </a:p>
        </p:txBody>
      </p:sp>
      <p:sp>
        <p:nvSpPr>
          <p:cNvPr id="222" name="Google Shape;222;p5"/>
          <p:cNvSpPr/>
          <p:nvPr/>
        </p:nvSpPr>
        <p:spPr>
          <a:xfrm>
            <a:off x="4983475" y="1618500"/>
            <a:ext cx="3749100" cy="1097400"/>
          </a:xfrm>
          <a:prstGeom prst="rect">
            <a:avLst/>
          </a:prstGeom>
          <a:noFill/>
          <a:ln>
            <a:noFill/>
          </a:ln>
        </p:spPr>
        <p:txBody>
          <a:bodyPr spcFirstLastPara="1" wrap="square" lIns="0" tIns="0" rIns="0" bIns="0" anchor="ctr" anchorCtr="0">
            <a:noAutofit/>
          </a:bodyPr>
          <a:lstStyle/>
          <a:p>
            <a:pPr marL="342900" marR="0" lvl="0" indent="-342900" algn="l" rtl="0">
              <a:spcBef>
                <a:spcPts val="0"/>
              </a:spcBef>
              <a:spcAft>
                <a:spcPts val="0"/>
              </a:spcAft>
              <a:buClr>
                <a:srgbClr val="94A3B8"/>
              </a:buClr>
              <a:buSzPts val="950"/>
              <a:buFont typeface="Calibri"/>
              <a:buChar char="•"/>
            </a:pPr>
            <a:r>
              <a:rPr lang="en-US" sz="950" b="0" i="0" u="none" strike="noStrike" cap="none">
                <a:solidFill>
                  <a:srgbClr val="94A3B8"/>
                </a:solidFill>
                <a:latin typeface="Calibri"/>
                <a:ea typeface="Calibri"/>
                <a:cs typeface="Calibri"/>
                <a:sym typeface="Calibri"/>
              </a:rPr>
              <a:t>Retail price</a:t>
            </a:r>
            <a:r>
              <a:rPr lang="en-US" sz="950">
                <a:solidFill>
                  <a:srgbClr val="94A3B8"/>
                </a:solidFill>
                <a:latin typeface="Calibri"/>
                <a:ea typeface="Calibri"/>
                <a:cs typeface="Calibri"/>
                <a:sym typeface="Calibri"/>
              </a:rPr>
              <a:t> (standard price on the Owala site)</a:t>
            </a:r>
            <a:endParaRPr sz="950" b="0" i="0" u="none" strike="noStrike" cap="none">
              <a:solidFill>
                <a:srgbClr val="94A3B8"/>
              </a:solidFill>
              <a:latin typeface="Calibri"/>
              <a:ea typeface="Calibri"/>
              <a:cs typeface="Calibri"/>
              <a:sym typeface="Calibri"/>
            </a:endParaRPr>
          </a:p>
          <a:p>
            <a:pPr marL="0" marR="0" lvl="0" indent="457200" algn="l" rtl="0">
              <a:spcBef>
                <a:spcPts val="0"/>
              </a:spcBef>
              <a:spcAft>
                <a:spcPts val="0"/>
              </a:spcAft>
              <a:buNone/>
            </a:pPr>
            <a:r>
              <a:rPr lang="en-US" sz="950">
                <a:solidFill>
                  <a:srgbClr val="94A3B8"/>
                </a:solidFill>
                <a:latin typeface="Calibri"/>
                <a:ea typeface="Calibri"/>
                <a:cs typeface="Calibri"/>
                <a:sym typeface="Calibri"/>
              </a:rPr>
              <a:t>$45 (24 oz)	$50 (32 oz.)	$55 (40oz)</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Prices are subject to change depending on varying locations &amp; time of season</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b="0" i="0" u="none" strike="noStrike" cap="none">
                <a:solidFill>
                  <a:srgbClr val="94A3B8"/>
                </a:solidFill>
                <a:latin typeface="Calibri"/>
                <a:ea typeface="Calibri"/>
                <a:cs typeface="Calibri"/>
                <a:sym typeface="Calibri"/>
              </a:rPr>
              <a:t>1-year warranty for </a:t>
            </a:r>
            <a:r>
              <a:rPr lang="en-US" sz="950">
                <a:solidFill>
                  <a:srgbClr val="94A3B8"/>
                </a:solidFill>
                <a:latin typeface="Calibri"/>
                <a:ea typeface="Calibri"/>
                <a:cs typeface="Calibri"/>
                <a:sym typeface="Calibri"/>
              </a:rPr>
              <a:t>technology damage/malfunctions through Owala site</a:t>
            </a:r>
            <a:endParaRPr sz="950" b="0" i="0" u="none" strike="noStrike" cap="none">
              <a:solidFill>
                <a:schemeClr val="dk1"/>
              </a:solidFill>
              <a:latin typeface="Calibri"/>
              <a:ea typeface="Calibri"/>
              <a:cs typeface="Calibri"/>
              <a:sym typeface="Calibri"/>
            </a:endParaRPr>
          </a:p>
        </p:txBody>
      </p:sp>
      <p:sp>
        <p:nvSpPr>
          <p:cNvPr id="223" name="Google Shape;223;p5"/>
          <p:cNvSpPr/>
          <p:nvPr/>
        </p:nvSpPr>
        <p:spPr>
          <a:xfrm>
            <a:off x="274383" y="3072410"/>
            <a:ext cx="4160400" cy="1618500"/>
          </a:xfrm>
          <a:prstGeom prst="rect">
            <a:avLst/>
          </a:prstGeom>
          <a:solidFill>
            <a:srgbClr val="161B22"/>
          </a:solidFill>
          <a:ln w="19050" cap="flat" cmpd="sng">
            <a:solidFill>
              <a:srgbClr val="5EEA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5"/>
          <p:cNvSpPr/>
          <p:nvPr/>
        </p:nvSpPr>
        <p:spPr>
          <a:xfrm>
            <a:off x="274320" y="3108960"/>
            <a:ext cx="183000" cy="1618500"/>
          </a:xfrm>
          <a:prstGeom prst="rect">
            <a:avLst/>
          </a:prstGeom>
          <a:solidFill>
            <a:srgbClr val="5EEAD4"/>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5" name="Google Shape;225;p5" descr="preencoded.png"/>
          <p:cNvPicPr preferRelativeResize="0"/>
          <p:nvPr/>
        </p:nvPicPr>
        <p:blipFill rotWithShape="1">
          <a:blip r:embed="rId5">
            <a:alphaModFix/>
          </a:blip>
          <a:srcRect/>
          <a:stretch/>
        </p:blipFill>
        <p:spPr>
          <a:xfrm>
            <a:off x="594360" y="3218688"/>
            <a:ext cx="292608" cy="292608"/>
          </a:xfrm>
          <a:prstGeom prst="rect">
            <a:avLst/>
          </a:prstGeom>
          <a:noFill/>
          <a:ln>
            <a:noFill/>
          </a:ln>
        </p:spPr>
      </p:pic>
      <p:sp>
        <p:nvSpPr>
          <p:cNvPr id="226" name="Google Shape;226;p5"/>
          <p:cNvSpPr/>
          <p:nvPr/>
        </p:nvSpPr>
        <p:spPr>
          <a:xfrm>
            <a:off x="987552" y="3218688"/>
            <a:ext cx="32004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EEAD4"/>
              </a:buClr>
              <a:buSzPts val="1500"/>
              <a:buFont typeface="Trebuchet MS"/>
              <a:buNone/>
            </a:pPr>
            <a:r>
              <a:rPr lang="en-US" sz="1500" b="1" i="0" u="none" strike="noStrike" cap="none">
                <a:solidFill>
                  <a:srgbClr val="5EEAD4"/>
                </a:solidFill>
                <a:latin typeface="Trebuchet MS"/>
                <a:ea typeface="Trebuchet MS"/>
                <a:cs typeface="Trebuchet MS"/>
                <a:sym typeface="Trebuchet MS"/>
              </a:rPr>
              <a:t>PLACE</a:t>
            </a:r>
            <a:endParaRPr sz="1500" b="0" i="0" u="none" strike="noStrike" cap="none">
              <a:solidFill>
                <a:schemeClr val="dk1"/>
              </a:solidFill>
              <a:latin typeface="Calibri"/>
              <a:ea typeface="Calibri"/>
              <a:cs typeface="Calibri"/>
              <a:sym typeface="Calibri"/>
            </a:endParaRPr>
          </a:p>
        </p:txBody>
      </p:sp>
      <p:sp>
        <p:nvSpPr>
          <p:cNvPr id="227" name="Google Shape;227;p5"/>
          <p:cNvSpPr/>
          <p:nvPr/>
        </p:nvSpPr>
        <p:spPr>
          <a:xfrm>
            <a:off x="594360" y="3584448"/>
            <a:ext cx="3749100" cy="1051500"/>
          </a:xfrm>
          <a:prstGeom prst="rect">
            <a:avLst/>
          </a:prstGeom>
          <a:noFill/>
          <a:ln>
            <a:noFill/>
          </a:ln>
        </p:spPr>
        <p:txBody>
          <a:bodyPr spcFirstLastPara="1" wrap="square" lIns="0" tIns="0" rIns="0" bIns="0" anchor="ctr" anchorCtr="0">
            <a:noAutofit/>
          </a:bodyPr>
          <a:lstStyle/>
          <a:p>
            <a:pPr marL="342900" marR="0" lvl="0" indent="-342900" algn="l" rtl="0">
              <a:spcBef>
                <a:spcPts val="0"/>
              </a:spcBef>
              <a:spcAft>
                <a:spcPts val="0"/>
              </a:spcAft>
              <a:buClr>
                <a:srgbClr val="94A3B8"/>
              </a:buClr>
              <a:buSzPts val="950"/>
              <a:buFont typeface="Calibri"/>
              <a:buChar char="•"/>
            </a:pPr>
            <a:r>
              <a:rPr lang="en-US" sz="950" b="0" i="0" u="none" strike="noStrike" cap="none">
                <a:solidFill>
                  <a:srgbClr val="94A3B8"/>
                </a:solidFill>
                <a:latin typeface="Calibri"/>
                <a:ea typeface="Calibri"/>
                <a:cs typeface="Calibri"/>
                <a:sym typeface="Calibri"/>
              </a:rPr>
              <a:t>Owala.com </a:t>
            </a:r>
            <a:r>
              <a:rPr lang="en-US" sz="950">
                <a:solidFill>
                  <a:srgbClr val="94A3B8"/>
                </a:solidFill>
                <a:latin typeface="Calibri"/>
                <a:ea typeface="Calibri"/>
                <a:cs typeface="Calibri"/>
                <a:sym typeface="Calibri"/>
              </a:rPr>
              <a:t>(Direct To Consumer)</a:t>
            </a:r>
            <a:endParaRPr sz="9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b="0" i="0" u="none" strike="noStrike" cap="none">
                <a:solidFill>
                  <a:srgbClr val="94A3B8"/>
                </a:solidFill>
                <a:latin typeface="Calibri"/>
                <a:ea typeface="Calibri"/>
                <a:cs typeface="Calibri"/>
                <a:sym typeface="Calibri"/>
              </a:rPr>
              <a:t>Target, </a:t>
            </a:r>
            <a:r>
              <a:rPr lang="en-US" sz="950">
                <a:solidFill>
                  <a:srgbClr val="94A3B8"/>
                </a:solidFill>
                <a:latin typeface="Calibri"/>
                <a:ea typeface="Calibri"/>
                <a:cs typeface="Calibri"/>
                <a:sym typeface="Calibri"/>
              </a:rPr>
              <a:t>Walmart,</a:t>
            </a:r>
            <a:r>
              <a:rPr lang="en-US" sz="950" b="0" i="0" u="none" strike="noStrike" cap="none">
                <a:solidFill>
                  <a:srgbClr val="94A3B8"/>
                </a:solidFill>
                <a:latin typeface="Calibri"/>
                <a:ea typeface="Calibri"/>
                <a:cs typeface="Calibri"/>
                <a:sym typeface="Calibri"/>
              </a:rPr>
              <a:t> Dick's Sporting Goods, Urban Outfitters, </a:t>
            </a:r>
            <a:r>
              <a:rPr lang="en-US" sz="950">
                <a:solidFill>
                  <a:srgbClr val="94A3B8"/>
                </a:solidFill>
                <a:latin typeface="Calibri"/>
                <a:ea typeface="Calibri"/>
                <a:cs typeface="Calibri"/>
                <a:sym typeface="Calibri"/>
              </a:rPr>
              <a:t>Tilly's, TJMaxx, Marshalls (retail)</a:t>
            </a:r>
            <a:endParaRPr sz="9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b="0" i="0" u="none" strike="noStrike" cap="none">
                <a:solidFill>
                  <a:srgbClr val="94A3B8"/>
                </a:solidFill>
                <a:latin typeface="Calibri"/>
                <a:ea typeface="Calibri"/>
                <a:cs typeface="Calibri"/>
                <a:sym typeface="Calibri"/>
              </a:rPr>
              <a:t>Amazo</a:t>
            </a:r>
            <a:r>
              <a:rPr lang="en-US" sz="950">
                <a:solidFill>
                  <a:srgbClr val="94A3B8"/>
                </a:solidFill>
                <a:latin typeface="Calibri"/>
                <a:ea typeface="Calibri"/>
                <a:cs typeface="Calibri"/>
                <a:sym typeface="Calibri"/>
              </a:rPr>
              <a:t>n, EBay, TikTok Shop (E-Commerce)</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b="0" i="0" u="none" strike="noStrike" cap="none">
                <a:solidFill>
                  <a:srgbClr val="94A3B8"/>
                </a:solidFill>
                <a:latin typeface="Calibri"/>
                <a:ea typeface="Calibri"/>
                <a:cs typeface="Calibri"/>
                <a:sym typeface="Calibri"/>
              </a:rPr>
              <a:t>Campus book</a:t>
            </a:r>
            <a:r>
              <a:rPr lang="en-US" sz="950">
                <a:solidFill>
                  <a:srgbClr val="94A3B8"/>
                </a:solidFill>
                <a:latin typeface="Calibri"/>
                <a:ea typeface="Calibri"/>
                <a:cs typeface="Calibri"/>
                <a:sym typeface="Calibri"/>
              </a:rPr>
              <a:t>/merchandise stores</a:t>
            </a:r>
            <a:endParaRPr sz="950" b="0" i="0" u="none" strike="noStrike" cap="none">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Planet fitness, Crunch Fitness, other fitness locations</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Mall &amp; shopping districts</a:t>
            </a:r>
            <a:endParaRPr sz="950" b="0" i="0" u="none" strike="noStrike" cap="none">
              <a:solidFill>
                <a:schemeClr val="dk1"/>
              </a:solidFill>
              <a:latin typeface="Calibri"/>
              <a:ea typeface="Calibri"/>
              <a:cs typeface="Calibri"/>
              <a:sym typeface="Calibri"/>
            </a:endParaRPr>
          </a:p>
        </p:txBody>
      </p:sp>
      <p:sp>
        <p:nvSpPr>
          <p:cNvPr id="228" name="Google Shape;228;p5"/>
          <p:cNvSpPr/>
          <p:nvPr/>
        </p:nvSpPr>
        <p:spPr>
          <a:xfrm>
            <a:off x="4663440" y="3108960"/>
            <a:ext cx="4160400" cy="1618500"/>
          </a:xfrm>
          <a:prstGeom prst="rect">
            <a:avLst/>
          </a:prstGeom>
          <a:solidFill>
            <a:srgbClr val="161B22"/>
          </a:solidFill>
          <a:ln w="1905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5"/>
          <p:cNvSpPr/>
          <p:nvPr/>
        </p:nvSpPr>
        <p:spPr>
          <a:xfrm>
            <a:off x="4663440" y="3108960"/>
            <a:ext cx="183000" cy="1618500"/>
          </a:xfrm>
          <a:prstGeom prst="rect">
            <a:avLst/>
          </a:prstGeom>
          <a:solidFill>
            <a:srgbClr val="F59E0B"/>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0" name="Google Shape;230;p5" descr="preencoded.png"/>
          <p:cNvPicPr preferRelativeResize="0"/>
          <p:nvPr/>
        </p:nvPicPr>
        <p:blipFill rotWithShape="1">
          <a:blip r:embed="rId6">
            <a:alphaModFix/>
          </a:blip>
          <a:srcRect/>
          <a:stretch/>
        </p:blipFill>
        <p:spPr>
          <a:xfrm>
            <a:off x="4983480" y="3218688"/>
            <a:ext cx="292608" cy="292608"/>
          </a:xfrm>
          <a:prstGeom prst="rect">
            <a:avLst/>
          </a:prstGeom>
          <a:noFill/>
          <a:ln>
            <a:noFill/>
          </a:ln>
        </p:spPr>
      </p:pic>
      <p:sp>
        <p:nvSpPr>
          <p:cNvPr id="231" name="Google Shape;231;p5"/>
          <p:cNvSpPr/>
          <p:nvPr/>
        </p:nvSpPr>
        <p:spPr>
          <a:xfrm>
            <a:off x="5376672" y="3218688"/>
            <a:ext cx="32004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9E0B"/>
              </a:buClr>
              <a:buSzPts val="1500"/>
              <a:buFont typeface="Trebuchet MS"/>
              <a:buNone/>
            </a:pPr>
            <a:r>
              <a:rPr lang="en-US" sz="1500" b="1" i="0" u="none" strike="noStrike" cap="none">
                <a:solidFill>
                  <a:srgbClr val="F59E0B"/>
                </a:solidFill>
                <a:latin typeface="Trebuchet MS"/>
                <a:ea typeface="Trebuchet MS"/>
                <a:cs typeface="Trebuchet MS"/>
                <a:sym typeface="Trebuchet MS"/>
              </a:rPr>
              <a:t>PROMOTION</a:t>
            </a:r>
            <a:endParaRPr sz="1500" b="0" i="0" u="none" strike="noStrike" cap="none">
              <a:solidFill>
                <a:schemeClr val="dk1"/>
              </a:solidFill>
              <a:latin typeface="Calibri"/>
              <a:ea typeface="Calibri"/>
              <a:cs typeface="Calibri"/>
              <a:sym typeface="Calibri"/>
            </a:endParaRPr>
          </a:p>
        </p:txBody>
      </p:sp>
      <p:sp>
        <p:nvSpPr>
          <p:cNvPr id="232" name="Google Shape;232;p5"/>
          <p:cNvSpPr/>
          <p:nvPr/>
        </p:nvSpPr>
        <p:spPr>
          <a:xfrm>
            <a:off x="4889500" y="3538800"/>
            <a:ext cx="3843000" cy="1143000"/>
          </a:xfrm>
          <a:prstGeom prst="rect">
            <a:avLst/>
          </a:prstGeom>
          <a:noFill/>
          <a:ln>
            <a:noFill/>
          </a:ln>
        </p:spPr>
        <p:txBody>
          <a:bodyPr spcFirstLastPara="1" wrap="square" lIns="114300" tIns="0" rIns="0" bIns="0" anchor="ctr" anchorCtr="0">
            <a:noAutofit/>
          </a:bodyPr>
          <a:lstStyle/>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S</a:t>
            </a:r>
            <a:r>
              <a:rPr lang="en-US" sz="950" b="0" i="0" u="none" strike="noStrike" cap="none">
                <a:solidFill>
                  <a:srgbClr val="94A3B8"/>
                </a:solidFill>
                <a:latin typeface="Calibri"/>
                <a:ea typeface="Calibri"/>
                <a:cs typeface="Calibri"/>
                <a:sym typeface="Calibri"/>
              </a:rPr>
              <a:t>ocial media </a:t>
            </a:r>
            <a:r>
              <a:rPr lang="en-US" sz="950">
                <a:solidFill>
                  <a:srgbClr val="94A3B8"/>
                </a:solidFill>
                <a:latin typeface="Calibri"/>
                <a:ea typeface="Calibri"/>
                <a:cs typeface="Calibri"/>
                <a:sym typeface="Calibri"/>
              </a:rPr>
              <a:t>partnerships with fitness influencers or athletes</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Ads &amp; marketing directly through Owala’s social media accounts</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Collaboration with athletic brands like Nike, Adidas, Under Armor, etc.</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Back-to-school &amp; black friday &amp; cyber monday discounts</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Student discounts applicable through Owala site</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Seasonal &amp; limited edition water bottle designs </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Newsletter signups for exclusive deals</a:t>
            </a:r>
            <a:endParaRPr sz="950">
              <a:solidFill>
                <a:srgbClr val="94A3B8"/>
              </a:solidFill>
              <a:latin typeface="Calibri"/>
              <a:ea typeface="Calibri"/>
              <a:cs typeface="Calibri"/>
              <a:sym typeface="Calibri"/>
            </a:endParaRPr>
          </a:p>
        </p:txBody>
      </p:sp>
      <p:sp>
        <p:nvSpPr>
          <p:cNvPr id="233" name="Google Shape;233;p5"/>
          <p:cNvSpPr/>
          <p:nvPr/>
        </p:nvSpPr>
        <p:spPr>
          <a:xfrm>
            <a:off x="4443984" y="1188720"/>
            <a:ext cx="246900" cy="3310200"/>
          </a:xfrm>
          <a:prstGeom prst="rect">
            <a:avLst/>
          </a:prstGeom>
          <a:solidFill>
            <a:srgbClr val="0D1117"/>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5"/>
          <p:cNvSpPr/>
          <p:nvPr/>
        </p:nvSpPr>
        <p:spPr>
          <a:xfrm>
            <a:off x="297157" y="2857456"/>
            <a:ext cx="8549700" cy="164700"/>
          </a:xfrm>
          <a:prstGeom prst="rect">
            <a:avLst/>
          </a:prstGeom>
          <a:solidFill>
            <a:srgbClr val="0D1117"/>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239"/>
        <p:cNvGrpSpPr/>
        <p:nvPr/>
      </p:nvGrpSpPr>
      <p:grpSpPr>
        <a:xfrm>
          <a:off x="0" y="0"/>
          <a:ext cx="0" cy="0"/>
          <a:chOff x="0" y="0"/>
          <a:chExt cx="0" cy="0"/>
        </a:xfrm>
      </p:grpSpPr>
      <p:sp>
        <p:nvSpPr>
          <p:cNvPr id="240" name="Google Shape;240;p6"/>
          <p:cNvSpPr/>
          <p:nvPr/>
        </p:nvSpPr>
        <p:spPr>
          <a:xfrm>
            <a:off x="0" y="0"/>
            <a:ext cx="9144000" cy="73152"/>
          </a:xfrm>
          <a:prstGeom prst="rect">
            <a:avLst/>
          </a:prstGeom>
          <a:solidFill>
            <a:srgbClr val="14B8A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6"/>
          <p:cNvSpPr/>
          <p:nvPr/>
        </p:nvSpPr>
        <p:spPr>
          <a:xfrm>
            <a:off x="457200" y="201168"/>
            <a:ext cx="8229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2800"/>
              <a:buFont typeface="Trebuchet MS"/>
              <a:buNone/>
            </a:pPr>
            <a:r>
              <a:rPr lang="en-US" sz="2800" b="1" i="0" u="none" strike="noStrike" cap="none">
                <a:solidFill>
                  <a:srgbClr val="F8FAFC"/>
                </a:solidFill>
                <a:latin typeface="Trebuchet MS"/>
                <a:ea typeface="Trebuchet MS"/>
                <a:cs typeface="Trebuchet MS"/>
                <a:sym typeface="Trebuchet MS"/>
              </a:rPr>
              <a:t>Digital Marketing Strategy 						</a:t>
            </a:r>
            <a:r>
              <a:rPr lang="en-US" sz="1200" b="1">
                <a:solidFill>
                  <a:srgbClr val="B7B7B7"/>
                </a:solidFill>
                <a:latin typeface="Trebuchet MS"/>
                <a:ea typeface="Trebuchet MS"/>
                <a:cs typeface="Trebuchet MS"/>
                <a:sym typeface="Trebuchet MS"/>
              </a:rPr>
              <a:t>Vishwajith Banala</a:t>
            </a:r>
            <a:endParaRPr sz="2800" b="1">
              <a:solidFill>
                <a:srgbClr val="F8FAFC"/>
              </a:solidFill>
              <a:latin typeface="Trebuchet MS"/>
              <a:ea typeface="Trebuchet MS"/>
              <a:cs typeface="Trebuchet MS"/>
              <a:sym typeface="Trebuchet MS"/>
            </a:endParaRPr>
          </a:p>
        </p:txBody>
      </p:sp>
      <p:sp>
        <p:nvSpPr>
          <p:cNvPr id="242" name="Google Shape;242;p6"/>
          <p:cNvSpPr/>
          <p:nvPr/>
        </p:nvSpPr>
        <p:spPr>
          <a:xfrm>
            <a:off x="457200" y="749808"/>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200"/>
              <a:buFont typeface="Calibri"/>
              <a:buNone/>
            </a:pPr>
            <a:r>
              <a:rPr lang="en-US" sz="1200" b="0" i="1" u="none" strike="noStrike" cap="none">
                <a:solidFill>
                  <a:srgbClr val="14B8A6"/>
                </a:solidFill>
                <a:latin typeface="Calibri"/>
                <a:ea typeface="Calibri"/>
                <a:cs typeface="Calibri"/>
                <a:sym typeface="Calibri"/>
              </a:rPr>
              <a:t>Multi-Channel Campaign Approach</a:t>
            </a:r>
            <a:endParaRPr sz="1200" b="0" i="0" u="none" strike="noStrike" cap="none">
              <a:solidFill>
                <a:schemeClr val="dk1"/>
              </a:solidFill>
              <a:latin typeface="Calibri"/>
              <a:ea typeface="Calibri"/>
              <a:cs typeface="Calibri"/>
              <a:sym typeface="Calibri"/>
            </a:endParaRPr>
          </a:p>
        </p:txBody>
      </p:sp>
      <p:sp>
        <p:nvSpPr>
          <p:cNvPr id="243" name="Google Shape;243;p6"/>
          <p:cNvSpPr/>
          <p:nvPr/>
        </p:nvSpPr>
        <p:spPr>
          <a:xfrm>
            <a:off x="0" y="4956048"/>
            <a:ext cx="9144000" cy="182880"/>
          </a:xfrm>
          <a:prstGeom prst="rect">
            <a:avLst/>
          </a:prstGeom>
          <a:solidFill>
            <a:srgbClr val="0A0F1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6"/>
          <p:cNvSpPr/>
          <p:nvPr/>
        </p:nvSpPr>
        <p:spPr>
          <a:xfrm>
            <a:off x="457200" y="4974336"/>
            <a:ext cx="6400800" cy="1463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700"/>
              <a:buFont typeface="Calibri"/>
              <a:buNone/>
            </a:pPr>
            <a:r>
              <a:rPr lang="en-US" sz="700" b="0" i="0" u="none" strike="noStrike" cap="none">
                <a:solidFill>
                  <a:srgbClr val="475569"/>
                </a:solidFill>
                <a:latin typeface="Calibri"/>
                <a:ea typeface="Calibri"/>
                <a:cs typeface="Calibri"/>
                <a:sym typeface="Calibri"/>
              </a:rPr>
              <a:t>WATER TIMER  |  Owala Innovation Concept</a:t>
            </a:r>
            <a:endParaRPr sz="700" b="0" i="0" u="none" strike="noStrike" cap="none">
              <a:solidFill>
                <a:schemeClr val="dk1"/>
              </a:solidFill>
              <a:latin typeface="Calibri"/>
              <a:ea typeface="Calibri"/>
              <a:cs typeface="Calibri"/>
              <a:sym typeface="Calibri"/>
            </a:endParaRPr>
          </a:p>
        </p:txBody>
      </p:sp>
      <p:sp>
        <p:nvSpPr>
          <p:cNvPr id="245" name="Google Shape;245;p6"/>
          <p:cNvSpPr/>
          <p:nvPr/>
        </p:nvSpPr>
        <p:spPr>
          <a:xfrm>
            <a:off x="8503920" y="4974336"/>
            <a:ext cx="457200" cy="14630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9488"/>
              </a:buClr>
              <a:buSzPts val="700"/>
              <a:buFont typeface="Calibri"/>
              <a:buNone/>
            </a:pPr>
            <a:r>
              <a:rPr lang="en-US" sz="700" b="0" i="0" u="none" strike="noStrike" cap="none">
                <a:solidFill>
                  <a:srgbClr val="0D9488"/>
                </a:solidFill>
                <a:latin typeface="Calibri"/>
                <a:ea typeface="Calibri"/>
                <a:cs typeface="Calibri"/>
                <a:sym typeface="Calibri"/>
              </a:rPr>
              <a:t>6</a:t>
            </a:r>
            <a:endParaRPr sz="700" b="0" i="0" u="none" strike="noStrike" cap="none">
              <a:solidFill>
                <a:schemeClr val="dk1"/>
              </a:solidFill>
              <a:latin typeface="Calibri"/>
              <a:ea typeface="Calibri"/>
              <a:cs typeface="Calibri"/>
              <a:sym typeface="Calibri"/>
            </a:endParaRPr>
          </a:p>
        </p:txBody>
      </p:sp>
      <p:sp>
        <p:nvSpPr>
          <p:cNvPr id="246" name="Google Shape;246;p6"/>
          <p:cNvSpPr/>
          <p:nvPr/>
        </p:nvSpPr>
        <p:spPr>
          <a:xfrm>
            <a:off x="137160" y="182880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6"/>
          <p:cNvSpPr/>
          <p:nvPr/>
        </p:nvSpPr>
        <p:spPr>
          <a:xfrm>
            <a:off x="411480" y="182880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6"/>
          <p:cNvSpPr/>
          <p:nvPr/>
        </p:nvSpPr>
        <p:spPr>
          <a:xfrm>
            <a:off x="685800" y="182880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6"/>
          <p:cNvSpPr/>
          <p:nvPr/>
        </p:nvSpPr>
        <p:spPr>
          <a:xfrm>
            <a:off x="960120" y="182880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6"/>
          <p:cNvSpPr/>
          <p:nvPr/>
        </p:nvSpPr>
        <p:spPr>
          <a:xfrm>
            <a:off x="137160" y="210312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6"/>
          <p:cNvSpPr/>
          <p:nvPr/>
        </p:nvSpPr>
        <p:spPr>
          <a:xfrm>
            <a:off x="411480" y="210312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6"/>
          <p:cNvSpPr/>
          <p:nvPr/>
        </p:nvSpPr>
        <p:spPr>
          <a:xfrm>
            <a:off x="685800" y="210312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6"/>
          <p:cNvSpPr/>
          <p:nvPr/>
        </p:nvSpPr>
        <p:spPr>
          <a:xfrm>
            <a:off x="960120" y="210312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6"/>
          <p:cNvSpPr/>
          <p:nvPr/>
        </p:nvSpPr>
        <p:spPr>
          <a:xfrm>
            <a:off x="137160" y="237744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6"/>
          <p:cNvSpPr/>
          <p:nvPr/>
        </p:nvSpPr>
        <p:spPr>
          <a:xfrm>
            <a:off x="411480" y="237744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6"/>
          <p:cNvSpPr/>
          <p:nvPr/>
        </p:nvSpPr>
        <p:spPr>
          <a:xfrm>
            <a:off x="685800" y="237744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6"/>
          <p:cNvSpPr/>
          <p:nvPr/>
        </p:nvSpPr>
        <p:spPr>
          <a:xfrm>
            <a:off x="960120" y="237744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6"/>
          <p:cNvSpPr/>
          <p:nvPr/>
        </p:nvSpPr>
        <p:spPr>
          <a:xfrm>
            <a:off x="137160" y="265176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6"/>
          <p:cNvSpPr/>
          <p:nvPr/>
        </p:nvSpPr>
        <p:spPr>
          <a:xfrm>
            <a:off x="411480" y="265176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6"/>
          <p:cNvSpPr/>
          <p:nvPr/>
        </p:nvSpPr>
        <p:spPr>
          <a:xfrm>
            <a:off x="685800" y="265176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6"/>
          <p:cNvSpPr/>
          <p:nvPr/>
        </p:nvSpPr>
        <p:spPr>
          <a:xfrm>
            <a:off x="960120" y="265176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6"/>
          <p:cNvSpPr/>
          <p:nvPr/>
        </p:nvSpPr>
        <p:spPr>
          <a:xfrm>
            <a:off x="137160" y="292608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6"/>
          <p:cNvSpPr/>
          <p:nvPr/>
        </p:nvSpPr>
        <p:spPr>
          <a:xfrm>
            <a:off x="411480" y="292608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6"/>
          <p:cNvSpPr/>
          <p:nvPr/>
        </p:nvSpPr>
        <p:spPr>
          <a:xfrm>
            <a:off x="685800" y="292608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6"/>
          <p:cNvSpPr/>
          <p:nvPr/>
        </p:nvSpPr>
        <p:spPr>
          <a:xfrm>
            <a:off x="960120" y="292608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6"/>
          <p:cNvSpPr/>
          <p:nvPr/>
        </p:nvSpPr>
        <p:spPr>
          <a:xfrm>
            <a:off x="137160" y="320040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6"/>
          <p:cNvSpPr/>
          <p:nvPr/>
        </p:nvSpPr>
        <p:spPr>
          <a:xfrm>
            <a:off x="411480" y="320040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6"/>
          <p:cNvSpPr/>
          <p:nvPr/>
        </p:nvSpPr>
        <p:spPr>
          <a:xfrm>
            <a:off x="685800" y="320040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6"/>
          <p:cNvSpPr/>
          <p:nvPr/>
        </p:nvSpPr>
        <p:spPr>
          <a:xfrm>
            <a:off x="960120" y="320040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6"/>
          <p:cNvSpPr/>
          <p:nvPr/>
        </p:nvSpPr>
        <p:spPr>
          <a:xfrm>
            <a:off x="137160" y="347472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6"/>
          <p:cNvSpPr/>
          <p:nvPr/>
        </p:nvSpPr>
        <p:spPr>
          <a:xfrm>
            <a:off x="411480" y="347472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6"/>
          <p:cNvSpPr/>
          <p:nvPr/>
        </p:nvSpPr>
        <p:spPr>
          <a:xfrm>
            <a:off x="685800" y="347472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p:nvPr/>
        </p:nvSpPr>
        <p:spPr>
          <a:xfrm>
            <a:off x="960120" y="347472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6"/>
          <p:cNvSpPr/>
          <p:nvPr/>
        </p:nvSpPr>
        <p:spPr>
          <a:xfrm>
            <a:off x="137160" y="374904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6"/>
          <p:cNvSpPr/>
          <p:nvPr/>
        </p:nvSpPr>
        <p:spPr>
          <a:xfrm>
            <a:off x="411480" y="374904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6"/>
          <p:cNvSpPr/>
          <p:nvPr/>
        </p:nvSpPr>
        <p:spPr>
          <a:xfrm>
            <a:off x="685800" y="374904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6"/>
          <p:cNvSpPr/>
          <p:nvPr/>
        </p:nvSpPr>
        <p:spPr>
          <a:xfrm>
            <a:off x="960120" y="3749040"/>
            <a:ext cx="54864" cy="54864"/>
          </a:xfrm>
          <a:prstGeom prst="ellipse">
            <a:avLst/>
          </a:prstGeom>
          <a:solidFill>
            <a:srgbClr val="0D9488">
              <a:alpha val="7058"/>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6"/>
          <p:cNvSpPr/>
          <p:nvPr/>
        </p:nvSpPr>
        <p:spPr>
          <a:xfrm>
            <a:off x="274320" y="1207008"/>
            <a:ext cx="4114800" cy="1691640"/>
          </a:xfrm>
          <a:prstGeom prst="rect">
            <a:avLst/>
          </a:prstGeom>
          <a:solidFill>
            <a:srgbClr val="161B22"/>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6"/>
          <p:cNvSpPr/>
          <p:nvPr/>
        </p:nvSpPr>
        <p:spPr>
          <a:xfrm>
            <a:off x="274320" y="1207008"/>
            <a:ext cx="4114800" cy="347472"/>
          </a:xfrm>
          <a:prstGeom prst="rect">
            <a:avLst/>
          </a:prstGeom>
          <a:solidFill>
            <a:srgbClr val="0D9488">
              <a:alpha val="25098"/>
            </a:srgbClr>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0" name="Google Shape;280;p6" descr="preencoded.png"/>
          <p:cNvPicPr preferRelativeResize="0"/>
          <p:nvPr/>
        </p:nvPicPr>
        <p:blipFill rotWithShape="1">
          <a:blip r:embed="rId3">
            <a:alphaModFix/>
          </a:blip>
          <a:srcRect/>
          <a:stretch/>
        </p:blipFill>
        <p:spPr>
          <a:xfrm>
            <a:off x="411480" y="1271016"/>
            <a:ext cx="228600" cy="228600"/>
          </a:xfrm>
          <a:prstGeom prst="rect">
            <a:avLst/>
          </a:prstGeom>
          <a:noFill/>
          <a:ln>
            <a:noFill/>
          </a:ln>
        </p:spPr>
      </p:pic>
      <p:sp>
        <p:nvSpPr>
          <p:cNvPr id="281" name="Google Shape;281;p6"/>
          <p:cNvSpPr/>
          <p:nvPr/>
        </p:nvSpPr>
        <p:spPr>
          <a:xfrm>
            <a:off x="731520" y="1271016"/>
            <a:ext cx="3474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300"/>
              <a:buFont typeface="Trebuchet MS"/>
              <a:buNone/>
            </a:pPr>
            <a:r>
              <a:rPr lang="en-US" sz="1300" b="1" i="0" u="none" strike="noStrike" cap="none">
                <a:solidFill>
                  <a:srgbClr val="0D9488"/>
                </a:solidFill>
                <a:latin typeface="Trebuchet MS"/>
                <a:ea typeface="Trebuchet MS"/>
                <a:cs typeface="Trebuchet MS"/>
                <a:sym typeface="Trebuchet MS"/>
              </a:rPr>
              <a:t>Social Media</a:t>
            </a:r>
            <a:endParaRPr sz="1300" b="0" i="0" u="none" strike="noStrike" cap="none">
              <a:solidFill>
                <a:schemeClr val="dk1"/>
              </a:solidFill>
              <a:latin typeface="Calibri"/>
              <a:ea typeface="Calibri"/>
              <a:cs typeface="Calibri"/>
              <a:sym typeface="Calibri"/>
            </a:endParaRPr>
          </a:p>
        </p:txBody>
      </p:sp>
      <p:sp>
        <p:nvSpPr>
          <p:cNvPr id="282" name="Google Shape;282;p6"/>
          <p:cNvSpPr/>
          <p:nvPr/>
        </p:nvSpPr>
        <p:spPr>
          <a:xfrm>
            <a:off x="457200" y="1618488"/>
            <a:ext cx="3749040" cy="1188720"/>
          </a:xfrm>
          <a:prstGeom prst="rect">
            <a:avLst/>
          </a:prstGeom>
          <a:noFill/>
          <a:ln>
            <a:noFill/>
          </a:ln>
        </p:spPr>
        <p:txBody>
          <a:bodyPr spcFirstLastPara="1" wrap="square" lIns="0" tIns="0" rIns="0" bIns="0" anchor="ctr" anchorCtr="0">
            <a:noAutofit/>
          </a:bodyPr>
          <a:lstStyle/>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Tiktok and Instagram reels targeting a younger audience</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Partner with other fitness creators to show real use</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Short content to show the functionality of the product</a:t>
            </a:r>
            <a:endParaRPr sz="950">
              <a:solidFill>
                <a:srgbClr val="94A3B8"/>
              </a:solidFill>
              <a:latin typeface="Calibri"/>
              <a:ea typeface="Calibri"/>
              <a:cs typeface="Calibri"/>
              <a:sym typeface="Calibri"/>
            </a:endParaRPr>
          </a:p>
        </p:txBody>
      </p:sp>
      <p:sp>
        <p:nvSpPr>
          <p:cNvPr id="283" name="Google Shape;283;p6"/>
          <p:cNvSpPr/>
          <p:nvPr/>
        </p:nvSpPr>
        <p:spPr>
          <a:xfrm>
            <a:off x="4663440" y="1207008"/>
            <a:ext cx="4114800" cy="1691640"/>
          </a:xfrm>
          <a:prstGeom prst="rect">
            <a:avLst/>
          </a:prstGeom>
          <a:solidFill>
            <a:srgbClr val="161B22"/>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6"/>
          <p:cNvSpPr/>
          <p:nvPr/>
        </p:nvSpPr>
        <p:spPr>
          <a:xfrm>
            <a:off x="4663440" y="1207008"/>
            <a:ext cx="4114800" cy="347472"/>
          </a:xfrm>
          <a:prstGeom prst="rect">
            <a:avLst/>
          </a:prstGeom>
          <a:solidFill>
            <a:srgbClr val="38BDF8">
              <a:alpha val="25098"/>
            </a:srgbClr>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5" name="Google Shape;285;p6" descr="preencoded.png"/>
          <p:cNvPicPr preferRelativeResize="0"/>
          <p:nvPr/>
        </p:nvPicPr>
        <p:blipFill rotWithShape="1">
          <a:blip r:embed="rId4">
            <a:alphaModFix/>
          </a:blip>
          <a:srcRect/>
          <a:stretch/>
        </p:blipFill>
        <p:spPr>
          <a:xfrm>
            <a:off x="4800600" y="1271016"/>
            <a:ext cx="228600" cy="228600"/>
          </a:xfrm>
          <a:prstGeom prst="rect">
            <a:avLst/>
          </a:prstGeom>
          <a:noFill/>
          <a:ln>
            <a:noFill/>
          </a:ln>
        </p:spPr>
      </p:pic>
      <p:sp>
        <p:nvSpPr>
          <p:cNvPr id="286" name="Google Shape;286;p6"/>
          <p:cNvSpPr/>
          <p:nvPr/>
        </p:nvSpPr>
        <p:spPr>
          <a:xfrm>
            <a:off x="5120640" y="1271016"/>
            <a:ext cx="3474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8BDF8"/>
              </a:buClr>
              <a:buSzPts val="1300"/>
              <a:buFont typeface="Trebuchet MS"/>
              <a:buNone/>
            </a:pPr>
            <a:r>
              <a:rPr lang="en-US" sz="1300" b="1" i="0" u="none" strike="noStrike" cap="none">
                <a:solidFill>
                  <a:srgbClr val="38BDF8"/>
                </a:solidFill>
                <a:latin typeface="Trebuchet MS"/>
                <a:ea typeface="Trebuchet MS"/>
                <a:cs typeface="Trebuchet MS"/>
                <a:sym typeface="Trebuchet MS"/>
              </a:rPr>
              <a:t>Content Marketing</a:t>
            </a:r>
            <a:endParaRPr sz="1300" b="0" i="0" u="none" strike="noStrike" cap="none">
              <a:solidFill>
                <a:schemeClr val="dk1"/>
              </a:solidFill>
              <a:latin typeface="Calibri"/>
              <a:ea typeface="Calibri"/>
              <a:cs typeface="Calibri"/>
              <a:sym typeface="Calibri"/>
            </a:endParaRPr>
          </a:p>
        </p:txBody>
      </p:sp>
      <p:sp>
        <p:nvSpPr>
          <p:cNvPr id="287" name="Google Shape;287;p6"/>
          <p:cNvSpPr/>
          <p:nvPr/>
        </p:nvSpPr>
        <p:spPr>
          <a:xfrm>
            <a:off x="4846320" y="1618488"/>
            <a:ext cx="3749040" cy="1188720"/>
          </a:xfrm>
          <a:prstGeom prst="rect">
            <a:avLst/>
          </a:prstGeom>
          <a:noFill/>
          <a:ln>
            <a:noFill/>
          </a:ln>
        </p:spPr>
        <p:txBody>
          <a:bodyPr spcFirstLastPara="1" wrap="square" lIns="0" tIns="0" rIns="0" bIns="0" anchor="ctr" anchorCtr="0">
            <a:noAutofit/>
          </a:bodyPr>
          <a:lstStyle/>
          <a:p>
            <a:pPr marL="342900" marR="0" lvl="0" indent="-342900" algn="l" rtl="0">
              <a:spcBef>
                <a:spcPts val="0"/>
              </a:spcBef>
              <a:spcAft>
                <a:spcPts val="0"/>
              </a:spcAft>
              <a:buClr>
                <a:srgbClr val="94A3B8"/>
              </a:buClr>
              <a:buSzPts val="950"/>
              <a:buFont typeface="Calibri"/>
              <a:buChar char="•"/>
            </a:pPr>
            <a:r>
              <a:rPr lang="en-US" sz="950" b="0" i="0" u="none" strike="noStrike" cap="none">
                <a:solidFill>
                  <a:srgbClr val="94A3B8"/>
                </a:solidFill>
                <a:latin typeface="Calibri"/>
                <a:ea typeface="Calibri"/>
                <a:cs typeface="Calibri"/>
                <a:sym typeface="Calibri"/>
              </a:rPr>
              <a:t>B</a:t>
            </a:r>
            <a:r>
              <a:rPr lang="en-US" sz="950">
                <a:solidFill>
                  <a:srgbClr val="94A3B8"/>
                </a:solidFill>
                <a:latin typeface="Calibri"/>
                <a:ea typeface="Calibri"/>
                <a:cs typeface="Calibri"/>
                <a:sym typeface="Calibri"/>
              </a:rPr>
              <a:t>log posts (Ex: How hydration improves focus, energy, and gym performance)</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Youtube/Tiktok demos showing how the product is used</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Before v After hydration habit demonstrations</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Infographics on hydration benefits</a:t>
            </a:r>
            <a:endParaRPr sz="950">
              <a:solidFill>
                <a:srgbClr val="94A3B8"/>
              </a:solidFill>
              <a:latin typeface="Calibri"/>
              <a:ea typeface="Calibri"/>
              <a:cs typeface="Calibri"/>
              <a:sym typeface="Calibri"/>
            </a:endParaRPr>
          </a:p>
        </p:txBody>
      </p:sp>
      <p:sp>
        <p:nvSpPr>
          <p:cNvPr id="288" name="Google Shape;288;p6"/>
          <p:cNvSpPr/>
          <p:nvPr/>
        </p:nvSpPr>
        <p:spPr>
          <a:xfrm>
            <a:off x="274320" y="3081528"/>
            <a:ext cx="4114800" cy="1691640"/>
          </a:xfrm>
          <a:prstGeom prst="rect">
            <a:avLst/>
          </a:prstGeom>
          <a:solidFill>
            <a:srgbClr val="161B22"/>
          </a:solidFill>
          <a:ln w="12700" cap="flat" cmpd="sng">
            <a:solidFill>
              <a:srgbClr val="5EEA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6"/>
          <p:cNvSpPr/>
          <p:nvPr/>
        </p:nvSpPr>
        <p:spPr>
          <a:xfrm>
            <a:off x="274320" y="3081528"/>
            <a:ext cx="4114800" cy="347472"/>
          </a:xfrm>
          <a:prstGeom prst="rect">
            <a:avLst/>
          </a:prstGeom>
          <a:solidFill>
            <a:srgbClr val="5EEAD4">
              <a:alpha val="25098"/>
            </a:srgbClr>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0" name="Google Shape;290;p6" descr="preencoded.png"/>
          <p:cNvPicPr preferRelativeResize="0"/>
          <p:nvPr/>
        </p:nvPicPr>
        <p:blipFill rotWithShape="1">
          <a:blip r:embed="rId5">
            <a:alphaModFix/>
          </a:blip>
          <a:srcRect/>
          <a:stretch/>
        </p:blipFill>
        <p:spPr>
          <a:xfrm>
            <a:off x="411480" y="3145536"/>
            <a:ext cx="228600" cy="228600"/>
          </a:xfrm>
          <a:prstGeom prst="rect">
            <a:avLst/>
          </a:prstGeom>
          <a:noFill/>
          <a:ln>
            <a:noFill/>
          </a:ln>
        </p:spPr>
      </p:pic>
      <p:sp>
        <p:nvSpPr>
          <p:cNvPr id="291" name="Google Shape;291;p6"/>
          <p:cNvSpPr/>
          <p:nvPr/>
        </p:nvSpPr>
        <p:spPr>
          <a:xfrm>
            <a:off x="731520" y="3145536"/>
            <a:ext cx="3474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EEAD4"/>
              </a:buClr>
              <a:buSzPts val="1300"/>
              <a:buFont typeface="Trebuchet MS"/>
              <a:buNone/>
            </a:pPr>
            <a:r>
              <a:rPr lang="en-US" sz="1300" b="1" i="0" u="none" strike="noStrike" cap="none">
                <a:solidFill>
                  <a:srgbClr val="5EEAD4"/>
                </a:solidFill>
                <a:latin typeface="Trebuchet MS"/>
                <a:ea typeface="Trebuchet MS"/>
                <a:cs typeface="Trebuchet MS"/>
                <a:sym typeface="Trebuchet MS"/>
              </a:rPr>
              <a:t>Email Marketing</a:t>
            </a:r>
            <a:endParaRPr sz="1300" b="0" i="0" u="none" strike="noStrike" cap="none">
              <a:solidFill>
                <a:schemeClr val="dk1"/>
              </a:solidFill>
              <a:latin typeface="Calibri"/>
              <a:ea typeface="Calibri"/>
              <a:cs typeface="Calibri"/>
              <a:sym typeface="Calibri"/>
            </a:endParaRPr>
          </a:p>
        </p:txBody>
      </p:sp>
      <p:sp>
        <p:nvSpPr>
          <p:cNvPr id="292" name="Google Shape;292;p6"/>
          <p:cNvSpPr/>
          <p:nvPr/>
        </p:nvSpPr>
        <p:spPr>
          <a:xfrm>
            <a:off x="457200" y="3493008"/>
            <a:ext cx="3749040" cy="1188720"/>
          </a:xfrm>
          <a:prstGeom prst="rect">
            <a:avLst/>
          </a:prstGeom>
          <a:noFill/>
          <a:ln>
            <a:noFill/>
          </a:ln>
        </p:spPr>
        <p:txBody>
          <a:bodyPr spcFirstLastPara="1" wrap="square" lIns="0" tIns="0" rIns="0" bIns="0" anchor="ctr" anchorCtr="0">
            <a:noAutofit/>
          </a:bodyPr>
          <a:lstStyle/>
          <a:p>
            <a:pPr marL="342900" marR="0" lvl="0" indent="-342900" algn="l" rtl="0">
              <a:spcBef>
                <a:spcPts val="0"/>
              </a:spcBef>
              <a:spcAft>
                <a:spcPts val="0"/>
              </a:spcAft>
              <a:buClr>
                <a:srgbClr val="94A3B8"/>
              </a:buClr>
              <a:buSzPts val="950"/>
              <a:buFont typeface="Calibri"/>
              <a:buChar char="•"/>
            </a:pPr>
            <a:r>
              <a:rPr lang="en-US" sz="950" b="0" i="0" u="none" strike="noStrike" cap="none">
                <a:solidFill>
                  <a:srgbClr val="94A3B8"/>
                </a:solidFill>
                <a:latin typeface="Calibri"/>
                <a:ea typeface="Calibri"/>
                <a:cs typeface="Calibri"/>
                <a:sym typeface="Calibri"/>
              </a:rPr>
              <a:t>Welcome</a:t>
            </a:r>
            <a:r>
              <a:rPr lang="en-US" sz="950">
                <a:solidFill>
                  <a:srgbClr val="94A3B8"/>
                </a:solidFill>
                <a:latin typeface="Calibri"/>
                <a:ea typeface="Calibri"/>
                <a:cs typeface="Calibri"/>
                <a:sym typeface="Calibri"/>
              </a:rPr>
              <a:t> email: How to set up your hydration goals</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Weekly hydration, fitness, or productivity tips</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Reminder emails for inactive users</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Discount emails for students</a:t>
            </a:r>
            <a:endParaRPr sz="950">
              <a:solidFill>
                <a:srgbClr val="94A3B8"/>
              </a:solidFill>
              <a:latin typeface="Calibri"/>
              <a:ea typeface="Calibri"/>
              <a:cs typeface="Calibri"/>
              <a:sym typeface="Calibri"/>
            </a:endParaRPr>
          </a:p>
        </p:txBody>
      </p:sp>
      <p:sp>
        <p:nvSpPr>
          <p:cNvPr id="293" name="Google Shape;293;p6"/>
          <p:cNvSpPr/>
          <p:nvPr/>
        </p:nvSpPr>
        <p:spPr>
          <a:xfrm>
            <a:off x="4663440" y="3081528"/>
            <a:ext cx="4114800" cy="1691640"/>
          </a:xfrm>
          <a:prstGeom prst="rect">
            <a:avLst/>
          </a:prstGeom>
          <a:solidFill>
            <a:srgbClr val="161B22"/>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6"/>
          <p:cNvSpPr/>
          <p:nvPr/>
        </p:nvSpPr>
        <p:spPr>
          <a:xfrm>
            <a:off x="4663440" y="3081528"/>
            <a:ext cx="4114800" cy="347472"/>
          </a:xfrm>
          <a:prstGeom prst="rect">
            <a:avLst/>
          </a:prstGeom>
          <a:solidFill>
            <a:srgbClr val="F59E0B">
              <a:alpha val="25098"/>
            </a:srgbClr>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5" name="Google Shape;295;p6" descr="preencoded.png"/>
          <p:cNvPicPr preferRelativeResize="0"/>
          <p:nvPr/>
        </p:nvPicPr>
        <p:blipFill rotWithShape="1">
          <a:blip r:embed="rId6">
            <a:alphaModFix/>
          </a:blip>
          <a:srcRect/>
          <a:stretch/>
        </p:blipFill>
        <p:spPr>
          <a:xfrm>
            <a:off x="4800600" y="3145536"/>
            <a:ext cx="228600" cy="228600"/>
          </a:xfrm>
          <a:prstGeom prst="rect">
            <a:avLst/>
          </a:prstGeom>
          <a:noFill/>
          <a:ln>
            <a:noFill/>
          </a:ln>
        </p:spPr>
      </p:pic>
      <p:sp>
        <p:nvSpPr>
          <p:cNvPr id="296" name="Google Shape;296;p6"/>
          <p:cNvSpPr/>
          <p:nvPr/>
        </p:nvSpPr>
        <p:spPr>
          <a:xfrm>
            <a:off x="5120640" y="3145536"/>
            <a:ext cx="3474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9E0B"/>
              </a:buClr>
              <a:buSzPts val="1300"/>
              <a:buFont typeface="Trebuchet MS"/>
              <a:buNone/>
            </a:pPr>
            <a:r>
              <a:rPr lang="en-US" sz="1300" b="1" i="0" u="none" strike="noStrike" cap="none">
                <a:solidFill>
                  <a:srgbClr val="F59E0B"/>
                </a:solidFill>
                <a:latin typeface="Trebuchet MS"/>
                <a:ea typeface="Trebuchet MS"/>
                <a:cs typeface="Trebuchet MS"/>
                <a:sym typeface="Trebuchet MS"/>
              </a:rPr>
              <a:t>SEO &amp; Discovery</a:t>
            </a:r>
            <a:endParaRPr sz="1300" b="0" i="0" u="none" strike="noStrike" cap="none">
              <a:solidFill>
                <a:schemeClr val="dk1"/>
              </a:solidFill>
              <a:latin typeface="Calibri"/>
              <a:ea typeface="Calibri"/>
              <a:cs typeface="Calibri"/>
              <a:sym typeface="Calibri"/>
            </a:endParaRPr>
          </a:p>
        </p:txBody>
      </p:sp>
      <p:sp>
        <p:nvSpPr>
          <p:cNvPr id="297" name="Google Shape;297;p6"/>
          <p:cNvSpPr/>
          <p:nvPr/>
        </p:nvSpPr>
        <p:spPr>
          <a:xfrm>
            <a:off x="4846320" y="3493008"/>
            <a:ext cx="3749040" cy="1188720"/>
          </a:xfrm>
          <a:prstGeom prst="rect">
            <a:avLst/>
          </a:prstGeom>
          <a:noFill/>
          <a:ln>
            <a:noFill/>
          </a:ln>
        </p:spPr>
        <p:txBody>
          <a:bodyPr spcFirstLastPara="1" wrap="square" lIns="0" tIns="0" rIns="0" bIns="0" anchor="ctr" anchorCtr="0">
            <a:noAutofit/>
          </a:bodyPr>
          <a:lstStyle/>
          <a:p>
            <a:pPr marL="342900" marR="0" lvl="0" indent="-342900" algn="l" rtl="0">
              <a:spcBef>
                <a:spcPts val="0"/>
              </a:spcBef>
              <a:spcAft>
                <a:spcPts val="0"/>
              </a:spcAft>
              <a:buClr>
                <a:srgbClr val="94A3B8"/>
              </a:buClr>
              <a:buSzPts val="950"/>
              <a:buFont typeface="Calibri"/>
              <a:buChar char="•"/>
            </a:pPr>
            <a:r>
              <a:rPr lang="en-US" sz="950" b="0" i="0" u="none" strike="noStrike" cap="none">
                <a:solidFill>
                  <a:srgbClr val="94A3B8"/>
                </a:solidFill>
                <a:latin typeface="Calibri"/>
                <a:ea typeface="Calibri"/>
                <a:cs typeface="Calibri"/>
                <a:sym typeface="Calibri"/>
              </a:rPr>
              <a:t>Target</a:t>
            </a:r>
            <a:r>
              <a:rPr lang="en-US" sz="950">
                <a:solidFill>
                  <a:srgbClr val="94A3B8"/>
                </a:solidFill>
                <a:latin typeface="Calibri"/>
                <a:ea typeface="Calibri"/>
                <a:cs typeface="Calibri"/>
                <a:sym typeface="Calibri"/>
              </a:rPr>
              <a:t> keywords (“smart water bottle”, “hydration tracker”, “how to drink more water”)</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Use Tiktok hashtags for discovery</a:t>
            </a:r>
            <a:endParaRPr sz="95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Reddit and fitness forums for discussion</a:t>
            </a:r>
            <a:endParaRPr sz="950">
              <a:solidFill>
                <a:srgbClr val="94A3B8"/>
              </a:solidFill>
              <a:latin typeface="Calibri"/>
              <a:ea typeface="Calibri"/>
              <a:cs typeface="Calibri"/>
              <a:sym typeface="Calibri"/>
            </a:endParaRPr>
          </a:p>
        </p:txBody>
      </p:sp>
      <p:sp>
        <p:nvSpPr>
          <p:cNvPr id="298" name="Google Shape;298;p6"/>
          <p:cNvSpPr/>
          <p:nvPr/>
        </p:nvSpPr>
        <p:spPr>
          <a:xfrm>
            <a:off x="4361688" y="1207008"/>
            <a:ext cx="320040" cy="3657600"/>
          </a:xfrm>
          <a:prstGeom prst="rect">
            <a:avLst/>
          </a:prstGeom>
          <a:solidFill>
            <a:srgbClr val="0D1117"/>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303"/>
        <p:cNvGrpSpPr/>
        <p:nvPr/>
      </p:nvGrpSpPr>
      <p:grpSpPr>
        <a:xfrm>
          <a:off x="0" y="0"/>
          <a:ext cx="0" cy="0"/>
          <a:chOff x="0" y="0"/>
          <a:chExt cx="0" cy="0"/>
        </a:xfrm>
      </p:grpSpPr>
      <p:sp>
        <p:nvSpPr>
          <p:cNvPr id="304" name="Google Shape;304;p7"/>
          <p:cNvSpPr/>
          <p:nvPr/>
        </p:nvSpPr>
        <p:spPr>
          <a:xfrm>
            <a:off x="0" y="0"/>
            <a:ext cx="9144000" cy="73152"/>
          </a:xfrm>
          <a:prstGeom prst="rect">
            <a:avLst/>
          </a:prstGeom>
          <a:solidFill>
            <a:srgbClr val="14B8A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7"/>
          <p:cNvSpPr/>
          <p:nvPr/>
        </p:nvSpPr>
        <p:spPr>
          <a:xfrm>
            <a:off x="457200" y="201168"/>
            <a:ext cx="8229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2800"/>
              <a:buFont typeface="Trebuchet MS"/>
              <a:buNone/>
            </a:pPr>
            <a:r>
              <a:rPr lang="en-US" sz="2800" b="1" i="0" u="none" strike="noStrike" cap="none">
                <a:solidFill>
                  <a:srgbClr val="F8FAFC"/>
                </a:solidFill>
                <a:latin typeface="Trebuchet MS"/>
                <a:ea typeface="Trebuchet MS"/>
                <a:cs typeface="Trebuchet MS"/>
                <a:sym typeface="Trebuchet MS"/>
              </a:rPr>
              <a:t>Implementation Plan                            </a:t>
            </a:r>
            <a:r>
              <a:rPr lang="en-US" sz="2800" b="1" i="0" u="none" strike="noStrike" cap="none">
                <a:solidFill>
                  <a:srgbClr val="B7B7B7"/>
                </a:solidFill>
                <a:latin typeface="Trebuchet MS"/>
                <a:ea typeface="Trebuchet MS"/>
                <a:cs typeface="Trebuchet MS"/>
                <a:sym typeface="Trebuchet MS"/>
              </a:rPr>
              <a:t> </a:t>
            </a:r>
            <a:r>
              <a:rPr lang="en-US" sz="1200" b="1" i="0" u="none" strike="noStrike" cap="none">
                <a:solidFill>
                  <a:srgbClr val="B7B7B7"/>
                </a:solidFill>
                <a:latin typeface="Trebuchet MS"/>
                <a:ea typeface="Trebuchet MS"/>
                <a:cs typeface="Trebuchet MS"/>
                <a:sym typeface="Trebuchet MS"/>
              </a:rPr>
              <a:t>Victoria Kokoszka</a:t>
            </a:r>
            <a:endParaRPr sz="1200" b="0" i="0" u="none" strike="noStrike" cap="none">
              <a:solidFill>
                <a:srgbClr val="B7B7B7"/>
              </a:solidFill>
              <a:latin typeface="Calibri"/>
              <a:ea typeface="Calibri"/>
              <a:cs typeface="Calibri"/>
              <a:sym typeface="Calibri"/>
            </a:endParaRPr>
          </a:p>
        </p:txBody>
      </p:sp>
      <p:sp>
        <p:nvSpPr>
          <p:cNvPr id="306" name="Google Shape;306;p7"/>
          <p:cNvSpPr/>
          <p:nvPr/>
        </p:nvSpPr>
        <p:spPr>
          <a:xfrm>
            <a:off x="457200" y="749808"/>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200"/>
              <a:buFont typeface="Calibri"/>
              <a:buNone/>
            </a:pPr>
            <a:r>
              <a:rPr lang="en-US" sz="1200" i="1">
                <a:solidFill>
                  <a:srgbClr val="14B8A6"/>
                </a:solidFill>
                <a:latin typeface="Calibri"/>
                <a:ea typeface="Calibri"/>
                <a:cs typeface="Calibri"/>
                <a:sym typeface="Calibri"/>
              </a:rPr>
              <a:t>Key Milestones &amp; Responsible Parties</a:t>
            </a:r>
            <a:endParaRPr sz="1200" b="0" i="0" u="none" strike="noStrike" cap="none">
              <a:solidFill>
                <a:schemeClr val="dk1"/>
              </a:solidFill>
              <a:latin typeface="Calibri"/>
              <a:ea typeface="Calibri"/>
              <a:cs typeface="Calibri"/>
              <a:sym typeface="Calibri"/>
            </a:endParaRPr>
          </a:p>
        </p:txBody>
      </p:sp>
      <p:sp>
        <p:nvSpPr>
          <p:cNvPr id="307" name="Google Shape;307;p7"/>
          <p:cNvSpPr/>
          <p:nvPr/>
        </p:nvSpPr>
        <p:spPr>
          <a:xfrm>
            <a:off x="0" y="4956048"/>
            <a:ext cx="9144000" cy="182880"/>
          </a:xfrm>
          <a:prstGeom prst="rect">
            <a:avLst/>
          </a:prstGeom>
          <a:solidFill>
            <a:srgbClr val="0A0F1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7"/>
          <p:cNvSpPr/>
          <p:nvPr/>
        </p:nvSpPr>
        <p:spPr>
          <a:xfrm>
            <a:off x="457200" y="4974336"/>
            <a:ext cx="6400800" cy="1463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700"/>
              <a:buFont typeface="Calibri"/>
              <a:buNone/>
            </a:pPr>
            <a:r>
              <a:rPr lang="en-US" sz="700" b="0" i="0" u="none" strike="noStrike" cap="none">
                <a:solidFill>
                  <a:srgbClr val="475569"/>
                </a:solidFill>
                <a:latin typeface="Calibri"/>
                <a:ea typeface="Calibri"/>
                <a:cs typeface="Calibri"/>
                <a:sym typeface="Calibri"/>
              </a:rPr>
              <a:t>WATER TIMER  |  Owala Innovation Concept</a:t>
            </a:r>
            <a:endParaRPr sz="700" b="0" i="0" u="none" strike="noStrike" cap="none">
              <a:solidFill>
                <a:schemeClr val="dk1"/>
              </a:solidFill>
              <a:latin typeface="Calibri"/>
              <a:ea typeface="Calibri"/>
              <a:cs typeface="Calibri"/>
              <a:sym typeface="Calibri"/>
            </a:endParaRPr>
          </a:p>
        </p:txBody>
      </p:sp>
      <p:sp>
        <p:nvSpPr>
          <p:cNvPr id="309" name="Google Shape;309;p7"/>
          <p:cNvSpPr/>
          <p:nvPr/>
        </p:nvSpPr>
        <p:spPr>
          <a:xfrm>
            <a:off x="8503920" y="4974336"/>
            <a:ext cx="457200" cy="14630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9488"/>
              </a:buClr>
              <a:buSzPts val="700"/>
              <a:buFont typeface="Calibri"/>
              <a:buNone/>
            </a:pPr>
            <a:r>
              <a:rPr lang="en-US" sz="700" b="0" i="0" u="none" strike="noStrike" cap="none">
                <a:solidFill>
                  <a:srgbClr val="0D9488"/>
                </a:solidFill>
                <a:latin typeface="Calibri"/>
                <a:ea typeface="Calibri"/>
                <a:cs typeface="Calibri"/>
                <a:sym typeface="Calibri"/>
              </a:rPr>
              <a:t>7</a:t>
            </a:r>
            <a:endParaRPr sz="700" b="0" i="0" u="none" strike="noStrike" cap="none">
              <a:solidFill>
                <a:schemeClr val="dk1"/>
              </a:solidFill>
              <a:latin typeface="Calibri"/>
              <a:ea typeface="Calibri"/>
              <a:cs typeface="Calibri"/>
              <a:sym typeface="Calibri"/>
            </a:endParaRPr>
          </a:p>
        </p:txBody>
      </p:sp>
      <p:sp>
        <p:nvSpPr>
          <p:cNvPr id="310" name="Google Shape;310;p7"/>
          <p:cNvSpPr/>
          <p:nvPr/>
        </p:nvSpPr>
        <p:spPr>
          <a:xfrm>
            <a:off x="457200" y="1207008"/>
            <a:ext cx="8229600" cy="73152"/>
          </a:xfrm>
          <a:prstGeom prst="rect">
            <a:avLst/>
          </a:prstGeom>
          <a:solidFill>
            <a:srgbClr val="21262D"/>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7"/>
          <p:cNvSpPr/>
          <p:nvPr/>
        </p:nvSpPr>
        <p:spPr>
          <a:xfrm>
            <a:off x="1051560" y="1124712"/>
            <a:ext cx="237744" cy="237744"/>
          </a:xfrm>
          <a:prstGeom prst="ellipse">
            <a:avLst/>
          </a:prstGeom>
          <a:solidFill>
            <a:srgbClr val="0D9488"/>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7"/>
          <p:cNvSpPr/>
          <p:nvPr/>
        </p:nvSpPr>
        <p:spPr>
          <a:xfrm>
            <a:off x="365760" y="1417320"/>
            <a:ext cx="1920240" cy="22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900"/>
              <a:buFont typeface="Calibri"/>
              <a:buNone/>
            </a:pPr>
            <a:r>
              <a:rPr lang="en-US" sz="900" b="1" i="0" u="none" strike="noStrike" cap="none">
                <a:solidFill>
                  <a:srgbClr val="0D9488"/>
                </a:solidFill>
                <a:latin typeface="Calibri"/>
                <a:ea typeface="Calibri"/>
                <a:cs typeface="Calibri"/>
                <a:sym typeface="Calibri"/>
              </a:rPr>
              <a:t>Months 1–3</a:t>
            </a:r>
            <a:endParaRPr sz="900" b="0" i="0" u="none" strike="noStrike" cap="none">
              <a:solidFill>
                <a:schemeClr val="dk1"/>
              </a:solidFill>
              <a:latin typeface="Calibri"/>
              <a:ea typeface="Calibri"/>
              <a:cs typeface="Calibri"/>
              <a:sym typeface="Calibri"/>
            </a:endParaRPr>
          </a:p>
        </p:txBody>
      </p:sp>
      <p:sp>
        <p:nvSpPr>
          <p:cNvPr id="313" name="Google Shape;313;p7"/>
          <p:cNvSpPr/>
          <p:nvPr/>
        </p:nvSpPr>
        <p:spPr>
          <a:xfrm>
            <a:off x="365760" y="1719072"/>
            <a:ext cx="1965960" cy="2651760"/>
          </a:xfrm>
          <a:prstGeom prst="rect">
            <a:avLst/>
          </a:prstGeom>
          <a:solidFill>
            <a:srgbClr val="161B22"/>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7"/>
          <p:cNvSpPr/>
          <p:nvPr/>
        </p:nvSpPr>
        <p:spPr>
          <a:xfrm>
            <a:off x="365760" y="1719072"/>
            <a:ext cx="1965960" cy="384048"/>
          </a:xfrm>
          <a:prstGeom prst="rect">
            <a:avLst/>
          </a:prstGeom>
          <a:solidFill>
            <a:srgbClr val="0D9488">
              <a:alpha val="30196"/>
            </a:srgbClr>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7"/>
          <p:cNvSpPr/>
          <p:nvPr/>
        </p:nvSpPr>
        <p:spPr>
          <a:xfrm>
            <a:off x="457200" y="1737360"/>
            <a:ext cx="914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000"/>
              <a:buFont typeface="Trebuchet MS"/>
              <a:buNone/>
            </a:pPr>
            <a:r>
              <a:rPr lang="en-US" sz="1000" b="1" i="0" u="none" strike="noStrike" cap="none">
                <a:solidFill>
                  <a:srgbClr val="0D9488"/>
                </a:solidFill>
                <a:latin typeface="Trebuchet MS"/>
                <a:ea typeface="Trebuchet MS"/>
                <a:cs typeface="Trebuchet MS"/>
                <a:sym typeface="Trebuchet MS"/>
              </a:rPr>
              <a:t>Phase 1</a:t>
            </a:r>
            <a:endParaRPr sz="1000" b="0" i="0" u="none" strike="noStrike" cap="none">
              <a:solidFill>
                <a:schemeClr val="dk1"/>
              </a:solidFill>
              <a:latin typeface="Calibri"/>
              <a:ea typeface="Calibri"/>
              <a:cs typeface="Calibri"/>
              <a:sym typeface="Calibri"/>
            </a:endParaRPr>
          </a:p>
        </p:txBody>
      </p:sp>
      <p:sp>
        <p:nvSpPr>
          <p:cNvPr id="316" name="Google Shape;316;p7"/>
          <p:cNvSpPr/>
          <p:nvPr/>
        </p:nvSpPr>
        <p:spPr>
          <a:xfrm>
            <a:off x="434342" y="2055264"/>
            <a:ext cx="17832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AE6FD"/>
              </a:buClr>
              <a:buSzPts val="1050"/>
              <a:buFont typeface="Trebuchet MS"/>
              <a:buNone/>
            </a:pPr>
            <a:r>
              <a:rPr lang="en-US" sz="1050" b="1" i="0" u="none" strike="noStrike" cap="none">
                <a:solidFill>
                  <a:srgbClr val="BAE6FD"/>
                </a:solidFill>
                <a:latin typeface="Trebuchet MS"/>
                <a:ea typeface="Trebuchet MS"/>
                <a:cs typeface="Trebuchet MS"/>
                <a:sym typeface="Trebuchet MS"/>
              </a:rPr>
              <a:t>Research &amp; Development</a:t>
            </a:r>
            <a:endParaRPr sz="1050" b="0" i="0" u="none" strike="noStrike" cap="none">
              <a:solidFill>
                <a:schemeClr val="dk1"/>
              </a:solidFill>
              <a:latin typeface="Calibri"/>
              <a:ea typeface="Calibri"/>
              <a:cs typeface="Calibri"/>
              <a:sym typeface="Calibri"/>
            </a:endParaRPr>
          </a:p>
        </p:txBody>
      </p:sp>
      <p:sp>
        <p:nvSpPr>
          <p:cNvPr id="317" name="Google Shape;317;p7"/>
          <p:cNvSpPr/>
          <p:nvPr/>
        </p:nvSpPr>
        <p:spPr>
          <a:xfrm>
            <a:off x="411475" y="2501652"/>
            <a:ext cx="1874400" cy="1719000"/>
          </a:xfrm>
          <a:prstGeom prst="rect">
            <a:avLst/>
          </a:prstGeom>
          <a:noFill/>
          <a:ln>
            <a:noFill/>
          </a:ln>
        </p:spPr>
        <p:txBody>
          <a:bodyPr spcFirstLastPara="1" wrap="square" lIns="0" tIns="0" rIns="0" bIns="0" anchor="ctr" anchorCtr="0">
            <a:noAutofit/>
          </a:bodyPr>
          <a:lstStyle/>
          <a:p>
            <a:pPr marL="342900" marR="0" lvl="0" indent="-342900" algn="l" rtl="0">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Study products that have similar features (FitBit, LARQ) and other water bottle brands and their new features (HydroFlask, Stanley)</a:t>
            </a:r>
            <a:endParaRPr sz="90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Consult with developers to find the logistics of the product and create blueprints</a:t>
            </a:r>
            <a:endParaRPr sz="90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Conduct studies among current Owala customers by offering discounts as incentives</a:t>
            </a:r>
            <a:endParaRPr sz="90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Research the water bottle market for the profitability of creating this product. </a:t>
            </a:r>
            <a:endParaRPr sz="900">
              <a:solidFill>
                <a:srgbClr val="94A3B8"/>
              </a:solidFill>
              <a:latin typeface="Calibri"/>
              <a:ea typeface="Calibri"/>
              <a:cs typeface="Calibri"/>
              <a:sym typeface="Calibri"/>
            </a:endParaRPr>
          </a:p>
        </p:txBody>
      </p:sp>
      <p:sp>
        <p:nvSpPr>
          <p:cNvPr id="318" name="Google Shape;318;p7"/>
          <p:cNvSpPr/>
          <p:nvPr/>
        </p:nvSpPr>
        <p:spPr>
          <a:xfrm>
            <a:off x="3200400" y="1124712"/>
            <a:ext cx="237744" cy="237744"/>
          </a:xfrm>
          <a:prstGeom prst="ellipse">
            <a:avLst/>
          </a:prstGeom>
          <a:solidFill>
            <a:srgbClr val="38BDF8"/>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7"/>
          <p:cNvSpPr/>
          <p:nvPr/>
        </p:nvSpPr>
        <p:spPr>
          <a:xfrm>
            <a:off x="2514600" y="1417320"/>
            <a:ext cx="1920240" cy="22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8BDF8"/>
              </a:buClr>
              <a:buSzPts val="900"/>
              <a:buFont typeface="Calibri"/>
              <a:buNone/>
            </a:pPr>
            <a:r>
              <a:rPr lang="en-US" sz="900" b="1" i="0" u="none" strike="noStrike" cap="none">
                <a:solidFill>
                  <a:srgbClr val="38BDF8"/>
                </a:solidFill>
                <a:latin typeface="Calibri"/>
                <a:ea typeface="Calibri"/>
                <a:cs typeface="Calibri"/>
                <a:sym typeface="Calibri"/>
              </a:rPr>
              <a:t>Months 4–6</a:t>
            </a:r>
            <a:endParaRPr sz="900" b="0" i="0" u="none" strike="noStrike" cap="none">
              <a:solidFill>
                <a:schemeClr val="dk1"/>
              </a:solidFill>
              <a:latin typeface="Calibri"/>
              <a:ea typeface="Calibri"/>
              <a:cs typeface="Calibri"/>
              <a:sym typeface="Calibri"/>
            </a:endParaRPr>
          </a:p>
        </p:txBody>
      </p:sp>
      <p:sp>
        <p:nvSpPr>
          <p:cNvPr id="320" name="Google Shape;320;p7"/>
          <p:cNvSpPr/>
          <p:nvPr/>
        </p:nvSpPr>
        <p:spPr>
          <a:xfrm>
            <a:off x="2514600" y="1719072"/>
            <a:ext cx="1965960" cy="2651760"/>
          </a:xfrm>
          <a:prstGeom prst="rect">
            <a:avLst/>
          </a:prstGeom>
          <a:solidFill>
            <a:srgbClr val="161B22"/>
          </a:solidFill>
          <a:ln w="12700" cap="flat" cmpd="sng">
            <a:solidFill>
              <a:srgbClr val="38BD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7"/>
          <p:cNvSpPr/>
          <p:nvPr/>
        </p:nvSpPr>
        <p:spPr>
          <a:xfrm>
            <a:off x="2514600" y="1719072"/>
            <a:ext cx="1965960" cy="384048"/>
          </a:xfrm>
          <a:prstGeom prst="rect">
            <a:avLst/>
          </a:prstGeom>
          <a:solidFill>
            <a:srgbClr val="38BDF8">
              <a:alpha val="30196"/>
            </a:srgbClr>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7"/>
          <p:cNvSpPr/>
          <p:nvPr/>
        </p:nvSpPr>
        <p:spPr>
          <a:xfrm>
            <a:off x="2606040" y="1737360"/>
            <a:ext cx="914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8BDF8"/>
              </a:buClr>
              <a:buSzPts val="1000"/>
              <a:buFont typeface="Trebuchet MS"/>
              <a:buNone/>
            </a:pPr>
            <a:r>
              <a:rPr lang="en-US" sz="1000" b="1" i="0" u="none" strike="noStrike" cap="none">
                <a:solidFill>
                  <a:srgbClr val="38BDF8"/>
                </a:solidFill>
                <a:latin typeface="Trebuchet MS"/>
                <a:ea typeface="Trebuchet MS"/>
                <a:cs typeface="Trebuchet MS"/>
                <a:sym typeface="Trebuchet MS"/>
              </a:rPr>
              <a:t>Phase 2</a:t>
            </a:r>
            <a:endParaRPr sz="1000" b="0" i="0" u="none" strike="noStrike" cap="none">
              <a:solidFill>
                <a:schemeClr val="dk1"/>
              </a:solidFill>
              <a:latin typeface="Calibri"/>
              <a:ea typeface="Calibri"/>
              <a:cs typeface="Calibri"/>
              <a:sym typeface="Calibri"/>
            </a:endParaRPr>
          </a:p>
        </p:txBody>
      </p:sp>
      <p:sp>
        <p:nvSpPr>
          <p:cNvPr id="323" name="Google Shape;323;p7"/>
          <p:cNvSpPr/>
          <p:nvPr/>
        </p:nvSpPr>
        <p:spPr>
          <a:xfrm>
            <a:off x="2537488" y="2055274"/>
            <a:ext cx="19659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AE6FD"/>
              </a:buClr>
              <a:buSzPts val="1050"/>
              <a:buFont typeface="Trebuchet MS"/>
              <a:buNone/>
            </a:pPr>
            <a:r>
              <a:rPr lang="en-US" sz="1050" b="1" i="0" u="none" strike="noStrike" cap="none">
                <a:solidFill>
                  <a:srgbClr val="BAE6FD"/>
                </a:solidFill>
                <a:latin typeface="Trebuchet MS"/>
                <a:ea typeface="Trebuchet MS"/>
                <a:cs typeface="Trebuchet MS"/>
                <a:sym typeface="Trebuchet MS"/>
              </a:rPr>
              <a:t>Pre-Launch &amp; Marketing Prep</a:t>
            </a:r>
            <a:endParaRPr sz="1050" b="0" i="0" u="none" strike="noStrike" cap="none">
              <a:solidFill>
                <a:schemeClr val="dk1"/>
              </a:solidFill>
              <a:latin typeface="Calibri"/>
              <a:ea typeface="Calibri"/>
              <a:cs typeface="Calibri"/>
              <a:sym typeface="Calibri"/>
            </a:endParaRPr>
          </a:p>
        </p:txBody>
      </p:sp>
      <p:sp>
        <p:nvSpPr>
          <p:cNvPr id="324" name="Google Shape;324;p7"/>
          <p:cNvSpPr/>
          <p:nvPr/>
        </p:nvSpPr>
        <p:spPr>
          <a:xfrm>
            <a:off x="2537407" y="2478057"/>
            <a:ext cx="1783200" cy="1719000"/>
          </a:xfrm>
          <a:prstGeom prst="rect">
            <a:avLst/>
          </a:prstGeom>
          <a:noFill/>
          <a:ln>
            <a:noFill/>
          </a:ln>
        </p:spPr>
        <p:txBody>
          <a:bodyPr spcFirstLastPara="1" wrap="square" lIns="0" tIns="0" rIns="0" bIns="0" anchor="ctr" anchorCtr="0">
            <a:noAutofit/>
          </a:bodyPr>
          <a:lstStyle/>
          <a:p>
            <a:pPr marL="342900" marR="0" lvl="0" indent="-342900" algn="l" rtl="0">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Gain a control group of customers and have them use the new cap for 2 weeks - a month, and review the findings </a:t>
            </a:r>
            <a:endParaRPr sz="90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Research each niche marketing that this cap would fall into and decide (health buffs, new moms, everyday active individuals)</a:t>
            </a:r>
            <a:endParaRPr sz="90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Connect with influencers and other online figures to find an advertising partnership </a:t>
            </a:r>
            <a:endParaRPr sz="900">
              <a:solidFill>
                <a:srgbClr val="94A3B8"/>
              </a:solidFill>
              <a:latin typeface="Calibri"/>
              <a:ea typeface="Calibri"/>
              <a:cs typeface="Calibri"/>
              <a:sym typeface="Calibri"/>
            </a:endParaRPr>
          </a:p>
        </p:txBody>
      </p:sp>
      <p:sp>
        <p:nvSpPr>
          <p:cNvPr id="325" name="Google Shape;325;p7"/>
          <p:cNvSpPr/>
          <p:nvPr/>
        </p:nvSpPr>
        <p:spPr>
          <a:xfrm>
            <a:off x="5349240" y="1124712"/>
            <a:ext cx="237744" cy="237744"/>
          </a:xfrm>
          <a:prstGeom prst="ellipse">
            <a:avLst/>
          </a:prstGeom>
          <a:solidFill>
            <a:srgbClr val="5EEAD4"/>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7"/>
          <p:cNvSpPr/>
          <p:nvPr/>
        </p:nvSpPr>
        <p:spPr>
          <a:xfrm>
            <a:off x="4663440" y="1417320"/>
            <a:ext cx="1920240" cy="22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EEAD4"/>
              </a:buClr>
              <a:buSzPts val="900"/>
              <a:buFont typeface="Calibri"/>
              <a:buNone/>
            </a:pPr>
            <a:r>
              <a:rPr lang="en-US" sz="900" b="1" i="0" u="none" strike="noStrike" cap="none">
                <a:solidFill>
                  <a:srgbClr val="5EEAD4"/>
                </a:solidFill>
                <a:latin typeface="Calibri"/>
                <a:ea typeface="Calibri"/>
                <a:cs typeface="Calibri"/>
                <a:sym typeface="Calibri"/>
              </a:rPr>
              <a:t>Month 7</a:t>
            </a:r>
            <a:endParaRPr sz="900" b="0" i="0" u="none" strike="noStrike" cap="none">
              <a:solidFill>
                <a:schemeClr val="dk1"/>
              </a:solidFill>
              <a:latin typeface="Calibri"/>
              <a:ea typeface="Calibri"/>
              <a:cs typeface="Calibri"/>
              <a:sym typeface="Calibri"/>
            </a:endParaRPr>
          </a:p>
        </p:txBody>
      </p:sp>
      <p:sp>
        <p:nvSpPr>
          <p:cNvPr id="327" name="Google Shape;327;p7"/>
          <p:cNvSpPr/>
          <p:nvPr/>
        </p:nvSpPr>
        <p:spPr>
          <a:xfrm>
            <a:off x="4663440" y="1719072"/>
            <a:ext cx="1965960" cy="2651760"/>
          </a:xfrm>
          <a:prstGeom prst="rect">
            <a:avLst/>
          </a:prstGeom>
          <a:solidFill>
            <a:srgbClr val="161B22"/>
          </a:solidFill>
          <a:ln w="12700" cap="flat" cmpd="sng">
            <a:solidFill>
              <a:srgbClr val="5EEA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7"/>
          <p:cNvSpPr/>
          <p:nvPr/>
        </p:nvSpPr>
        <p:spPr>
          <a:xfrm>
            <a:off x="4663440" y="1719072"/>
            <a:ext cx="1965960" cy="384048"/>
          </a:xfrm>
          <a:prstGeom prst="rect">
            <a:avLst/>
          </a:prstGeom>
          <a:solidFill>
            <a:srgbClr val="5EEAD4">
              <a:alpha val="30196"/>
            </a:srgbClr>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7"/>
          <p:cNvSpPr/>
          <p:nvPr/>
        </p:nvSpPr>
        <p:spPr>
          <a:xfrm>
            <a:off x="4754880" y="1737360"/>
            <a:ext cx="914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EEAD4"/>
              </a:buClr>
              <a:buSzPts val="1000"/>
              <a:buFont typeface="Trebuchet MS"/>
              <a:buNone/>
            </a:pPr>
            <a:r>
              <a:rPr lang="en-US" sz="1000" b="1" i="0" u="none" strike="noStrike" cap="none">
                <a:solidFill>
                  <a:srgbClr val="5EEAD4"/>
                </a:solidFill>
                <a:latin typeface="Trebuchet MS"/>
                <a:ea typeface="Trebuchet MS"/>
                <a:cs typeface="Trebuchet MS"/>
                <a:sym typeface="Trebuchet MS"/>
              </a:rPr>
              <a:t>Phase 3</a:t>
            </a:r>
            <a:endParaRPr sz="1000" b="0" i="0" u="none" strike="noStrike" cap="none">
              <a:solidFill>
                <a:schemeClr val="dk1"/>
              </a:solidFill>
              <a:latin typeface="Calibri"/>
              <a:ea typeface="Calibri"/>
              <a:cs typeface="Calibri"/>
              <a:sym typeface="Calibri"/>
            </a:endParaRPr>
          </a:p>
        </p:txBody>
      </p:sp>
      <p:sp>
        <p:nvSpPr>
          <p:cNvPr id="330" name="Google Shape;330;p7"/>
          <p:cNvSpPr/>
          <p:nvPr/>
        </p:nvSpPr>
        <p:spPr>
          <a:xfrm>
            <a:off x="4709185" y="2071413"/>
            <a:ext cx="17832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AE6FD"/>
              </a:buClr>
              <a:buSzPts val="1050"/>
              <a:buFont typeface="Trebuchet MS"/>
              <a:buNone/>
            </a:pPr>
            <a:r>
              <a:rPr lang="en-US" sz="1050" b="1" i="0" u="none" strike="noStrike" cap="none">
                <a:solidFill>
                  <a:srgbClr val="BAE6FD"/>
                </a:solidFill>
                <a:latin typeface="Trebuchet MS"/>
                <a:ea typeface="Trebuchet MS"/>
                <a:cs typeface="Trebuchet MS"/>
                <a:sym typeface="Trebuchet MS"/>
              </a:rPr>
              <a:t>Official Launch</a:t>
            </a:r>
            <a:endParaRPr sz="1050" b="0" i="0" u="none" strike="noStrike" cap="none">
              <a:solidFill>
                <a:schemeClr val="dk1"/>
              </a:solidFill>
              <a:latin typeface="Calibri"/>
              <a:ea typeface="Calibri"/>
              <a:cs typeface="Calibri"/>
              <a:sym typeface="Calibri"/>
            </a:endParaRPr>
          </a:p>
        </p:txBody>
      </p:sp>
      <p:sp>
        <p:nvSpPr>
          <p:cNvPr id="331" name="Google Shape;331;p7"/>
          <p:cNvSpPr/>
          <p:nvPr/>
        </p:nvSpPr>
        <p:spPr>
          <a:xfrm>
            <a:off x="4709160" y="2542032"/>
            <a:ext cx="1783080" cy="1719072"/>
          </a:xfrm>
          <a:prstGeom prst="rect">
            <a:avLst/>
          </a:prstGeom>
          <a:noFill/>
          <a:ln>
            <a:noFill/>
          </a:ln>
        </p:spPr>
        <p:txBody>
          <a:bodyPr spcFirstLastPara="1" wrap="square" lIns="0" tIns="0" rIns="0" bIns="0" anchor="ctr" anchorCtr="0">
            <a:noAutofit/>
          </a:bodyPr>
          <a:lstStyle/>
          <a:p>
            <a:pPr marL="342900" marR="0" lvl="0" indent="-342900" algn="l" rtl="0">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Promote via all media mentioned previously </a:t>
            </a:r>
            <a:endParaRPr sz="90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Launch on the Owala website + Target/do in store giveaways</a:t>
            </a:r>
            <a:endParaRPr sz="90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Pay for further advertising on search engines, social media, and streaming platforms </a:t>
            </a:r>
            <a:endParaRPr sz="90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Reach out for a potential celebrity sponsorship </a:t>
            </a:r>
            <a:endParaRPr sz="900">
              <a:solidFill>
                <a:srgbClr val="94A3B8"/>
              </a:solidFill>
              <a:latin typeface="Calibri"/>
              <a:ea typeface="Calibri"/>
              <a:cs typeface="Calibri"/>
              <a:sym typeface="Calibri"/>
            </a:endParaRPr>
          </a:p>
        </p:txBody>
      </p:sp>
      <p:sp>
        <p:nvSpPr>
          <p:cNvPr id="332" name="Google Shape;332;p7"/>
          <p:cNvSpPr/>
          <p:nvPr/>
        </p:nvSpPr>
        <p:spPr>
          <a:xfrm>
            <a:off x="7498080" y="1124712"/>
            <a:ext cx="237744" cy="237744"/>
          </a:xfrm>
          <a:prstGeom prst="ellipse">
            <a:avLst/>
          </a:prstGeom>
          <a:solidFill>
            <a:srgbClr val="F59E0B"/>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7"/>
          <p:cNvSpPr/>
          <p:nvPr/>
        </p:nvSpPr>
        <p:spPr>
          <a:xfrm>
            <a:off x="6812280" y="1417320"/>
            <a:ext cx="1920240" cy="22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9E0B"/>
              </a:buClr>
              <a:buSzPts val="900"/>
              <a:buFont typeface="Calibri"/>
              <a:buNone/>
            </a:pPr>
            <a:r>
              <a:rPr lang="en-US" sz="900" b="1" i="0" u="none" strike="noStrike" cap="none">
                <a:solidFill>
                  <a:srgbClr val="F59E0B"/>
                </a:solidFill>
                <a:latin typeface="Calibri"/>
                <a:ea typeface="Calibri"/>
                <a:cs typeface="Calibri"/>
                <a:sym typeface="Calibri"/>
              </a:rPr>
              <a:t>Months 8–12</a:t>
            </a:r>
            <a:endParaRPr sz="900" b="0" i="0" u="none" strike="noStrike" cap="none">
              <a:solidFill>
                <a:schemeClr val="dk1"/>
              </a:solidFill>
              <a:latin typeface="Calibri"/>
              <a:ea typeface="Calibri"/>
              <a:cs typeface="Calibri"/>
              <a:sym typeface="Calibri"/>
            </a:endParaRPr>
          </a:p>
        </p:txBody>
      </p:sp>
      <p:sp>
        <p:nvSpPr>
          <p:cNvPr id="334" name="Google Shape;334;p7"/>
          <p:cNvSpPr/>
          <p:nvPr/>
        </p:nvSpPr>
        <p:spPr>
          <a:xfrm>
            <a:off x="6812280" y="1719072"/>
            <a:ext cx="1965960" cy="2651760"/>
          </a:xfrm>
          <a:prstGeom prst="rect">
            <a:avLst/>
          </a:prstGeom>
          <a:solidFill>
            <a:srgbClr val="161B22"/>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7"/>
          <p:cNvSpPr/>
          <p:nvPr/>
        </p:nvSpPr>
        <p:spPr>
          <a:xfrm>
            <a:off x="6812280" y="1719072"/>
            <a:ext cx="1965960" cy="384048"/>
          </a:xfrm>
          <a:prstGeom prst="rect">
            <a:avLst/>
          </a:prstGeom>
          <a:solidFill>
            <a:srgbClr val="F59E0B">
              <a:alpha val="30196"/>
            </a:srgbClr>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7"/>
          <p:cNvSpPr/>
          <p:nvPr/>
        </p:nvSpPr>
        <p:spPr>
          <a:xfrm>
            <a:off x="6903720" y="1737360"/>
            <a:ext cx="914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9E0B"/>
              </a:buClr>
              <a:buSzPts val="1000"/>
              <a:buFont typeface="Trebuchet MS"/>
              <a:buNone/>
            </a:pPr>
            <a:r>
              <a:rPr lang="en-US" sz="1000" b="1" i="0" u="none" strike="noStrike" cap="none">
                <a:solidFill>
                  <a:srgbClr val="F59E0B"/>
                </a:solidFill>
                <a:latin typeface="Trebuchet MS"/>
                <a:ea typeface="Trebuchet MS"/>
                <a:cs typeface="Trebuchet MS"/>
                <a:sym typeface="Trebuchet MS"/>
              </a:rPr>
              <a:t>Phase 4</a:t>
            </a:r>
            <a:endParaRPr sz="1000" b="0" i="0" u="none" strike="noStrike" cap="none">
              <a:solidFill>
                <a:schemeClr val="dk1"/>
              </a:solidFill>
              <a:latin typeface="Calibri"/>
              <a:ea typeface="Calibri"/>
              <a:cs typeface="Calibri"/>
              <a:sym typeface="Calibri"/>
            </a:endParaRPr>
          </a:p>
        </p:txBody>
      </p:sp>
      <p:sp>
        <p:nvSpPr>
          <p:cNvPr id="337" name="Google Shape;337;p7"/>
          <p:cNvSpPr/>
          <p:nvPr/>
        </p:nvSpPr>
        <p:spPr>
          <a:xfrm>
            <a:off x="6858000" y="2039115"/>
            <a:ext cx="17832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AE6FD"/>
              </a:buClr>
              <a:buSzPts val="1050"/>
              <a:buFont typeface="Trebuchet MS"/>
              <a:buNone/>
            </a:pPr>
            <a:r>
              <a:rPr lang="en-US" sz="1050" b="1" i="0" u="none" strike="noStrike" cap="none">
                <a:solidFill>
                  <a:srgbClr val="BAE6FD"/>
                </a:solidFill>
                <a:latin typeface="Trebuchet MS"/>
                <a:ea typeface="Trebuchet MS"/>
                <a:cs typeface="Trebuchet MS"/>
                <a:sym typeface="Trebuchet MS"/>
              </a:rPr>
              <a:t>Growth &amp; Optimization</a:t>
            </a:r>
            <a:endParaRPr sz="1050" b="0" i="0" u="none" strike="noStrike" cap="none">
              <a:solidFill>
                <a:schemeClr val="dk1"/>
              </a:solidFill>
              <a:latin typeface="Calibri"/>
              <a:ea typeface="Calibri"/>
              <a:cs typeface="Calibri"/>
              <a:sym typeface="Calibri"/>
            </a:endParaRPr>
          </a:p>
        </p:txBody>
      </p:sp>
      <p:sp>
        <p:nvSpPr>
          <p:cNvPr id="338" name="Google Shape;338;p7"/>
          <p:cNvSpPr/>
          <p:nvPr/>
        </p:nvSpPr>
        <p:spPr>
          <a:xfrm>
            <a:off x="6858000" y="2496345"/>
            <a:ext cx="1783200" cy="1719000"/>
          </a:xfrm>
          <a:prstGeom prst="rect">
            <a:avLst/>
          </a:prstGeom>
          <a:noFill/>
          <a:ln>
            <a:noFill/>
          </a:ln>
        </p:spPr>
        <p:txBody>
          <a:bodyPr spcFirstLastPara="1" wrap="square" lIns="0" tIns="0" rIns="0" bIns="0" anchor="ctr" anchorCtr="0">
            <a:noAutofit/>
          </a:bodyPr>
          <a:lstStyle/>
          <a:p>
            <a:pPr marL="342900" marR="0" lvl="0" indent="-342900" algn="l" rtl="0">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Review market data + purchasing data of product and see if either price or product needs to be revised </a:t>
            </a:r>
            <a:endParaRPr sz="90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Understand the top consumer of the product, whether the same or different, and curate further towards them if new, and slightly branch out if the same.</a:t>
            </a:r>
            <a:endParaRPr sz="900">
              <a:solidFill>
                <a:srgbClr val="94A3B8"/>
              </a:solidFill>
              <a:latin typeface="Calibri"/>
              <a:ea typeface="Calibri"/>
              <a:cs typeface="Calibri"/>
              <a:sym typeface="Calibri"/>
            </a:endParaRPr>
          </a:p>
          <a:p>
            <a:pPr marL="342900" marR="0" lvl="0" indent="-342900" algn="l" rtl="0">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Introduce new features of the product/create promo discounts depending on success</a:t>
            </a:r>
            <a:endParaRPr sz="900">
              <a:solidFill>
                <a:srgbClr val="94A3B8"/>
              </a:solidFill>
              <a:latin typeface="Calibri"/>
              <a:ea typeface="Calibri"/>
              <a:cs typeface="Calibri"/>
              <a:sym typeface="Calibri"/>
            </a:endParaRPr>
          </a:p>
        </p:txBody>
      </p:sp>
      <p:sp>
        <p:nvSpPr>
          <p:cNvPr id="339" name="Google Shape;339;p7"/>
          <p:cNvSpPr/>
          <p:nvPr/>
        </p:nvSpPr>
        <p:spPr>
          <a:xfrm>
            <a:off x="274320" y="4572000"/>
            <a:ext cx="8595360" cy="292608"/>
          </a:xfrm>
          <a:prstGeom prst="rect">
            <a:avLst/>
          </a:prstGeom>
          <a:solidFill>
            <a:srgbClr val="21262D"/>
          </a:solidFill>
          <a:ln w="12700" cap="flat" cmpd="sng">
            <a:solidFill>
              <a:srgbClr val="161B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7"/>
          <p:cNvSpPr/>
          <p:nvPr/>
        </p:nvSpPr>
        <p:spPr>
          <a:xfrm>
            <a:off x="411480" y="4608576"/>
            <a:ext cx="82296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00"/>
              <a:buFont typeface="Calibri"/>
              <a:buNone/>
            </a:pPr>
            <a:r>
              <a:rPr lang="en-US" sz="900" b="0" i="0" u="none" strike="noStrike" cap="none">
                <a:solidFill>
                  <a:srgbClr val="94A3B8"/>
                </a:solidFill>
                <a:latin typeface="Calibri"/>
                <a:ea typeface="Calibri"/>
                <a:cs typeface="Calibri"/>
                <a:sym typeface="Calibri"/>
              </a:rPr>
              <a:t>Responsible Parties:  Marketing Team  •  Product Design  •  Sales &amp; Distribution  •  Digital/Social Media  •  Data Anal</a:t>
            </a:r>
            <a:r>
              <a:rPr lang="en-US" sz="900">
                <a:solidFill>
                  <a:srgbClr val="94A3B8"/>
                </a:solidFill>
                <a:latin typeface="Calibri"/>
                <a:ea typeface="Calibri"/>
                <a:cs typeface="Calibri"/>
                <a:sym typeface="Calibri"/>
              </a:rPr>
              <a:t>ysts</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345"/>
        <p:cNvGrpSpPr/>
        <p:nvPr/>
      </p:nvGrpSpPr>
      <p:grpSpPr>
        <a:xfrm>
          <a:off x="0" y="0"/>
          <a:ext cx="0" cy="0"/>
          <a:chOff x="0" y="0"/>
          <a:chExt cx="0" cy="0"/>
        </a:xfrm>
      </p:grpSpPr>
      <p:sp>
        <p:nvSpPr>
          <p:cNvPr id="346" name="Google Shape;346;p8"/>
          <p:cNvSpPr/>
          <p:nvPr/>
        </p:nvSpPr>
        <p:spPr>
          <a:xfrm>
            <a:off x="0" y="0"/>
            <a:ext cx="9144000" cy="73152"/>
          </a:xfrm>
          <a:prstGeom prst="rect">
            <a:avLst/>
          </a:prstGeom>
          <a:solidFill>
            <a:srgbClr val="14B8A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8"/>
          <p:cNvSpPr/>
          <p:nvPr/>
        </p:nvSpPr>
        <p:spPr>
          <a:xfrm>
            <a:off x="457200" y="201168"/>
            <a:ext cx="8229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2800"/>
              <a:buFont typeface="Trebuchet MS"/>
              <a:buNone/>
            </a:pPr>
            <a:r>
              <a:rPr lang="en-US" sz="2800" b="1" i="0" u="none" strike="noStrike" cap="none">
                <a:solidFill>
                  <a:srgbClr val="F8FAFC"/>
                </a:solidFill>
                <a:latin typeface="Trebuchet MS"/>
                <a:ea typeface="Trebuchet MS"/>
                <a:cs typeface="Trebuchet MS"/>
                <a:sym typeface="Trebuchet MS"/>
              </a:rPr>
              <a:t>Budget Overview	</a:t>
            </a:r>
            <a:r>
              <a:rPr lang="en-US" sz="1200" b="1" i="0" u="none" strike="noStrike" cap="none">
                <a:solidFill>
                  <a:srgbClr val="F8FAFC"/>
                </a:solidFill>
                <a:latin typeface="Trebuchet MS"/>
                <a:ea typeface="Trebuchet MS"/>
                <a:cs typeface="Trebuchet MS"/>
                <a:sym typeface="Trebuchet MS"/>
              </a:rPr>
              <a:t>							  </a:t>
            </a:r>
            <a:r>
              <a:rPr lang="en-US" sz="1200" b="1" i="0" u="none" strike="noStrike" cap="none">
                <a:solidFill>
                  <a:srgbClr val="B7B7B7"/>
                </a:solidFill>
                <a:latin typeface="Trebuchet MS"/>
                <a:ea typeface="Trebuchet MS"/>
                <a:cs typeface="Trebuchet MS"/>
                <a:sym typeface="Trebuchet MS"/>
              </a:rPr>
              <a:t>Sahishnav Grende</a:t>
            </a:r>
            <a:r>
              <a:rPr lang="en-US" sz="2800" b="1" i="0" u="none" strike="noStrike" cap="none">
                <a:solidFill>
                  <a:srgbClr val="B7B7B7"/>
                </a:solidFill>
                <a:latin typeface="Trebuchet MS"/>
                <a:ea typeface="Trebuchet MS"/>
                <a:cs typeface="Trebuchet MS"/>
                <a:sym typeface="Trebuchet MS"/>
              </a:rPr>
              <a:t>	</a:t>
            </a:r>
            <a:r>
              <a:rPr lang="en-US" sz="2800" b="1" i="0" u="none" strike="noStrike" cap="none">
                <a:solidFill>
                  <a:srgbClr val="F8FAFC"/>
                </a:solidFill>
                <a:latin typeface="Trebuchet MS"/>
                <a:ea typeface="Trebuchet MS"/>
                <a:cs typeface="Trebuchet MS"/>
                <a:sym typeface="Trebuchet MS"/>
              </a:rPr>
              <a:t>	</a:t>
            </a:r>
            <a:endParaRPr sz="2800" b="0" i="0" u="none" strike="noStrike" cap="none">
              <a:solidFill>
                <a:schemeClr val="dk1"/>
              </a:solidFill>
              <a:latin typeface="Calibri"/>
              <a:ea typeface="Calibri"/>
              <a:cs typeface="Calibri"/>
              <a:sym typeface="Calibri"/>
            </a:endParaRPr>
          </a:p>
        </p:txBody>
      </p:sp>
      <p:sp>
        <p:nvSpPr>
          <p:cNvPr id="348" name="Google Shape;348;p8"/>
          <p:cNvSpPr/>
          <p:nvPr/>
        </p:nvSpPr>
        <p:spPr>
          <a:xfrm>
            <a:off x="457200" y="749808"/>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200"/>
              <a:buFont typeface="Calibri"/>
              <a:buNone/>
            </a:pPr>
            <a:r>
              <a:rPr lang="en-US" sz="1200" b="0" i="1" u="none" strike="noStrike" cap="none">
                <a:solidFill>
                  <a:srgbClr val="14B8A6"/>
                </a:solidFill>
                <a:latin typeface="Calibri"/>
                <a:ea typeface="Calibri"/>
                <a:cs typeface="Calibri"/>
                <a:sym typeface="Calibri"/>
              </a:rPr>
              <a:t>Estimated First-Year Launch Investment</a:t>
            </a:r>
            <a:endParaRPr sz="1200" b="0" i="0" u="none" strike="noStrike" cap="none">
              <a:solidFill>
                <a:schemeClr val="dk1"/>
              </a:solidFill>
              <a:latin typeface="Calibri"/>
              <a:ea typeface="Calibri"/>
              <a:cs typeface="Calibri"/>
              <a:sym typeface="Calibri"/>
            </a:endParaRPr>
          </a:p>
        </p:txBody>
      </p:sp>
      <p:sp>
        <p:nvSpPr>
          <p:cNvPr id="349" name="Google Shape;349;p8"/>
          <p:cNvSpPr/>
          <p:nvPr/>
        </p:nvSpPr>
        <p:spPr>
          <a:xfrm>
            <a:off x="0" y="4956048"/>
            <a:ext cx="9144000" cy="182880"/>
          </a:xfrm>
          <a:prstGeom prst="rect">
            <a:avLst/>
          </a:prstGeom>
          <a:solidFill>
            <a:srgbClr val="0A0F1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8"/>
          <p:cNvSpPr/>
          <p:nvPr/>
        </p:nvSpPr>
        <p:spPr>
          <a:xfrm>
            <a:off x="457200" y="4974336"/>
            <a:ext cx="6400800" cy="1463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700"/>
              <a:buFont typeface="Calibri"/>
              <a:buNone/>
            </a:pPr>
            <a:r>
              <a:rPr lang="en-US" sz="700" b="0" i="0" u="none" strike="noStrike" cap="none">
                <a:solidFill>
                  <a:srgbClr val="475569"/>
                </a:solidFill>
                <a:latin typeface="Calibri"/>
                <a:ea typeface="Calibri"/>
                <a:cs typeface="Calibri"/>
                <a:sym typeface="Calibri"/>
              </a:rPr>
              <a:t>WATER TIMER  |  Owala Innovation Concept</a:t>
            </a:r>
            <a:endParaRPr sz="700" b="0" i="0" u="none" strike="noStrike" cap="none">
              <a:solidFill>
                <a:schemeClr val="dk1"/>
              </a:solidFill>
              <a:latin typeface="Calibri"/>
              <a:ea typeface="Calibri"/>
              <a:cs typeface="Calibri"/>
              <a:sym typeface="Calibri"/>
            </a:endParaRPr>
          </a:p>
        </p:txBody>
      </p:sp>
      <p:sp>
        <p:nvSpPr>
          <p:cNvPr id="351" name="Google Shape;351;p8"/>
          <p:cNvSpPr/>
          <p:nvPr/>
        </p:nvSpPr>
        <p:spPr>
          <a:xfrm>
            <a:off x="8503920" y="4974336"/>
            <a:ext cx="457200" cy="14630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9488"/>
              </a:buClr>
              <a:buSzPts val="700"/>
              <a:buFont typeface="Calibri"/>
              <a:buNone/>
            </a:pPr>
            <a:r>
              <a:rPr lang="en-US" sz="700" b="0" i="0" u="none" strike="noStrike" cap="none">
                <a:solidFill>
                  <a:srgbClr val="0D9488"/>
                </a:solidFill>
                <a:latin typeface="Calibri"/>
                <a:ea typeface="Calibri"/>
                <a:cs typeface="Calibri"/>
                <a:sym typeface="Calibri"/>
              </a:rPr>
              <a:t>8</a:t>
            </a:r>
            <a:endParaRPr sz="700" b="0" i="0" u="none" strike="noStrike" cap="none">
              <a:solidFill>
                <a:schemeClr val="dk1"/>
              </a:solidFill>
              <a:latin typeface="Calibri"/>
              <a:ea typeface="Calibri"/>
              <a:cs typeface="Calibri"/>
              <a:sym typeface="Calibri"/>
            </a:endParaRPr>
          </a:p>
        </p:txBody>
      </p:sp>
      <p:sp>
        <p:nvSpPr>
          <p:cNvPr id="352" name="Google Shape;352;p8"/>
          <p:cNvSpPr/>
          <p:nvPr/>
        </p:nvSpPr>
        <p:spPr>
          <a:xfrm>
            <a:off x="274320" y="1097280"/>
            <a:ext cx="5029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AE6FD"/>
              </a:buClr>
              <a:buSzPts val="1300"/>
              <a:buFont typeface="Trebuchet MS"/>
              <a:buNone/>
            </a:pPr>
            <a:r>
              <a:rPr lang="en-US" sz="1300" b="1" i="0" u="none" strike="noStrike" cap="none">
                <a:solidFill>
                  <a:srgbClr val="BAE6FD"/>
                </a:solidFill>
                <a:latin typeface="Trebuchet MS"/>
                <a:ea typeface="Trebuchet MS"/>
                <a:cs typeface="Trebuchet MS"/>
                <a:sym typeface="Trebuchet MS"/>
              </a:rPr>
              <a:t>Budget Breakdown</a:t>
            </a:r>
            <a:endParaRPr sz="1300" b="0" i="0" u="none" strike="noStrike" cap="none">
              <a:solidFill>
                <a:schemeClr val="dk1"/>
              </a:solidFill>
              <a:latin typeface="Calibri"/>
              <a:ea typeface="Calibri"/>
              <a:cs typeface="Calibri"/>
              <a:sym typeface="Calibri"/>
            </a:endParaRPr>
          </a:p>
        </p:txBody>
      </p:sp>
      <p:sp>
        <p:nvSpPr>
          <p:cNvPr id="353" name="Google Shape;353;p8"/>
          <p:cNvSpPr/>
          <p:nvPr/>
        </p:nvSpPr>
        <p:spPr>
          <a:xfrm>
            <a:off x="274320" y="1554480"/>
            <a:ext cx="2743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b="0" i="0" u="none" strike="noStrike" cap="none">
                <a:solidFill>
                  <a:srgbClr val="94A3B8"/>
                </a:solidFill>
                <a:latin typeface="Calibri"/>
                <a:ea typeface="Calibri"/>
                <a:cs typeface="Calibri"/>
                <a:sym typeface="Calibri"/>
              </a:rPr>
              <a:t>Product Development &amp; R&amp;D</a:t>
            </a:r>
            <a:endParaRPr sz="1000" b="0" i="0" u="none" strike="noStrike" cap="none">
              <a:solidFill>
                <a:schemeClr val="dk1"/>
              </a:solidFill>
              <a:latin typeface="Calibri"/>
              <a:ea typeface="Calibri"/>
              <a:cs typeface="Calibri"/>
              <a:sym typeface="Calibri"/>
            </a:endParaRPr>
          </a:p>
        </p:txBody>
      </p:sp>
      <p:sp>
        <p:nvSpPr>
          <p:cNvPr id="354" name="Google Shape;354;p8"/>
          <p:cNvSpPr/>
          <p:nvPr/>
        </p:nvSpPr>
        <p:spPr>
          <a:xfrm>
            <a:off x="3108960" y="1591056"/>
            <a:ext cx="4114800" cy="201168"/>
          </a:xfrm>
          <a:prstGeom prst="rect">
            <a:avLst/>
          </a:prstGeom>
          <a:solidFill>
            <a:srgbClr val="21262D"/>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8"/>
          <p:cNvSpPr/>
          <p:nvPr/>
        </p:nvSpPr>
        <p:spPr>
          <a:xfrm>
            <a:off x="3108960" y="1591056"/>
            <a:ext cx="4114800" cy="201168"/>
          </a:xfrm>
          <a:prstGeom prst="rect">
            <a:avLst/>
          </a:prstGeom>
          <a:solidFill>
            <a:srgbClr val="0D9488"/>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8"/>
          <p:cNvSpPr/>
          <p:nvPr/>
        </p:nvSpPr>
        <p:spPr>
          <a:xfrm>
            <a:off x="7296912" y="1554480"/>
            <a:ext cx="16459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000"/>
              <a:buFont typeface="Calibri"/>
              <a:buNone/>
            </a:pPr>
            <a:r>
              <a:rPr lang="en-US" sz="1000" b="1" i="0" u="none" strike="noStrike" cap="none">
                <a:solidFill>
                  <a:srgbClr val="0D9488"/>
                </a:solidFill>
                <a:latin typeface="Calibri"/>
                <a:ea typeface="Calibri"/>
                <a:cs typeface="Calibri"/>
                <a:sym typeface="Calibri"/>
              </a:rPr>
              <a:t>$120K  (30%)</a:t>
            </a:r>
            <a:endParaRPr sz="1000" b="0" i="0" u="none" strike="noStrike" cap="none">
              <a:solidFill>
                <a:schemeClr val="dk1"/>
              </a:solidFill>
              <a:latin typeface="Calibri"/>
              <a:ea typeface="Calibri"/>
              <a:cs typeface="Calibri"/>
              <a:sym typeface="Calibri"/>
            </a:endParaRPr>
          </a:p>
        </p:txBody>
      </p:sp>
      <p:sp>
        <p:nvSpPr>
          <p:cNvPr id="357" name="Google Shape;357;p8"/>
          <p:cNvSpPr/>
          <p:nvPr/>
        </p:nvSpPr>
        <p:spPr>
          <a:xfrm>
            <a:off x="274320" y="2011680"/>
            <a:ext cx="2743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b="0" i="0" u="none" strike="noStrike" cap="none">
                <a:solidFill>
                  <a:srgbClr val="94A3B8"/>
                </a:solidFill>
                <a:latin typeface="Calibri"/>
                <a:ea typeface="Calibri"/>
                <a:cs typeface="Calibri"/>
                <a:sym typeface="Calibri"/>
              </a:rPr>
              <a:t>Manufacturing &amp; Tooling</a:t>
            </a:r>
            <a:endParaRPr sz="1000" b="0" i="0" u="none" strike="noStrike" cap="none">
              <a:solidFill>
                <a:schemeClr val="dk1"/>
              </a:solidFill>
              <a:latin typeface="Calibri"/>
              <a:ea typeface="Calibri"/>
              <a:cs typeface="Calibri"/>
              <a:sym typeface="Calibri"/>
            </a:endParaRPr>
          </a:p>
        </p:txBody>
      </p:sp>
      <p:sp>
        <p:nvSpPr>
          <p:cNvPr id="358" name="Google Shape;358;p8"/>
          <p:cNvSpPr/>
          <p:nvPr/>
        </p:nvSpPr>
        <p:spPr>
          <a:xfrm>
            <a:off x="3108960" y="2048256"/>
            <a:ext cx="4114800" cy="201168"/>
          </a:xfrm>
          <a:prstGeom prst="rect">
            <a:avLst/>
          </a:prstGeom>
          <a:solidFill>
            <a:srgbClr val="21262D"/>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8"/>
          <p:cNvSpPr/>
          <p:nvPr/>
        </p:nvSpPr>
        <p:spPr>
          <a:xfrm>
            <a:off x="3108960" y="2048256"/>
            <a:ext cx="2743200" cy="201168"/>
          </a:xfrm>
          <a:prstGeom prst="rect">
            <a:avLst/>
          </a:prstGeom>
          <a:solidFill>
            <a:srgbClr val="38BDF8"/>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8"/>
          <p:cNvSpPr/>
          <p:nvPr/>
        </p:nvSpPr>
        <p:spPr>
          <a:xfrm>
            <a:off x="7296912" y="2011680"/>
            <a:ext cx="16459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8BDF8"/>
              </a:buClr>
              <a:buSzPts val="1000"/>
              <a:buFont typeface="Calibri"/>
              <a:buNone/>
            </a:pPr>
            <a:r>
              <a:rPr lang="en-US" sz="1000" b="1" i="0" u="none" strike="noStrike" cap="none">
                <a:solidFill>
                  <a:srgbClr val="38BDF8"/>
                </a:solidFill>
                <a:latin typeface="Calibri"/>
                <a:ea typeface="Calibri"/>
                <a:cs typeface="Calibri"/>
                <a:sym typeface="Calibri"/>
              </a:rPr>
              <a:t>$80K  (20%)</a:t>
            </a:r>
            <a:endParaRPr sz="1000" b="0" i="0" u="none" strike="noStrike" cap="none">
              <a:solidFill>
                <a:schemeClr val="dk1"/>
              </a:solidFill>
              <a:latin typeface="Calibri"/>
              <a:ea typeface="Calibri"/>
              <a:cs typeface="Calibri"/>
              <a:sym typeface="Calibri"/>
            </a:endParaRPr>
          </a:p>
        </p:txBody>
      </p:sp>
      <p:sp>
        <p:nvSpPr>
          <p:cNvPr id="361" name="Google Shape;361;p8"/>
          <p:cNvSpPr/>
          <p:nvPr/>
        </p:nvSpPr>
        <p:spPr>
          <a:xfrm>
            <a:off x="274320" y="2468880"/>
            <a:ext cx="2743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b="0" i="0" u="none" strike="noStrike" cap="none">
                <a:solidFill>
                  <a:srgbClr val="94A3B8"/>
                </a:solidFill>
                <a:latin typeface="Calibri"/>
                <a:ea typeface="Calibri"/>
                <a:cs typeface="Calibri"/>
                <a:sym typeface="Calibri"/>
              </a:rPr>
              <a:t>Marketing &amp; Advertising</a:t>
            </a:r>
            <a:endParaRPr sz="1000" b="0" i="0" u="none" strike="noStrike" cap="none">
              <a:solidFill>
                <a:schemeClr val="dk1"/>
              </a:solidFill>
              <a:latin typeface="Calibri"/>
              <a:ea typeface="Calibri"/>
              <a:cs typeface="Calibri"/>
              <a:sym typeface="Calibri"/>
            </a:endParaRPr>
          </a:p>
        </p:txBody>
      </p:sp>
      <p:sp>
        <p:nvSpPr>
          <p:cNvPr id="362" name="Google Shape;362;p8"/>
          <p:cNvSpPr/>
          <p:nvPr/>
        </p:nvSpPr>
        <p:spPr>
          <a:xfrm>
            <a:off x="3108960" y="2505456"/>
            <a:ext cx="4114800" cy="201168"/>
          </a:xfrm>
          <a:prstGeom prst="rect">
            <a:avLst/>
          </a:prstGeom>
          <a:solidFill>
            <a:srgbClr val="21262D"/>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8"/>
          <p:cNvSpPr/>
          <p:nvPr/>
        </p:nvSpPr>
        <p:spPr>
          <a:xfrm>
            <a:off x="3108960" y="2505456"/>
            <a:ext cx="2743200" cy="201168"/>
          </a:xfrm>
          <a:prstGeom prst="rect">
            <a:avLst/>
          </a:prstGeom>
          <a:solidFill>
            <a:srgbClr val="5EEAD4"/>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8"/>
          <p:cNvSpPr/>
          <p:nvPr/>
        </p:nvSpPr>
        <p:spPr>
          <a:xfrm>
            <a:off x="7296912" y="2468880"/>
            <a:ext cx="16459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EEAD4"/>
              </a:buClr>
              <a:buSzPts val="1000"/>
              <a:buFont typeface="Calibri"/>
              <a:buNone/>
            </a:pPr>
            <a:r>
              <a:rPr lang="en-US" sz="1000" b="1" i="0" u="none" strike="noStrike" cap="none">
                <a:solidFill>
                  <a:srgbClr val="5EEAD4"/>
                </a:solidFill>
                <a:latin typeface="Calibri"/>
                <a:ea typeface="Calibri"/>
                <a:cs typeface="Calibri"/>
                <a:sym typeface="Calibri"/>
              </a:rPr>
              <a:t>$80K  (20%)</a:t>
            </a:r>
            <a:endParaRPr sz="1000" b="0" i="0" u="none" strike="noStrike" cap="none">
              <a:solidFill>
                <a:schemeClr val="dk1"/>
              </a:solidFill>
              <a:latin typeface="Calibri"/>
              <a:ea typeface="Calibri"/>
              <a:cs typeface="Calibri"/>
              <a:sym typeface="Calibri"/>
            </a:endParaRPr>
          </a:p>
        </p:txBody>
      </p:sp>
      <p:sp>
        <p:nvSpPr>
          <p:cNvPr id="365" name="Google Shape;365;p8"/>
          <p:cNvSpPr/>
          <p:nvPr/>
        </p:nvSpPr>
        <p:spPr>
          <a:xfrm>
            <a:off x="274320" y="2926080"/>
            <a:ext cx="2743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b="0" i="0" u="none" strike="noStrike" cap="none">
                <a:solidFill>
                  <a:srgbClr val="94A3B8"/>
                </a:solidFill>
                <a:latin typeface="Calibri"/>
                <a:ea typeface="Calibri"/>
                <a:cs typeface="Calibri"/>
                <a:sym typeface="Calibri"/>
              </a:rPr>
              <a:t>Influencer &amp; PR Outreach</a:t>
            </a:r>
            <a:endParaRPr sz="1000" b="0" i="0" u="none" strike="noStrike" cap="none">
              <a:solidFill>
                <a:schemeClr val="dk1"/>
              </a:solidFill>
              <a:latin typeface="Calibri"/>
              <a:ea typeface="Calibri"/>
              <a:cs typeface="Calibri"/>
              <a:sym typeface="Calibri"/>
            </a:endParaRPr>
          </a:p>
        </p:txBody>
      </p:sp>
      <p:sp>
        <p:nvSpPr>
          <p:cNvPr id="366" name="Google Shape;366;p8"/>
          <p:cNvSpPr/>
          <p:nvPr/>
        </p:nvSpPr>
        <p:spPr>
          <a:xfrm>
            <a:off x="3108960" y="2962656"/>
            <a:ext cx="4114800" cy="201168"/>
          </a:xfrm>
          <a:prstGeom prst="rect">
            <a:avLst/>
          </a:prstGeom>
          <a:solidFill>
            <a:srgbClr val="21262D"/>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8"/>
          <p:cNvSpPr/>
          <p:nvPr/>
        </p:nvSpPr>
        <p:spPr>
          <a:xfrm>
            <a:off x="3108960" y="2962656"/>
            <a:ext cx="1371600" cy="201168"/>
          </a:xfrm>
          <a:prstGeom prst="rect">
            <a:avLst/>
          </a:prstGeom>
          <a:solidFill>
            <a:srgbClr val="F59E0B"/>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8"/>
          <p:cNvSpPr/>
          <p:nvPr/>
        </p:nvSpPr>
        <p:spPr>
          <a:xfrm>
            <a:off x="7296912" y="2926080"/>
            <a:ext cx="16459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9E0B"/>
              </a:buClr>
              <a:buSzPts val="1000"/>
              <a:buFont typeface="Calibri"/>
              <a:buNone/>
            </a:pPr>
            <a:r>
              <a:rPr lang="en-US" sz="1000" b="1" i="0" u="none" strike="noStrike" cap="none">
                <a:solidFill>
                  <a:srgbClr val="F59E0B"/>
                </a:solidFill>
                <a:latin typeface="Calibri"/>
                <a:ea typeface="Calibri"/>
                <a:cs typeface="Calibri"/>
                <a:sym typeface="Calibri"/>
              </a:rPr>
              <a:t>$40K  (10%)</a:t>
            </a:r>
            <a:endParaRPr sz="1000" b="0" i="0" u="none" strike="noStrike" cap="none">
              <a:solidFill>
                <a:schemeClr val="dk1"/>
              </a:solidFill>
              <a:latin typeface="Calibri"/>
              <a:ea typeface="Calibri"/>
              <a:cs typeface="Calibri"/>
              <a:sym typeface="Calibri"/>
            </a:endParaRPr>
          </a:p>
        </p:txBody>
      </p:sp>
      <p:sp>
        <p:nvSpPr>
          <p:cNvPr id="369" name="Google Shape;369;p8"/>
          <p:cNvSpPr/>
          <p:nvPr/>
        </p:nvSpPr>
        <p:spPr>
          <a:xfrm>
            <a:off x="274320" y="3383280"/>
            <a:ext cx="2743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b="0" i="0" u="none" strike="noStrike" cap="none">
                <a:solidFill>
                  <a:srgbClr val="94A3B8"/>
                </a:solidFill>
                <a:latin typeface="Calibri"/>
                <a:ea typeface="Calibri"/>
                <a:cs typeface="Calibri"/>
                <a:sym typeface="Calibri"/>
              </a:rPr>
              <a:t>Distribution &amp; Retail Setup</a:t>
            </a:r>
            <a:endParaRPr sz="1000" b="0" i="0" u="none" strike="noStrike" cap="none">
              <a:solidFill>
                <a:schemeClr val="dk1"/>
              </a:solidFill>
              <a:latin typeface="Calibri"/>
              <a:ea typeface="Calibri"/>
              <a:cs typeface="Calibri"/>
              <a:sym typeface="Calibri"/>
            </a:endParaRPr>
          </a:p>
        </p:txBody>
      </p:sp>
      <p:sp>
        <p:nvSpPr>
          <p:cNvPr id="370" name="Google Shape;370;p8"/>
          <p:cNvSpPr/>
          <p:nvPr/>
        </p:nvSpPr>
        <p:spPr>
          <a:xfrm>
            <a:off x="3108960" y="3419856"/>
            <a:ext cx="4114800" cy="201168"/>
          </a:xfrm>
          <a:prstGeom prst="rect">
            <a:avLst/>
          </a:prstGeom>
          <a:solidFill>
            <a:srgbClr val="21262D"/>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8"/>
          <p:cNvSpPr/>
          <p:nvPr/>
        </p:nvSpPr>
        <p:spPr>
          <a:xfrm>
            <a:off x="3108960" y="3419856"/>
            <a:ext cx="1371600" cy="201168"/>
          </a:xfrm>
          <a:prstGeom prst="rect">
            <a:avLst/>
          </a:prstGeom>
          <a:solidFill>
            <a:srgbClr val="A78BFA"/>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8"/>
          <p:cNvSpPr/>
          <p:nvPr/>
        </p:nvSpPr>
        <p:spPr>
          <a:xfrm>
            <a:off x="7296912" y="3383280"/>
            <a:ext cx="16459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78BFA"/>
              </a:buClr>
              <a:buSzPts val="1000"/>
              <a:buFont typeface="Calibri"/>
              <a:buNone/>
            </a:pPr>
            <a:r>
              <a:rPr lang="en-US" sz="1000" b="1" i="0" u="none" strike="noStrike" cap="none">
                <a:solidFill>
                  <a:srgbClr val="A78BFA"/>
                </a:solidFill>
                <a:latin typeface="Calibri"/>
                <a:ea typeface="Calibri"/>
                <a:cs typeface="Calibri"/>
                <a:sym typeface="Calibri"/>
              </a:rPr>
              <a:t>$40K  (10%)</a:t>
            </a:r>
            <a:endParaRPr sz="1000" b="0" i="0" u="none" strike="noStrike" cap="none">
              <a:solidFill>
                <a:schemeClr val="dk1"/>
              </a:solidFill>
              <a:latin typeface="Calibri"/>
              <a:ea typeface="Calibri"/>
              <a:cs typeface="Calibri"/>
              <a:sym typeface="Calibri"/>
            </a:endParaRPr>
          </a:p>
        </p:txBody>
      </p:sp>
      <p:sp>
        <p:nvSpPr>
          <p:cNvPr id="373" name="Google Shape;373;p8"/>
          <p:cNvSpPr/>
          <p:nvPr/>
        </p:nvSpPr>
        <p:spPr>
          <a:xfrm>
            <a:off x="274320" y="3840480"/>
            <a:ext cx="2743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b="0" i="0" u="none" strike="noStrike" cap="none">
                <a:solidFill>
                  <a:srgbClr val="94A3B8"/>
                </a:solidFill>
                <a:latin typeface="Calibri"/>
                <a:ea typeface="Calibri"/>
                <a:cs typeface="Calibri"/>
                <a:sym typeface="Calibri"/>
              </a:rPr>
              <a:t>Market Research &amp; Testing</a:t>
            </a:r>
            <a:endParaRPr sz="1000" b="0" i="0" u="none" strike="noStrike" cap="none">
              <a:solidFill>
                <a:schemeClr val="dk1"/>
              </a:solidFill>
              <a:latin typeface="Calibri"/>
              <a:ea typeface="Calibri"/>
              <a:cs typeface="Calibri"/>
              <a:sym typeface="Calibri"/>
            </a:endParaRPr>
          </a:p>
        </p:txBody>
      </p:sp>
      <p:sp>
        <p:nvSpPr>
          <p:cNvPr id="374" name="Google Shape;374;p8"/>
          <p:cNvSpPr/>
          <p:nvPr/>
        </p:nvSpPr>
        <p:spPr>
          <a:xfrm>
            <a:off x="3108960" y="3877056"/>
            <a:ext cx="4114800" cy="201168"/>
          </a:xfrm>
          <a:prstGeom prst="rect">
            <a:avLst/>
          </a:prstGeom>
          <a:solidFill>
            <a:srgbClr val="21262D"/>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8"/>
          <p:cNvSpPr/>
          <p:nvPr/>
        </p:nvSpPr>
        <p:spPr>
          <a:xfrm>
            <a:off x="3108960" y="3877056"/>
            <a:ext cx="685800" cy="201168"/>
          </a:xfrm>
          <a:prstGeom prst="rect">
            <a:avLst/>
          </a:prstGeom>
          <a:solidFill>
            <a:srgbClr val="34D399"/>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8"/>
          <p:cNvSpPr/>
          <p:nvPr/>
        </p:nvSpPr>
        <p:spPr>
          <a:xfrm>
            <a:off x="7296912" y="3840480"/>
            <a:ext cx="16459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4D399"/>
              </a:buClr>
              <a:buSzPts val="1000"/>
              <a:buFont typeface="Calibri"/>
              <a:buNone/>
            </a:pPr>
            <a:r>
              <a:rPr lang="en-US" sz="1000" b="1" i="0" u="none" strike="noStrike" cap="none">
                <a:solidFill>
                  <a:srgbClr val="34D399"/>
                </a:solidFill>
                <a:latin typeface="Calibri"/>
                <a:ea typeface="Calibri"/>
                <a:cs typeface="Calibri"/>
                <a:sym typeface="Calibri"/>
              </a:rPr>
              <a:t>$20K  (5%)</a:t>
            </a:r>
            <a:endParaRPr sz="1000" b="0" i="0" u="none" strike="noStrike" cap="none">
              <a:solidFill>
                <a:schemeClr val="dk1"/>
              </a:solidFill>
              <a:latin typeface="Calibri"/>
              <a:ea typeface="Calibri"/>
              <a:cs typeface="Calibri"/>
              <a:sym typeface="Calibri"/>
            </a:endParaRPr>
          </a:p>
        </p:txBody>
      </p:sp>
      <p:sp>
        <p:nvSpPr>
          <p:cNvPr id="377" name="Google Shape;377;p8"/>
          <p:cNvSpPr/>
          <p:nvPr/>
        </p:nvSpPr>
        <p:spPr>
          <a:xfrm>
            <a:off x="274320" y="4297680"/>
            <a:ext cx="2743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b="0" i="0" u="none" strike="noStrike" cap="none">
                <a:solidFill>
                  <a:srgbClr val="94A3B8"/>
                </a:solidFill>
                <a:latin typeface="Calibri"/>
                <a:ea typeface="Calibri"/>
                <a:cs typeface="Calibri"/>
                <a:sym typeface="Calibri"/>
              </a:rPr>
              <a:t>Contingency / Misc.</a:t>
            </a:r>
            <a:endParaRPr sz="1000" b="0" i="0" u="none" strike="noStrike" cap="none">
              <a:solidFill>
                <a:schemeClr val="dk1"/>
              </a:solidFill>
              <a:latin typeface="Calibri"/>
              <a:ea typeface="Calibri"/>
              <a:cs typeface="Calibri"/>
              <a:sym typeface="Calibri"/>
            </a:endParaRPr>
          </a:p>
        </p:txBody>
      </p:sp>
      <p:sp>
        <p:nvSpPr>
          <p:cNvPr id="378" name="Google Shape;378;p8"/>
          <p:cNvSpPr/>
          <p:nvPr/>
        </p:nvSpPr>
        <p:spPr>
          <a:xfrm>
            <a:off x="3108960" y="4334256"/>
            <a:ext cx="4114800" cy="201168"/>
          </a:xfrm>
          <a:prstGeom prst="rect">
            <a:avLst/>
          </a:prstGeom>
          <a:solidFill>
            <a:srgbClr val="21262D"/>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a:off x="3108960" y="4334256"/>
            <a:ext cx="685800" cy="201168"/>
          </a:xfrm>
          <a:prstGeom prst="rect">
            <a:avLst/>
          </a:prstGeom>
          <a:solidFill>
            <a:srgbClr val="94A3B8"/>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8"/>
          <p:cNvSpPr/>
          <p:nvPr/>
        </p:nvSpPr>
        <p:spPr>
          <a:xfrm>
            <a:off x="7296912" y="4297680"/>
            <a:ext cx="16459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000"/>
              <a:buFont typeface="Calibri"/>
              <a:buNone/>
            </a:pPr>
            <a:r>
              <a:rPr lang="en-US" sz="1000" b="1" i="0" u="none" strike="noStrike" cap="none">
                <a:solidFill>
                  <a:srgbClr val="94A3B8"/>
                </a:solidFill>
                <a:latin typeface="Calibri"/>
                <a:ea typeface="Calibri"/>
                <a:cs typeface="Calibri"/>
                <a:sym typeface="Calibri"/>
              </a:rPr>
              <a:t>$20K  (5%)</a:t>
            </a:r>
            <a:endParaRPr sz="1000" b="0" i="0" u="none" strike="noStrike" cap="none">
              <a:solidFill>
                <a:schemeClr val="dk1"/>
              </a:solidFill>
              <a:latin typeface="Calibri"/>
              <a:ea typeface="Calibri"/>
              <a:cs typeface="Calibri"/>
              <a:sym typeface="Calibri"/>
            </a:endParaRPr>
          </a:p>
        </p:txBody>
      </p:sp>
      <p:sp>
        <p:nvSpPr>
          <p:cNvPr id="381" name="Google Shape;381;p8"/>
          <p:cNvSpPr/>
          <p:nvPr/>
        </p:nvSpPr>
        <p:spPr>
          <a:xfrm>
            <a:off x="274320" y="4681728"/>
            <a:ext cx="8595360" cy="256032"/>
          </a:xfrm>
          <a:prstGeom prst="rect">
            <a:avLst/>
          </a:prstGeom>
          <a:solidFill>
            <a:srgbClr val="161B22"/>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8"/>
          <p:cNvSpPr/>
          <p:nvPr/>
        </p:nvSpPr>
        <p:spPr>
          <a:xfrm>
            <a:off x="457200" y="4700016"/>
            <a:ext cx="82296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AE6FD"/>
              </a:buClr>
              <a:buSzPts val="1100"/>
              <a:buFont typeface="Calibri"/>
              <a:buNone/>
            </a:pPr>
            <a:r>
              <a:rPr lang="en-US" sz="1100" b="1" i="0" u="none" strike="noStrike" cap="none">
                <a:solidFill>
                  <a:srgbClr val="BAE6FD"/>
                </a:solidFill>
                <a:latin typeface="Calibri"/>
                <a:ea typeface="Calibri"/>
                <a:cs typeface="Calibri"/>
                <a:sym typeface="Calibri"/>
              </a:rPr>
              <a:t>TOTAL LAUNCH BUDGET: </a:t>
            </a:r>
            <a:r>
              <a:rPr lang="en-US" sz="1400" b="1" i="0" u="none" strike="noStrike" cap="none">
                <a:solidFill>
                  <a:srgbClr val="14B8A6"/>
                </a:solidFill>
                <a:latin typeface="Calibri"/>
                <a:ea typeface="Calibri"/>
                <a:cs typeface="Calibri"/>
                <a:sym typeface="Calibri"/>
              </a:rPr>
              <a:t>$400,000</a:t>
            </a:r>
            <a:r>
              <a:rPr lang="en-US" sz="1100" b="0" i="0" u="none" strike="noStrike" cap="none">
                <a:solidFill>
                  <a:srgbClr val="94A3B8"/>
                </a:solidFill>
                <a:latin typeface="Calibri"/>
                <a:ea typeface="Calibri"/>
                <a:cs typeface="Calibri"/>
                <a:sym typeface="Calibri"/>
              </a:rPr>
              <a:t>  |  Estimated First-Year ROI Target: </a:t>
            </a:r>
            <a:r>
              <a:rPr lang="en-US" sz="1100" b="1" i="0" u="none" strike="noStrike" cap="none">
                <a:solidFill>
                  <a:srgbClr val="5EEAD4"/>
                </a:solidFill>
                <a:latin typeface="Calibri"/>
                <a:ea typeface="Calibri"/>
                <a:cs typeface="Calibri"/>
                <a:sym typeface="Calibri"/>
              </a:rPr>
              <a:t>2.5x</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387"/>
        <p:cNvGrpSpPr/>
        <p:nvPr/>
      </p:nvGrpSpPr>
      <p:grpSpPr>
        <a:xfrm>
          <a:off x="0" y="0"/>
          <a:ext cx="0" cy="0"/>
          <a:chOff x="0" y="0"/>
          <a:chExt cx="0" cy="0"/>
        </a:xfrm>
      </p:grpSpPr>
      <p:sp>
        <p:nvSpPr>
          <p:cNvPr id="388" name="Google Shape;388;g3d6caa93a2e_1_8"/>
          <p:cNvSpPr/>
          <p:nvPr/>
        </p:nvSpPr>
        <p:spPr>
          <a:xfrm>
            <a:off x="274320" y="109728"/>
            <a:ext cx="8229600" cy="438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3200"/>
              <a:buFont typeface="Calibri"/>
              <a:buNone/>
            </a:pPr>
            <a:r>
              <a:rPr lang="en-US" sz="3200" b="1" i="0" u="none" strike="noStrike" cap="none">
                <a:solidFill>
                  <a:srgbClr val="FFFFFF"/>
                </a:solidFill>
                <a:latin typeface="Calibri"/>
                <a:ea typeface="Calibri"/>
                <a:cs typeface="Calibri"/>
                <a:sym typeface="Calibri"/>
              </a:rPr>
              <a:t>Evaluation &amp; Metrics </a:t>
            </a:r>
            <a:r>
              <a:rPr lang="en-US" sz="3200" b="1">
                <a:solidFill>
                  <a:srgbClr val="FFFFFF"/>
                </a:solidFill>
                <a:latin typeface="Calibri"/>
                <a:ea typeface="Calibri"/>
                <a:cs typeface="Calibri"/>
                <a:sym typeface="Calibri"/>
              </a:rPr>
              <a:t> 							  </a:t>
            </a:r>
            <a:r>
              <a:rPr lang="en-US" sz="1500" b="1">
                <a:solidFill>
                  <a:srgbClr val="B7B7B7"/>
                </a:solidFill>
                <a:latin typeface="Trebuchet MS"/>
                <a:ea typeface="Trebuchet MS"/>
                <a:cs typeface="Trebuchet MS"/>
                <a:sym typeface="Trebuchet MS"/>
              </a:rPr>
              <a:t>Mehul Jain</a:t>
            </a:r>
            <a:endParaRPr sz="3500" b="0" i="0" u="none" strike="noStrike" cap="none">
              <a:solidFill>
                <a:schemeClr val="dk1"/>
              </a:solidFill>
              <a:latin typeface="Calibri"/>
              <a:ea typeface="Calibri"/>
              <a:cs typeface="Calibri"/>
              <a:sym typeface="Calibri"/>
            </a:endParaRPr>
          </a:p>
        </p:txBody>
      </p:sp>
      <p:sp>
        <p:nvSpPr>
          <p:cNvPr id="389" name="Google Shape;389;g3d6caa93a2e_1_8"/>
          <p:cNvSpPr/>
          <p:nvPr/>
        </p:nvSpPr>
        <p:spPr>
          <a:xfrm>
            <a:off x="274320" y="548640"/>
            <a:ext cx="8229600" cy="237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5A0"/>
              </a:buClr>
              <a:buSzPts val="1200"/>
              <a:buFont typeface="Calibri"/>
              <a:buNone/>
            </a:pPr>
            <a:r>
              <a:rPr lang="en-US" sz="1200" b="0" i="1" u="none" strike="noStrike" cap="none">
                <a:solidFill>
                  <a:srgbClr val="00C5A0"/>
                </a:solidFill>
                <a:latin typeface="Calibri"/>
                <a:ea typeface="Calibri"/>
                <a:cs typeface="Calibri"/>
                <a:sym typeface="Calibri"/>
              </a:rPr>
              <a:t>How We Measure Success</a:t>
            </a:r>
            <a:endParaRPr sz="1200" b="0" i="0" u="none" strike="noStrike" cap="none">
              <a:solidFill>
                <a:schemeClr val="dk1"/>
              </a:solidFill>
              <a:latin typeface="Calibri"/>
              <a:ea typeface="Calibri"/>
              <a:cs typeface="Calibri"/>
              <a:sym typeface="Calibri"/>
            </a:endParaRPr>
          </a:p>
        </p:txBody>
      </p:sp>
      <p:sp>
        <p:nvSpPr>
          <p:cNvPr id="390" name="Google Shape;390;g3d6caa93a2e_1_8"/>
          <p:cNvSpPr/>
          <p:nvPr/>
        </p:nvSpPr>
        <p:spPr>
          <a:xfrm>
            <a:off x="228600" y="914400"/>
            <a:ext cx="2880300" cy="2057400"/>
          </a:xfrm>
          <a:prstGeom prst="rect">
            <a:avLst/>
          </a:prstGeom>
          <a:solidFill>
            <a:srgbClr val="1A2130"/>
          </a:solidFill>
          <a:ln w="19050" cap="flat" cmpd="sng">
            <a:solidFill>
              <a:srgbClr val="00C5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g3d6caa93a2e_1_8"/>
          <p:cNvSpPr/>
          <p:nvPr/>
        </p:nvSpPr>
        <p:spPr>
          <a:xfrm>
            <a:off x="228600" y="914400"/>
            <a:ext cx="2880300" cy="255900"/>
          </a:xfrm>
          <a:prstGeom prst="rect">
            <a:avLst/>
          </a:prstGeom>
          <a:solidFill>
            <a:srgbClr val="00C5A0">
              <a:alpha val="80000"/>
            </a:srgbClr>
          </a:solidFill>
          <a:ln w="12700" cap="flat" cmpd="sng">
            <a:solidFill>
              <a:srgbClr val="00C5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g3d6caa93a2e_1_8"/>
          <p:cNvSpPr/>
          <p:nvPr/>
        </p:nvSpPr>
        <p:spPr>
          <a:xfrm>
            <a:off x="320040" y="941832"/>
            <a:ext cx="27432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950"/>
              <a:buFont typeface="Calibri"/>
              <a:buNone/>
            </a:pPr>
            <a:r>
              <a:rPr lang="en-US" sz="950" b="1" i="0" u="none" strike="noStrike" cap="none">
                <a:solidFill>
                  <a:srgbClr val="FFFFFF"/>
                </a:solidFill>
                <a:latin typeface="Calibri"/>
                <a:ea typeface="Calibri"/>
                <a:cs typeface="Calibri"/>
                <a:sym typeface="Calibri"/>
              </a:rPr>
              <a:t>1. Sales &amp; Growth KPIs</a:t>
            </a:r>
            <a:endParaRPr sz="950" b="0" i="0" u="none" strike="noStrike" cap="none">
              <a:solidFill>
                <a:schemeClr val="dk1"/>
              </a:solidFill>
              <a:latin typeface="Calibri"/>
              <a:ea typeface="Calibri"/>
              <a:cs typeface="Calibri"/>
              <a:sym typeface="Calibri"/>
            </a:endParaRPr>
          </a:p>
        </p:txBody>
      </p:sp>
      <p:sp>
        <p:nvSpPr>
          <p:cNvPr id="393" name="Google Shape;393;g3d6caa93a2e_1_8"/>
          <p:cNvSpPr/>
          <p:nvPr/>
        </p:nvSpPr>
        <p:spPr>
          <a:xfrm>
            <a:off x="338328" y="1234440"/>
            <a:ext cx="26976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5A0"/>
              </a:buClr>
              <a:buSzPts val="900"/>
              <a:buFont typeface="Calibri"/>
              <a:buNone/>
            </a:pPr>
            <a:r>
              <a:rPr lang="en-US" sz="900" b="1" i="0" u="none" strike="noStrike" cap="none">
                <a:solidFill>
                  <a:srgbClr val="00C5A0"/>
                </a:solidFill>
                <a:latin typeface="Calibri"/>
                <a:ea typeface="Calibri"/>
                <a:cs typeface="Calibri"/>
                <a:sym typeface="Calibri"/>
              </a:rPr>
              <a:t>Units Sold</a:t>
            </a:r>
            <a:endParaRPr sz="900" b="0" i="0" u="none" strike="noStrike" cap="none">
              <a:solidFill>
                <a:schemeClr val="dk1"/>
              </a:solidFill>
              <a:latin typeface="Calibri"/>
              <a:ea typeface="Calibri"/>
              <a:cs typeface="Calibri"/>
              <a:sym typeface="Calibri"/>
            </a:endParaRPr>
          </a:p>
        </p:txBody>
      </p:sp>
      <p:sp>
        <p:nvSpPr>
          <p:cNvPr id="394" name="Google Shape;394;g3d6caa93a2e_1_8"/>
          <p:cNvSpPr/>
          <p:nvPr/>
        </p:nvSpPr>
        <p:spPr>
          <a:xfrm>
            <a:off x="338328" y="1426464"/>
            <a:ext cx="269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CA3AF"/>
              </a:buClr>
              <a:buSzPts val="800"/>
              <a:buFont typeface="Calibri"/>
              <a:buNone/>
            </a:pPr>
            <a:r>
              <a:rPr lang="en-US" sz="800" b="0" i="0" u="none" strike="noStrike" cap="none">
                <a:solidFill>
                  <a:srgbClr val="9CA3AF"/>
                </a:solidFill>
                <a:latin typeface="Calibri"/>
                <a:ea typeface="Calibri"/>
                <a:cs typeface="Calibri"/>
                <a:sym typeface="Calibri"/>
              </a:rPr>
              <a:t>number of bottles sold per month</a:t>
            </a:r>
            <a:endParaRPr sz="800" b="0" i="0" u="none" strike="noStrike" cap="none">
              <a:solidFill>
                <a:schemeClr val="dk1"/>
              </a:solidFill>
              <a:latin typeface="Calibri"/>
              <a:ea typeface="Calibri"/>
              <a:cs typeface="Calibri"/>
              <a:sym typeface="Calibri"/>
            </a:endParaRPr>
          </a:p>
        </p:txBody>
      </p:sp>
      <p:sp>
        <p:nvSpPr>
          <p:cNvPr id="395" name="Google Shape;395;g3d6caa93a2e_1_8"/>
          <p:cNvSpPr/>
          <p:nvPr/>
        </p:nvSpPr>
        <p:spPr>
          <a:xfrm>
            <a:off x="338328" y="1783080"/>
            <a:ext cx="26976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5A0"/>
              </a:buClr>
              <a:buSzPts val="900"/>
              <a:buFont typeface="Calibri"/>
              <a:buNone/>
            </a:pPr>
            <a:r>
              <a:rPr lang="en-US" sz="900" b="1" i="0" u="none" strike="noStrike" cap="none">
                <a:solidFill>
                  <a:srgbClr val="00C5A0"/>
                </a:solidFill>
                <a:latin typeface="Calibri"/>
                <a:ea typeface="Calibri"/>
                <a:cs typeface="Calibri"/>
                <a:sym typeface="Calibri"/>
              </a:rPr>
              <a:t>Revenue Growth Rate</a:t>
            </a:r>
            <a:endParaRPr sz="900" b="0" i="0" u="none" strike="noStrike" cap="none">
              <a:solidFill>
                <a:schemeClr val="dk1"/>
              </a:solidFill>
              <a:latin typeface="Calibri"/>
              <a:ea typeface="Calibri"/>
              <a:cs typeface="Calibri"/>
              <a:sym typeface="Calibri"/>
            </a:endParaRPr>
          </a:p>
        </p:txBody>
      </p:sp>
      <p:sp>
        <p:nvSpPr>
          <p:cNvPr id="396" name="Google Shape;396;g3d6caa93a2e_1_8"/>
          <p:cNvSpPr/>
          <p:nvPr/>
        </p:nvSpPr>
        <p:spPr>
          <a:xfrm>
            <a:off x="338328" y="1975104"/>
            <a:ext cx="269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CA3AF"/>
              </a:buClr>
              <a:buSzPts val="800"/>
              <a:buFont typeface="Calibri"/>
              <a:buNone/>
            </a:pPr>
            <a:r>
              <a:rPr lang="en-US" sz="800" b="0" i="0" u="none" strike="noStrike" cap="none">
                <a:solidFill>
                  <a:srgbClr val="9CA3AF"/>
                </a:solidFill>
                <a:latin typeface="Calibri"/>
                <a:ea typeface="Calibri"/>
                <a:cs typeface="Calibri"/>
                <a:sym typeface="Calibri"/>
              </a:rPr>
              <a:t>% increase in sales over time</a:t>
            </a:r>
            <a:endParaRPr sz="800" b="0" i="0" u="none" strike="noStrike" cap="none">
              <a:solidFill>
                <a:schemeClr val="dk1"/>
              </a:solidFill>
              <a:latin typeface="Calibri"/>
              <a:ea typeface="Calibri"/>
              <a:cs typeface="Calibri"/>
              <a:sym typeface="Calibri"/>
            </a:endParaRPr>
          </a:p>
        </p:txBody>
      </p:sp>
      <p:sp>
        <p:nvSpPr>
          <p:cNvPr id="397" name="Google Shape;397;g3d6caa93a2e_1_8"/>
          <p:cNvSpPr/>
          <p:nvPr/>
        </p:nvSpPr>
        <p:spPr>
          <a:xfrm>
            <a:off x="338328" y="2331720"/>
            <a:ext cx="26976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5A0"/>
              </a:buClr>
              <a:buSzPts val="900"/>
              <a:buFont typeface="Calibri"/>
              <a:buNone/>
            </a:pPr>
            <a:r>
              <a:rPr lang="en-US" sz="900" b="1" i="0" u="none" strike="noStrike" cap="none">
                <a:solidFill>
                  <a:srgbClr val="00C5A0"/>
                </a:solidFill>
                <a:latin typeface="Calibri"/>
                <a:ea typeface="Calibri"/>
                <a:cs typeface="Calibri"/>
                <a:sym typeface="Calibri"/>
              </a:rPr>
              <a:t>Market Penetration</a:t>
            </a:r>
            <a:endParaRPr sz="900" b="0" i="0" u="none" strike="noStrike" cap="none">
              <a:solidFill>
                <a:schemeClr val="dk1"/>
              </a:solidFill>
              <a:latin typeface="Calibri"/>
              <a:ea typeface="Calibri"/>
              <a:cs typeface="Calibri"/>
              <a:sym typeface="Calibri"/>
            </a:endParaRPr>
          </a:p>
        </p:txBody>
      </p:sp>
      <p:sp>
        <p:nvSpPr>
          <p:cNvPr id="398" name="Google Shape;398;g3d6caa93a2e_1_8"/>
          <p:cNvSpPr/>
          <p:nvPr/>
        </p:nvSpPr>
        <p:spPr>
          <a:xfrm>
            <a:off x="338328" y="2523744"/>
            <a:ext cx="269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CA3AF"/>
              </a:buClr>
              <a:buSzPts val="800"/>
              <a:buFont typeface="Calibri"/>
              <a:buNone/>
            </a:pPr>
            <a:r>
              <a:rPr lang="en-US" sz="800" b="0" i="0" u="none" strike="noStrike" cap="none">
                <a:solidFill>
                  <a:srgbClr val="9CA3AF"/>
                </a:solidFill>
                <a:latin typeface="Calibri"/>
                <a:ea typeface="Calibri"/>
                <a:cs typeface="Calibri"/>
                <a:sym typeface="Calibri"/>
              </a:rPr>
              <a:t>% of target market (students, gym users, etc.) using the product</a:t>
            </a:r>
            <a:endParaRPr sz="800" b="0" i="0" u="none" strike="noStrike" cap="none">
              <a:solidFill>
                <a:schemeClr val="dk1"/>
              </a:solidFill>
              <a:latin typeface="Calibri"/>
              <a:ea typeface="Calibri"/>
              <a:cs typeface="Calibri"/>
              <a:sym typeface="Calibri"/>
            </a:endParaRPr>
          </a:p>
        </p:txBody>
      </p:sp>
      <p:sp>
        <p:nvSpPr>
          <p:cNvPr id="399" name="Google Shape;399;g3d6caa93a2e_1_8"/>
          <p:cNvSpPr/>
          <p:nvPr/>
        </p:nvSpPr>
        <p:spPr>
          <a:xfrm>
            <a:off x="3200400" y="914400"/>
            <a:ext cx="2880300" cy="2057400"/>
          </a:xfrm>
          <a:prstGeom prst="rect">
            <a:avLst/>
          </a:prstGeom>
          <a:solidFill>
            <a:srgbClr val="1A2130"/>
          </a:solidFill>
          <a:ln w="19050" cap="flat" cmpd="sng">
            <a:solidFill>
              <a:srgbClr val="2D7AB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g3d6caa93a2e_1_8"/>
          <p:cNvSpPr/>
          <p:nvPr/>
        </p:nvSpPr>
        <p:spPr>
          <a:xfrm>
            <a:off x="3200400" y="914400"/>
            <a:ext cx="2880300" cy="255900"/>
          </a:xfrm>
          <a:prstGeom prst="rect">
            <a:avLst/>
          </a:prstGeom>
          <a:solidFill>
            <a:srgbClr val="2D7AB5">
              <a:alpha val="80000"/>
            </a:srgbClr>
          </a:solidFill>
          <a:ln w="12700" cap="flat" cmpd="sng">
            <a:solidFill>
              <a:srgbClr val="2D7AB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g3d6caa93a2e_1_8"/>
          <p:cNvSpPr/>
          <p:nvPr/>
        </p:nvSpPr>
        <p:spPr>
          <a:xfrm>
            <a:off x="3291840" y="941832"/>
            <a:ext cx="27432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950"/>
              <a:buFont typeface="Calibri"/>
              <a:buNone/>
            </a:pPr>
            <a:r>
              <a:rPr lang="en-US" sz="950" b="1" i="0" u="none" strike="noStrike" cap="none">
                <a:solidFill>
                  <a:srgbClr val="FFFFFF"/>
                </a:solidFill>
                <a:latin typeface="Calibri"/>
                <a:ea typeface="Calibri"/>
                <a:cs typeface="Calibri"/>
                <a:sym typeface="Calibri"/>
              </a:rPr>
              <a:t>2. Customer Usage KPIs</a:t>
            </a:r>
            <a:endParaRPr sz="950" b="0" i="0" u="none" strike="noStrike" cap="none">
              <a:solidFill>
                <a:schemeClr val="dk1"/>
              </a:solidFill>
              <a:latin typeface="Calibri"/>
              <a:ea typeface="Calibri"/>
              <a:cs typeface="Calibri"/>
              <a:sym typeface="Calibri"/>
            </a:endParaRPr>
          </a:p>
        </p:txBody>
      </p:sp>
      <p:sp>
        <p:nvSpPr>
          <p:cNvPr id="402" name="Google Shape;402;g3d6caa93a2e_1_8"/>
          <p:cNvSpPr/>
          <p:nvPr/>
        </p:nvSpPr>
        <p:spPr>
          <a:xfrm>
            <a:off x="3310128" y="1234440"/>
            <a:ext cx="26976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D7AB5"/>
              </a:buClr>
              <a:buSzPts val="900"/>
              <a:buFont typeface="Calibri"/>
              <a:buNone/>
            </a:pPr>
            <a:r>
              <a:rPr lang="en-US" sz="900" b="1" i="0" u="none" strike="noStrike" cap="none">
                <a:solidFill>
                  <a:srgbClr val="2D7AB5"/>
                </a:solidFill>
                <a:latin typeface="Calibri"/>
                <a:ea typeface="Calibri"/>
                <a:cs typeface="Calibri"/>
                <a:sym typeface="Calibri"/>
              </a:rPr>
              <a:t>Daily Active Users (DAU)</a:t>
            </a:r>
            <a:endParaRPr sz="900" b="0" i="0" u="none" strike="noStrike" cap="none">
              <a:solidFill>
                <a:schemeClr val="dk1"/>
              </a:solidFill>
              <a:latin typeface="Calibri"/>
              <a:ea typeface="Calibri"/>
              <a:cs typeface="Calibri"/>
              <a:sym typeface="Calibri"/>
            </a:endParaRPr>
          </a:p>
        </p:txBody>
      </p:sp>
      <p:sp>
        <p:nvSpPr>
          <p:cNvPr id="403" name="Google Shape;403;g3d6caa93a2e_1_8"/>
          <p:cNvSpPr/>
          <p:nvPr/>
        </p:nvSpPr>
        <p:spPr>
          <a:xfrm>
            <a:off x="3310128" y="1426464"/>
            <a:ext cx="269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CA3AF"/>
              </a:buClr>
              <a:buSzPts val="800"/>
              <a:buFont typeface="Calibri"/>
              <a:buNone/>
            </a:pPr>
            <a:r>
              <a:rPr lang="en-US" sz="800" b="0" i="0" u="none" strike="noStrike" cap="none">
                <a:solidFill>
                  <a:srgbClr val="9CA3AF"/>
                </a:solidFill>
                <a:latin typeface="Calibri"/>
                <a:ea typeface="Calibri"/>
                <a:cs typeface="Calibri"/>
                <a:sym typeface="Calibri"/>
              </a:rPr>
              <a:t>how many people use the timer feature daily</a:t>
            </a:r>
            <a:endParaRPr sz="800" b="0" i="0" u="none" strike="noStrike" cap="none">
              <a:solidFill>
                <a:schemeClr val="dk1"/>
              </a:solidFill>
              <a:latin typeface="Calibri"/>
              <a:ea typeface="Calibri"/>
              <a:cs typeface="Calibri"/>
              <a:sym typeface="Calibri"/>
            </a:endParaRPr>
          </a:p>
        </p:txBody>
      </p:sp>
      <p:sp>
        <p:nvSpPr>
          <p:cNvPr id="404" name="Google Shape;404;g3d6caa93a2e_1_8"/>
          <p:cNvSpPr/>
          <p:nvPr/>
        </p:nvSpPr>
        <p:spPr>
          <a:xfrm>
            <a:off x="3310128" y="1783080"/>
            <a:ext cx="26976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D7AB5"/>
              </a:buClr>
              <a:buSzPts val="900"/>
              <a:buFont typeface="Calibri"/>
              <a:buNone/>
            </a:pPr>
            <a:r>
              <a:rPr lang="en-US" sz="900" b="1" i="0" u="none" strike="noStrike" cap="none">
                <a:solidFill>
                  <a:srgbClr val="2D7AB5"/>
                </a:solidFill>
                <a:latin typeface="Calibri"/>
                <a:ea typeface="Calibri"/>
                <a:cs typeface="Calibri"/>
                <a:sym typeface="Calibri"/>
              </a:rPr>
              <a:t>Avg. Daily Water Intake Tracked</a:t>
            </a:r>
            <a:endParaRPr sz="900" b="0" i="0" u="none" strike="noStrike" cap="none">
              <a:solidFill>
                <a:schemeClr val="dk1"/>
              </a:solidFill>
              <a:latin typeface="Calibri"/>
              <a:ea typeface="Calibri"/>
              <a:cs typeface="Calibri"/>
              <a:sym typeface="Calibri"/>
            </a:endParaRPr>
          </a:p>
        </p:txBody>
      </p:sp>
      <p:sp>
        <p:nvSpPr>
          <p:cNvPr id="405" name="Google Shape;405;g3d6caa93a2e_1_8"/>
          <p:cNvSpPr/>
          <p:nvPr/>
        </p:nvSpPr>
        <p:spPr>
          <a:xfrm>
            <a:off x="3310128" y="1975104"/>
            <a:ext cx="269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CA3AF"/>
              </a:buClr>
              <a:buSzPts val="800"/>
              <a:buFont typeface="Calibri"/>
              <a:buNone/>
            </a:pPr>
            <a:r>
              <a:rPr lang="en-US" sz="800" b="0" i="0" u="none" strike="noStrike" cap="none">
                <a:solidFill>
                  <a:srgbClr val="9CA3AF"/>
                </a:solidFill>
                <a:latin typeface="Calibri"/>
                <a:ea typeface="Calibri"/>
                <a:cs typeface="Calibri"/>
                <a:sym typeface="Calibri"/>
              </a:rPr>
              <a:t>measures if users actually drink more water</a:t>
            </a:r>
            <a:endParaRPr sz="800" b="0" i="0" u="none" strike="noStrike" cap="none">
              <a:solidFill>
                <a:schemeClr val="dk1"/>
              </a:solidFill>
              <a:latin typeface="Calibri"/>
              <a:ea typeface="Calibri"/>
              <a:cs typeface="Calibri"/>
              <a:sym typeface="Calibri"/>
            </a:endParaRPr>
          </a:p>
        </p:txBody>
      </p:sp>
      <p:sp>
        <p:nvSpPr>
          <p:cNvPr id="406" name="Google Shape;406;g3d6caa93a2e_1_8"/>
          <p:cNvSpPr/>
          <p:nvPr/>
        </p:nvSpPr>
        <p:spPr>
          <a:xfrm>
            <a:off x="3310128" y="2331720"/>
            <a:ext cx="26976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D7AB5"/>
              </a:buClr>
              <a:buSzPts val="900"/>
              <a:buFont typeface="Calibri"/>
              <a:buNone/>
            </a:pPr>
            <a:r>
              <a:rPr lang="en-US" sz="900" b="1" i="0" u="none" strike="noStrike" cap="none">
                <a:solidFill>
                  <a:srgbClr val="2D7AB5"/>
                </a:solidFill>
                <a:latin typeface="Calibri"/>
                <a:ea typeface="Calibri"/>
                <a:cs typeface="Calibri"/>
                <a:sym typeface="Calibri"/>
              </a:rPr>
              <a:t>Feature Engagement Rate</a:t>
            </a:r>
            <a:endParaRPr sz="900" b="0" i="0" u="none" strike="noStrike" cap="none">
              <a:solidFill>
                <a:schemeClr val="dk1"/>
              </a:solidFill>
              <a:latin typeface="Calibri"/>
              <a:ea typeface="Calibri"/>
              <a:cs typeface="Calibri"/>
              <a:sym typeface="Calibri"/>
            </a:endParaRPr>
          </a:p>
        </p:txBody>
      </p:sp>
      <p:sp>
        <p:nvSpPr>
          <p:cNvPr id="407" name="Google Shape;407;g3d6caa93a2e_1_8"/>
          <p:cNvSpPr/>
          <p:nvPr/>
        </p:nvSpPr>
        <p:spPr>
          <a:xfrm>
            <a:off x="3310128" y="2523744"/>
            <a:ext cx="269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CA3AF"/>
              </a:buClr>
              <a:buSzPts val="800"/>
              <a:buFont typeface="Calibri"/>
              <a:buNone/>
            </a:pPr>
            <a:r>
              <a:rPr lang="en-US" sz="800" b="0" i="0" u="none" strike="noStrike" cap="none">
                <a:solidFill>
                  <a:srgbClr val="9CA3AF"/>
                </a:solidFill>
                <a:latin typeface="Calibri"/>
                <a:ea typeface="Calibri"/>
                <a:cs typeface="Calibri"/>
                <a:sym typeface="Calibri"/>
              </a:rPr>
              <a:t>% of users actively using the timer/reminder</a:t>
            </a:r>
            <a:endParaRPr sz="800" b="0" i="0" u="none" strike="noStrike" cap="none">
              <a:solidFill>
                <a:schemeClr val="dk1"/>
              </a:solidFill>
              <a:latin typeface="Calibri"/>
              <a:ea typeface="Calibri"/>
              <a:cs typeface="Calibri"/>
              <a:sym typeface="Calibri"/>
            </a:endParaRPr>
          </a:p>
        </p:txBody>
      </p:sp>
      <p:sp>
        <p:nvSpPr>
          <p:cNvPr id="408" name="Google Shape;408;g3d6caa93a2e_1_8"/>
          <p:cNvSpPr/>
          <p:nvPr/>
        </p:nvSpPr>
        <p:spPr>
          <a:xfrm>
            <a:off x="6172200" y="914400"/>
            <a:ext cx="2880300" cy="2057400"/>
          </a:xfrm>
          <a:prstGeom prst="rect">
            <a:avLst/>
          </a:prstGeom>
          <a:solidFill>
            <a:srgbClr val="1A2130"/>
          </a:solidFill>
          <a:ln w="19050" cap="flat" cmpd="sng">
            <a:solidFill>
              <a:srgbClr val="C9A2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g3d6caa93a2e_1_8"/>
          <p:cNvSpPr/>
          <p:nvPr/>
        </p:nvSpPr>
        <p:spPr>
          <a:xfrm>
            <a:off x="6172200" y="914400"/>
            <a:ext cx="2880300" cy="255900"/>
          </a:xfrm>
          <a:prstGeom prst="rect">
            <a:avLst/>
          </a:prstGeom>
          <a:solidFill>
            <a:srgbClr val="C9A227">
              <a:alpha val="80000"/>
            </a:srgbClr>
          </a:solidFill>
          <a:ln w="12700" cap="flat" cmpd="sng">
            <a:solidFill>
              <a:srgbClr val="C9A2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g3d6caa93a2e_1_8"/>
          <p:cNvSpPr/>
          <p:nvPr/>
        </p:nvSpPr>
        <p:spPr>
          <a:xfrm>
            <a:off x="6263640" y="941832"/>
            <a:ext cx="27432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950"/>
              <a:buFont typeface="Calibri"/>
              <a:buNone/>
            </a:pPr>
            <a:r>
              <a:rPr lang="en-US" sz="950" b="1" i="0" u="none" strike="noStrike" cap="none">
                <a:solidFill>
                  <a:srgbClr val="FFFFFF"/>
                </a:solidFill>
                <a:latin typeface="Calibri"/>
                <a:ea typeface="Calibri"/>
                <a:cs typeface="Calibri"/>
                <a:sym typeface="Calibri"/>
              </a:rPr>
              <a:t>3. Customer Satisfaction KPIs</a:t>
            </a:r>
            <a:endParaRPr sz="950" b="0" i="0" u="none" strike="noStrike" cap="none">
              <a:solidFill>
                <a:schemeClr val="dk1"/>
              </a:solidFill>
              <a:latin typeface="Calibri"/>
              <a:ea typeface="Calibri"/>
              <a:cs typeface="Calibri"/>
              <a:sym typeface="Calibri"/>
            </a:endParaRPr>
          </a:p>
        </p:txBody>
      </p:sp>
      <p:sp>
        <p:nvSpPr>
          <p:cNvPr id="411" name="Google Shape;411;g3d6caa93a2e_1_8"/>
          <p:cNvSpPr/>
          <p:nvPr/>
        </p:nvSpPr>
        <p:spPr>
          <a:xfrm>
            <a:off x="6281928" y="1234440"/>
            <a:ext cx="26976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9A227"/>
              </a:buClr>
              <a:buSzPts val="900"/>
              <a:buFont typeface="Calibri"/>
              <a:buNone/>
            </a:pPr>
            <a:r>
              <a:rPr lang="en-US" sz="900" b="1" i="0" u="none" strike="noStrike" cap="none">
                <a:solidFill>
                  <a:srgbClr val="C9A227"/>
                </a:solidFill>
                <a:latin typeface="Calibri"/>
                <a:ea typeface="Calibri"/>
                <a:cs typeface="Calibri"/>
                <a:sym typeface="Calibri"/>
              </a:rPr>
              <a:t>Customer Satisfaction Score (CSAT)</a:t>
            </a:r>
            <a:endParaRPr sz="900" b="0" i="0" u="none" strike="noStrike" cap="none">
              <a:solidFill>
                <a:schemeClr val="dk1"/>
              </a:solidFill>
              <a:latin typeface="Calibri"/>
              <a:ea typeface="Calibri"/>
              <a:cs typeface="Calibri"/>
              <a:sym typeface="Calibri"/>
            </a:endParaRPr>
          </a:p>
        </p:txBody>
      </p:sp>
      <p:sp>
        <p:nvSpPr>
          <p:cNvPr id="412" name="Google Shape;412;g3d6caa93a2e_1_8"/>
          <p:cNvSpPr/>
          <p:nvPr/>
        </p:nvSpPr>
        <p:spPr>
          <a:xfrm>
            <a:off x="6281928" y="1426464"/>
            <a:ext cx="269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CA3AF"/>
              </a:buClr>
              <a:buSzPts val="800"/>
              <a:buFont typeface="Calibri"/>
              <a:buNone/>
            </a:pPr>
            <a:r>
              <a:rPr lang="en-US" sz="800" b="0" i="0" u="none" strike="noStrike" cap="none">
                <a:solidFill>
                  <a:srgbClr val="9CA3AF"/>
                </a:solidFill>
                <a:latin typeface="Calibri"/>
                <a:ea typeface="Calibri"/>
                <a:cs typeface="Calibri"/>
                <a:sym typeface="Calibri"/>
              </a:rPr>
              <a:t>rating from surveys (1–5 or 1–10)</a:t>
            </a:r>
            <a:endParaRPr sz="800" b="0" i="0" u="none" strike="noStrike" cap="none">
              <a:solidFill>
                <a:schemeClr val="dk1"/>
              </a:solidFill>
              <a:latin typeface="Calibri"/>
              <a:ea typeface="Calibri"/>
              <a:cs typeface="Calibri"/>
              <a:sym typeface="Calibri"/>
            </a:endParaRPr>
          </a:p>
        </p:txBody>
      </p:sp>
      <p:sp>
        <p:nvSpPr>
          <p:cNvPr id="413" name="Google Shape;413;g3d6caa93a2e_1_8"/>
          <p:cNvSpPr/>
          <p:nvPr/>
        </p:nvSpPr>
        <p:spPr>
          <a:xfrm>
            <a:off x="6281928" y="1783080"/>
            <a:ext cx="26976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9A227"/>
              </a:buClr>
              <a:buSzPts val="900"/>
              <a:buFont typeface="Calibri"/>
              <a:buNone/>
            </a:pPr>
            <a:r>
              <a:rPr lang="en-US" sz="900" b="1" i="0" u="none" strike="noStrike" cap="none">
                <a:solidFill>
                  <a:srgbClr val="C9A227"/>
                </a:solidFill>
                <a:latin typeface="Calibri"/>
                <a:ea typeface="Calibri"/>
                <a:cs typeface="Calibri"/>
                <a:sym typeface="Calibri"/>
              </a:rPr>
              <a:t>Net Promoter Score (NPS)</a:t>
            </a:r>
            <a:endParaRPr sz="900" b="0" i="0" u="none" strike="noStrike" cap="none">
              <a:solidFill>
                <a:schemeClr val="dk1"/>
              </a:solidFill>
              <a:latin typeface="Calibri"/>
              <a:ea typeface="Calibri"/>
              <a:cs typeface="Calibri"/>
              <a:sym typeface="Calibri"/>
            </a:endParaRPr>
          </a:p>
        </p:txBody>
      </p:sp>
      <p:sp>
        <p:nvSpPr>
          <p:cNvPr id="414" name="Google Shape;414;g3d6caa93a2e_1_8"/>
          <p:cNvSpPr/>
          <p:nvPr/>
        </p:nvSpPr>
        <p:spPr>
          <a:xfrm>
            <a:off x="6281928" y="1975104"/>
            <a:ext cx="269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CA3AF"/>
              </a:buClr>
              <a:buSzPts val="800"/>
              <a:buFont typeface="Calibri"/>
              <a:buNone/>
            </a:pPr>
            <a:r>
              <a:rPr lang="en-US" sz="800" b="0" i="0" u="none" strike="noStrike" cap="none">
                <a:solidFill>
                  <a:srgbClr val="9CA3AF"/>
                </a:solidFill>
                <a:latin typeface="Calibri"/>
                <a:ea typeface="Calibri"/>
                <a:cs typeface="Calibri"/>
                <a:sym typeface="Calibri"/>
              </a:rPr>
              <a:t>how likely users are to recommend it</a:t>
            </a:r>
            <a:endParaRPr sz="800" b="0" i="0" u="none" strike="noStrike" cap="none">
              <a:solidFill>
                <a:schemeClr val="dk1"/>
              </a:solidFill>
              <a:latin typeface="Calibri"/>
              <a:ea typeface="Calibri"/>
              <a:cs typeface="Calibri"/>
              <a:sym typeface="Calibri"/>
            </a:endParaRPr>
          </a:p>
        </p:txBody>
      </p:sp>
      <p:sp>
        <p:nvSpPr>
          <p:cNvPr id="415" name="Google Shape;415;g3d6caa93a2e_1_8"/>
          <p:cNvSpPr/>
          <p:nvPr/>
        </p:nvSpPr>
        <p:spPr>
          <a:xfrm>
            <a:off x="6281928" y="2331720"/>
            <a:ext cx="26976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9A227"/>
              </a:buClr>
              <a:buSzPts val="900"/>
              <a:buFont typeface="Calibri"/>
              <a:buNone/>
            </a:pPr>
            <a:r>
              <a:rPr lang="en-US" sz="900" b="1" i="0" u="none" strike="noStrike" cap="none">
                <a:solidFill>
                  <a:srgbClr val="C9A227"/>
                </a:solidFill>
                <a:latin typeface="Calibri"/>
                <a:ea typeface="Calibri"/>
                <a:cs typeface="Calibri"/>
                <a:sym typeface="Calibri"/>
              </a:rPr>
              <a:t>Return/Refund Rate</a:t>
            </a:r>
            <a:endParaRPr sz="900" b="0" i="0" u="none" strike="noStrike" cap="none">
              <a:solidFill>
                <a:schemeClr val="dk1"/>
              </a:solidFill>
              <a:latin typeface="Calibri"/>
              <a:ea typeface="Calibri"/>
              <a:cs typeface="Calibri"/>
              <a:sym typeface="Calibri"/>
            </a:endParaRPr>
          </a:p>
        </p:txBody>
      </p:sp>
      <p:sp>
        <p:nvSpPr>
          <p:cNvPr id="416" name="Google Shape;416;g3d6caa93a2e_1_8"/>
          <p:cNvSpPr/>
          <p:nvPr/>
        </p:nvSpPr>
        <p:spPr>
          <a:xfrm>
            <a:off x="6281928" y="2523744"/>
            <a:ext cx="269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CA3AF"/>
              </a:buClr>
              <a:buSzPts val="800"/>
              <a:buFont typeface="Calibri"/>
              <a:buNone/>
            </a:pPr>
            <a:r>
              <a:rPr lang="en-US" sz="800" b="0" i="0" u="none" strike="noStrike" cap="none">
                <a:solidFill>
                  <a:srgbClr val="9CA3AF"/>
                </a:solidFill>
                <a:latin typeface="Calibri"/>
                <a:ea typeface="Calibri"/>
                <a:cs typeface="Calibri"/>
                <a:sym typeface="Calibri"/>
              </a:rPr>
              <a:t>% of customers returning the product</a:t>
            </a:r>
            <a:endParaRPr sz="800" b="0" i="0" u="none" strike="noStrike" cap="none">
              <a:solidFill>
                <a:schemeClr val="dk1"/>
              </a:solidFill>
              <a:latin typeface="Calibri"/>
              <a:ea typeface="Calibri"/>
              <a:cs typeface="Calibri"/>
              <a:sym typeface="Calibri"/>
            </a:endParaRPr>
          </a:p>
        </p:txBody>
      </p:sp>
      <p:sp>
        <p:nvSpPr>
          <p:cNvPr id="417" name="Google Shape;417;g3d6caa93a2e_1_8"/>
          <p:cNvSpPr/>
          <p:nvPr/>
        </p:nvSpPr>
        <p:spPr>
          <a:xfrm>
            <a:off x="228600" y="3081528"/>
            <a:ext cx="2880300" cy="2057400"/>
          </a:xfrm>
          <a:prstGeom prst="rect">
            <a:avLst/>
          </a:prstGeom>
          <a:solidFill>
            <a:srgbClr val="1A2130"/>
          </a:solidFill>
          <a:ln w="19050" cap="flat" cmpd="sng">
            <a:solidFill>
              <a:srgbClr val="9B59B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g3d6caa93a2e_1_8"/>
          <p:cNvSpPr/>
          <p:nvPr/>
        </p:nvSpPr>
        <p:spPr>
          <a:xfrm>
            <a:off x="228600" y="3081528"/>
            <a:ext cx="2880300" cy="255900"/>
          </a:xfrm>
          <a:prstGeom prst="rect">
            <a:avLst/>
          </a:prstGeom>
          <a:solidFill>
            <a:srgbClr val="9B59B6">
              <a:alpha val="80000"/>
            </a:srgbClr>
          </a:solidFill>
          <a:ln w="12700" cap="flat" cmpd="sng">
            <a:solidFill>
              <a:srgbClr val="9B59B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g3d6caa93a2e_1_8"/>
          <p:cNvSpPr/>
          <p:nvPr/>
        </p:nvSpPr>
        <p:spPr>
          <a:xfrm>
            <a:off x="320040" y="3108960"/>
            <a:ext cx="27432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950"/>
              <a:buFont typeface="Calibri"/>
              <a:buNone/>
            </a:pPr>
            <a:r>
              <a:rPr lang="en-US" sz="950" b="1" i="0" u="none" strike="noStrike" cap="none">
                <a:solidFill>
                  <a:srgbClr val="FFFFFF"/>
                </a:solidFill>
                <a:latin typeface="Calibri"/>
                <a:ea typeface="Calibri"/>
                <a:cs typeface="Calibri"/>
                <a:sym typeface="Calibri"/>
              </a:rPr>
              <a:t>4. Retention &amp; Loyalty KPIs</a:t>
            </a:r>
            <a:endParaRPr sz="950" b="0" i="0" u="none" strike="noStrike" cap="none">
              <a:solidFill>
                <a:schemeClr val="dk1"/>
              </a:solidFill>
              <a:latin typeface="Calibri"/>
              <a:ea typeface="Calibri"/>
              <a:cs typeface="Calibri"/>
              <a:sym typeface="Calibri"/>
            </a:endParaRPr>
          </a:p>
        </p:txBody>
      </p:sp>
      <p:sp>
        <p:nvSpPr>
          <p:cNvPr id="420" name="Google Shape;420;g3d6caa93a2e_1_8"/>
          <p:cNvSpPr/>
          <p:nvPr/>
        </p:nvSpPr>
        <p:spPr>
          <a:xfrm>
            <a:off x="338328" y="3401568"/>
            <a:ext cx="26976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B59B6"/>
              </a:buClr>
              <a:buSzPts val="900"/>
              <a:buFont typeface="Calibri"/>
              <a:buNone/>
            </a:pPr>
            <a:r>
              <a:rPr lang="en-US" sz="900" b="1" i="0" u="none" strike="noStrike" cap="none">
                <a:solidFill>
                  <a:srgbClr val="9B59B6"/>
                </a:solidFill>
                <a:latin typeface="Calibri"/>
                <a:ea typeface="Calibri"/>
                <a:cs typeface="Calibri"/>
                <a:sym typeface="Calibri"/>
              </a:rPr>
              <a:t>Repeat Purchase Rate</a:t>
            </a:r>
            <a:endParaRPr sz="900" b="0" i="0" u="none" strike="noStrike" cap="none">
              <a:solidFill>
                <a:schemeClr val="dk1"/>
              </a:solidFill>
              <a:latin typeface="Calibri"/>
              <a:ea typeface="Calibri"/>
              <a:cs typeface="Calibri"/>
              <a:sym typeface="Calibri"/>
            </a:endParaRPr>
          </a:p>
        </p:txBody>
      </p:sp>
      <p:sp>
        <p:nvSpPr>
          <p:cNvPr id="421" name="Google Shape;421;g3d6caa93a2e_1_8"/>
          <p:cNvSpPr/>
          <p:nvPr/>
        </p:nvSpPr>
        <p:spPr>
          <a:xfrm>
            <a:off x="338328" y="3593592"/>
            <a:ext cx="269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CA3AF"/>
              </a:buClr>
              <a:buSzPts val="800"/>
              <a:buFont typeface="Calibri"/>
              <a:buNone/>
            </a:pPr>
            <a:r>
              <a:rPr lang="en-US" sz="800" b="0" i="0" u="none" strike="noStrike" cap="none">
                <a:solidFill>
                  <a:srgbClr val="9CA3AF"/>
                </a:solidFill>
                <a:latin typeface="Calibri"/>
                <a:ea typeface="Calibri"/>
                <a:cs typeface="Calibri"/>
                <a:sym typeface="Calibri"/>
              </a:rPr>
              <a:t>customers buying again (gifts, upgrades, etc.)</a:t>
            </a:r>
            <a:endParaRPr sz="800" b="0" i="0" u="none" strike="noStrike" cap="none">
              <a:solidFill>
                <a:schemeClr val="dk1"/>
              </a:solidFill>
              <a:latin typeface="Calibri"/>
              <a:ea typeface="Calibri"/>
              <a:cs typeface="Calibri"/>
              <a:sym typeface="Calibri"/>
            </a:endParaRPr>
          </a:p>
        </p:txBody>
      </p:sp>
      <p:sp>
        <p:nvSpPr>
          <p:cNvPr id="422" name="Google Shape;422;g3d6caa93a2e_1_8"/>
          <p:cNvSpPr/>
          <p:nvPr/>
        </p:nvSpPr>
        <p:spPr>
          <a:xfrm>
            <a:off x="338328" y="3950208"/>
            <a:ext cx="26976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B59B6"/>
              </a:buClr>
              <a:buSzPts val="900"/>
              <a:buFont typeface="Calibri"/>
              <a:buNone/>
            </a:pPr>
            <a:r>
              <a:rPr lang="en-US" sz="900" b="1" i="0" u="none" strike="noStrike" cap="none">
                <a:solidFill>
                  <a:srgbClr val="9B59B6"/>
                </a:solidFill>
                <a:latin typeface="Calibri"/>
                <a:ea typeface="Calibri"/>
                <a:cs typeface="Calibri"/>
                <a:sym typeface="Calibri"/>
              </a:rPr>
              <a:t>Customer Retention Rate</a:t>
            </a:r>
            <a:endParaRPr sz="900" b="0" i="0" u="none" strike="noStrike" cap="none">
              <a:solidFill>
                <a:schemeClr val="dk1"/>
              </a:solidFill>
              <a:latin typeface="Calibri"/>
              <a:ea typeface="Calibri"/>
              <a:cs typeface="Calibri"/>
              <a:sym typeface="Calibri"/>
            </a:endParaRPr>
          </a:p>
        </p:txBody>
      </p:sp>
      <p:sp>
        <p:nvSpPr>
          <p:cNvPr id="423" name="Google Shape;423;g3d6caa93a2e_1_8"/>
          <p:cNvSpPr/>
          <p:nvPr/>
        </p:nvSpPr>
        <p:spPr>
          <a:xfrm>
            <a:off x="338328" y="4142232"/>
            <a:ext cx="269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CA3AF"/>
              </a:buClr>
              <a:buSzPts val="800"/>
              <a:buFont typeface="Calibri"/>
              <a:buNone/>
            </a:pPr>
            <a:r>
              <a:rPr lang="en-US" sz="800" b="0" i="0" u="none" strike="noStrike" cap="none">
                <a:solidFill>
                  <a:srgbClr val="9CA3AF"/>
                </a:solidFill>
                <a:latin typeface="Calibri"/>
                <a:ea typeface="Calibri"/>
                <a:cs typeface="Calibri"/>
                <a:sym typeface="Calibri"/>
              </a:rPr>
              <a:t>% of users still using the bottle after 30/60/90 days</a:t>
            </a:r>
            <a:endParaRPr sz="800" b="0" i="0" u="none" strike="noStrike" cap="none">
              <a:solidFill>
                <a:schemeClr val="dk1"/>
              </a:solidFill>
              <a:latin typeface="Calibri"/>
              <a:ea typeface="Calibri"/>
              <a:cs typeface="Calibri"/>
              <a:sym typeface="Calibri"/>
            </a:endParaRPr>
          </a:p>
        </p:txBody>
      </p:sp>
      <p:sp>
        <p:nvSpPr>
          <p:cNvPr id="424" name="Google Shape;424;g3d6caa93a2e_1_8"/>
          <p:cNvSpPr/>
          <p:nvPr/>
        </p:nvSpPr>
        <p:spPr>
          <a:xfrm>
            <a:off x="3200400" y="3081528"/>
            <a:ext cx="2880300" cy="2057400"/>
          </a:xfrm>
          <a:prstGeom prst="rect">
            <a:avLst/>
          </a:prstGeom>
          <a:solidFill>
            <a:srgbClr val="1A2130"/>
          </a:solidFill>
          <a:ln w="19050" cap="flat" cmpd="sng">
            <a:solidFill>
              <a:srgbClr val="E67E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g3d6caa93a2e_1_8"/>
          <p:cNvSpPr/>
          <p:nvPr/>
        </p:nvSpPr>
        <p:spPr>
          <a:xfrm>
            <a:off x="3200400" y="3081528"/>
            <a:ext cx="2880300" cy="255900"/>
          </a:xfrm>
          <a:prstGeom prst="rect">
            <a:avLst/>
          </a:prstGeom>
          <a:solidFill>
            <a:srgbClr val="E67E22">
              <a:alpha val="80000"/>
            </a:srgbClr>
          </a:solidFill>
          <a:ln w="12700" cap="flat" cmpd="sng">
            <a:solidFill>
              <a:srgbClr val="E67E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g3d6caa93a2e_1_8"/>
          <p:cNvSpPr/>
          <p:nvPr/>
        </p:nvSpPr>
        <p:spPr>
          <a:xfrm>
            <a:off x="3291840" y="3108960"/>
            <a:ext cx="27432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950"/>
              <a:buFont typeface="Calibri"/>
              <a:buNone/>
            </a:pPr>
            <a:r>
              <a:rPr lang="en-US" sz="950" b="1" i="0" u="none" strike="noStrike" cap="none">
                <a:solidFill>
                  <a:srgbClr val="FFFFFF"/>
                </a:solidFill>
                <a:latin typeface="Calibri"/>
                <a:ea typeface="Calibri"/>
                <a:cs typeface="Calibri"/>
                <a:sym typeface="Calibri"/>
              </a:rPr>
              <a:t>5. Brand &amp; Marketing KPIs</a:t>
            </a:r>
            <a:endParaRPr sz="950" b="0" i="0" u="none" strike="noStrike" cap="none">
              <a:solidFill>
                <a:schemeClr val="dk1"/>
              </a:solidFill>
              <a:latin typeface="Calibri"/>
              <a:ea typeface="Calibri"/>
              <a:cs typeface="Calibri"/>
              <a:sym typeface="Calibri"/>
            </a:endParaRPr>
          </a:p>
        </p:txBody>
      </p:sp>
      <p:sp>
        <p:nvSpPr>
          <p:cNvPr id="427" name="Google Shape;427;g3d6caa93a2e_1_8"/>
          <p:cNvSpPr/>
          <p:nvPr/>
        </p:nvSpPr>
        <p:spPr>
          <a:xfrm>
            <a:off x="3310128" y="3401568"/>
            <a:ext cx="26976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67E22"/>
              </a:buClr>
              <a:buSzPts val="900"/>
              <a:buFont typeface="Calibri"/>
              <a:buNone/>
            </a:pPr>
            <a:r>
              <a:rPr lang="en-US" sz="900" b="1" i="0" u="none" strike="noStrike" cap="none">
                <a:solidFill>
                  <a:srgbClr val="E67E22"/>
                </a:solidFill>
                <a:latin typeface="Calibri"/>
                <a:ea typeface="Calibri"/>
                <a:cs typeface="Calibri"/>
                <a:sym typeface="Calibri"/>
              </a:rPr>
              <a:t>Social Media Engagement</a:t>
            </a:r>
            <a:endParaRPr sz="900" b="0" i="0" u="none" strike="noStrike" cap="none">
              <a:solidFill>
                <a:schemeClr val="dk1"/>
              </a:solidFill>
              <a:latin typeface="Calibri"/>
              <a:ea typeface="Calibri"/>
              <a:cs typeface="Calibri"/>
              <a:sym typeface="Calibri"/>
            </a:endParaRPr>
          </a:p>
        </p:txBody>
      </p:sp>
      <p:sp>
        <p:nvSpPr>
          <p:cNvPr id="428" name="Google Shape;428;g3d6caa93a2e_1_8"/>
          <p:cNvSpPr/>
          <p:nvPr/>
        </p:nvSpPr>
        <p:spPr>
          <a:xfrm>
            <a:off x="3310128" y="3593592"/>
            <a:ext cx="269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CA3AF"/>
              </a:buClr>
              <a:buSzPts val="800"/>
              <a:buFont typeface="Calibri"/>
              <a:buNone/>
            </a:pPr>
            <a:r>
              <a:rPr lang="en-US" sz="800" b="0" i="0" u="none" strike="noStrike" cap="none">
                <a:solidFill>
                  <a:srgbClr val="9CA3AF"/>
                </a:solidFill>
                <a:latin typeface="Calibri"/>
                <a:ea typeface="Calibri"/>
                <a:cs typeface="Calibri"/>
                <a:sym typeface="Calibri"/>
              </a:rPr>
              <a:t>likes, shares, comments on posts</a:t>
            </a:r>
            <a:endParaRPr sz="800" b="0" i="0" u="none" strike="noStrike" cap="none">
              <a:solidFill>
                <a:schemeClr val="dk1"/>
              </a:solidFill>
              <a:latin typeface="Calibri"/>
              <a:ea typeface="Calibri"/>
              <a:cs typeface="Calibri"/>
              <a:sym typeface="Calibri"/>
            </a:endParaRPr>
          </a:p>
        </p:txBody>
      </p:sp>
      <p:sp>
        <p:nvSpPr>
          <p:cNvPr id="429" name="Google Shape;429;g3d6caa93a2e_1_8"/>
          <p:cNvSpPr/>
          <p:nvPr/>
        </p:nvSpPr>
        <p:spPr>
          <a:xfrm>
            <a:off x="3310128" y="3950208"/>
            <a:ext cx="26976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67E22"/>
              </a:buClr>
              <a:buSzPts val="900"/>
              <a:buFont typeface="Calibri"/>
              <a:buNone/>
            </a:pPr>
            <a:r>
              <a:rPr lang="en-US" sz="900" b="1" i="0" u="none" strike="noStrike" cap="none">
                <a:solidFill>
                  <a:srgbClr val="E67E22"/>
                </a:solidFill>
                <a:latin typeface="Calibri"/>
                <a:ea typeface="Calibri"/>
                <a:cs typeface="Calibri"/>
                <a:sym typeface="Calibri"/>
              </a:rPr>
              <a:t>Conversion Rate</a:t>
            </a:r>
            <a:endParaRPr sz="900" b="0" i="0" u="none" strike="noStrike" cap="none">
              <a:solidFill>
                <a:schemeClr val="dk1"/>
              </a:solidFill>
              <a:latin typeface="Calibri"/>
              <a:ea typeface="Calibri"/>
              <a:cs typeface="Calibri"/>
              <a:sym typeface="Calibri"/>
            </a:endParaRPr>
          </a:p>
        </p:txBody>
      </p:sp>
      <p:sp>
        <p:nvSpPr>
          <p:cNvPr id="430" name="Google Shape;430;g3d6caa93a2e_1_8"/>
          <p:cNvSpPr/>
          <p:nvPr/>
        </p:nvSpPr>
        <p:spPr>
          <a:xfrm>
            <a:off x="3310128" y="4142232"/>
            <a:ext cx="269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CA3AF"/>
              </a:buClr>
              <a:buSzPts val="800"/>
              <a:buFont typeface="Calibri"/>
              <a:buNone/>
            </a:pPr>
            <a:r>
              <a:rPr lang="en-US" sz="800" b="0" i="0" u="none" strike="noStrike" cap="none">
                <a:solidFill>
                  <a:srgbClr val="9CA3AF"/>
                </a:solidFill>
                <a:latin typeface="Calibri"/>
                <a:ea typeface="Calibri"/>
                <a:cs typeface="Calibri"/>
                <a:sym typeface="Calibri"/>
              </a:rPr>
              <a:t>% of people who see the product and actually buy it</a:t>
            </a:r>
            <a:endParaRPr sz="800" b="0" i="0" u="none" strike="noStrike" cap="none">
              <a:solidFill>
                <a:schemeClr val="dk1"/>
              </a:solidFill>
              <a:latin typeface="Calibri"/>
              <a:ea typeface="Calibri"/>
              <a:cs typeface="Calibri"/>
              <a:sym typeface="Calibri"/>
            </a:endParaRPr>
          </a:p>
        </p:txBody>
      </p:sp>
      <p:sp>
        <p:nvSpPr>
          <p:cNvPr id="431" name="Google Shape;431;g3d6caa93a2e_1_8"/>
          <p:cNvSpPr/>
          <p:nvPr/>
        </p:nvSpPr>
        <p:spPr>
          <a:xfrm>
            <a:off x="3310128" y="4498848"/>
            <a:ext cx="26976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67E22"/>
              </a:buClr>
              <a:buSzPts val="900"/>
              <a:buFont typeface="Calibri"/>
              <a:buNone/>
            </a:pPr>
            <a:r>
              <a:rPr lang="en-US" sz="900" b="1" i="0" u="none" strike="noStrike" cap="none">
                <a:solidFill>
                  <a:srgbClr val="E67E22"/>
                </a:solidFill>
                <a:latin typeface="Calibri"/>
                <a:ea typeface="Calibri"/>
                <a:cs typeface="Calibri"/>
                <a:sym typeface="Calibri"/>
              </a:rPr>
              <a:t>Customer Acquisition Cost (CAC)</a:t>
            </a:r>
            <a:endParaRPr sz="900" b="0" i="0" u="none" strike="noStrike" cap="none">
              <a:solidFill>
                <a:schemeClr val="dk1"/>
              </a:solidFill>
              <a:latin typeface="Calibri"/>
              <a:ea typeface="Calibri"/>
              <a:cs typeface="Calibri"/>
              <a:sym typeface="Calibri"/>
            </a:endParaRPr>
          </a:p>
        </p:txBody>
      </p:sp>
      <p:sp>
        <p:nvSpPr>
          <p:cNvPr id="432" name="Google Shape;432;g3d6caa93a2e_1_8"/>
          <p:cNvSpPr/>
          <p:nvPr/>
        </p:nvSpPr>
        <p:spPr>
          <a:xfrm>
            <a:off x="3310128" y="4690872"/>
            <a:ext cx="269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CA3AF"/>
              </a:buClr>
              <a:buSzPts val="800"/>
              <a:buFont typeface="Calibri"/>
              <a:buNone/>
            </a:pPr>
            <a:r>
              <a:rPr lang="en-US" sz="800" b="0" i="0" u="none" strike="noStrike" cap="none">
                <a:solidFill>
                  <a:srgbClr val="9CA3AF"/>
                </a:solidFill>
                <a:latin typeface="Calibri"/>
                <a:ea typeface="Calibri"/>
                <a:cs typeface="Calibri"/>
                <a:sym typeface="Calibri"/>
              </a:rPr>
              <a:t>cost to gain one customer</a:t>
            </a:r>
            <a:endParaRPr sz="800" b="0" i="0" u="none" strike="noStrike" cap="none">
              <a:solidFill>
                <a:schemeClr val="dk1"/>
              </a:solidFill>
              <a:latin typeface="Calibri"/>
              <a:ea typeface="Calibri"/>
              <a:cs typeface="Calibri"/>
              <a:sym typeface="Calibri"/>
            </a:endParaRPr>
          </a:p>
        </p:txBody>
      </p:sp>
      <p:sp>
        <p:nvSpPr>
          <p:cNvPr id="433" name="Google Shape;433;g3d6caa93a2e_1_8"/>
          <p:cNvSpPr/>
          <p:nvPr/>
        </p:nvSpPr>
        <p:spPr>
          <a:xfrm>
            <a:off x="6172200" y="3081528"/>
            <a:ext cx="2880300" cy="2057400"/>
          </a:xfrm>
          <a:prstGeom prst="rect">
            <a:avLst/>
          </a:prstGeom>
          <a:solidFill>
            <a:srgbClr val="1A2130"/>
          </a:solidFill>
          <a:ln w="19050" cap="flat" cmpd="sng">
            <a:solidFill>
              <a:srgbClr val="27AE6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g3d6caa93a2e_1_8"/>
          <p:cNvSpPr/>
          <p:nvPr/>
        </p:nvSpPr>
        <p:spPr>
          <a:xfrm>
            <a:off x="6172200" y="3081528"/>
            <a:ext cx="2880300" cy="255900"/>
          </a:xfrm>
          <a:prstGeom prst="rect">
            <a:avLst/>
          </a:prstGeom>
          <a:solidFill>
            <a:srgbClr val="27AE60">
              <a:alpha val="80000"/>
            </a:srgbClr>
          </a:solidFill>
          <a:ln w="12700" cap="flat" cmpd="sng">
            <a:solidFill>
              <a:srgbClr val="27AE6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g3d6caa93a2e_1_8"/>
          <p:cNvSpPr/>
          <p:nvPr/>
        </p:nvSpPr>
        <p:spPr>
          <a:xfrm>
            <a:off x="6263640" y="3108960"/>
            <a:ext cx="27432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950"/>
              <a:buFont typeface="Calibri"/>
              <a:buNone/>
            </a:pPr>
            <a:r>
              <a:rPr lang="en-US" sz="950" b="1" i="0" u="none" strike="noStrike" cap="none">
                <a:solidFill>
                  <a:srgbClr val="FFFFFF"/>
                </a:solidFill>
                <a:latin typeface="Calibri"/>
                <a:ea typeface="Calibri"/>
                <a:cs typeface="Calibri"/>
                <a:sym typeface="Calibri"/>
              </a:rPr>
              <a:t>6. Health Impact KPI</a:t>
            </a:r>
            <a:endParaRPr sz="950" b="0" i="0" u="none" strike="noStrike" cap="none">
              <a:solidFill>
                <a:schemeClr val="dk1"/>
              </a:solidFill>
              <a:latin typeface="Calibri"/>
              <a:ea typeface="Calibri"/>
              <a:cs typeface="Calibri"/>
              <a:sym typeface="Calibri"/>
            </a:endParaRPr>
          </a:p>
        </p:txBody>
      </p:sp>
      <p:sp>
        <p:nvSpPr>
          <p:cNvPr id="436" name="Google Shape;436;g3d6caa93a2e_1_8"/>
          <p:cNvSpPr/>
          <p:nvPr/>
        </p:nvSpPr>
        <p:spPr>
          <a:xfrm>
            <a:off x="6281928" y="3401568"/>
            <a:ext cx="26976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7AE60"/>
              </a:buClr>
              <a:buSzPts val="900"/>
              <a:buFont typeface="Calibri"/>
              <a:buNone/>
            </a:pPr>
            <a:r>
              <a:rPr lang="en-US" sz="900" b="1" i="0" u="none" strike="noStrike" cap="none">
                <a:solidFill>
                  <a:srgbClr val="27AE60"/>
                </a:solidFill>
                <a:latin typeface="Calibri"/>
                <a:ea typeface="Calibri"/>
                <a:cs typeface="Calibri"/>
                <a:sym typeface="Calibri"/>
              </a:rPr>
              <a:t>Hydration Improvement Rate</a:t>
            </a:r>
            <a:endParaRPr sz="900" b="0" i="0" u="none" strike="noStrike" cap="none">
              <a:solidFill>
                <a:schemeClr val="dk1"/>
              </a:solidFill>
              <a:latin typeface="Calibri"/>
              <a:ea typeface="Calibri"/>
              <a:cs typeface="Calibri"/>
              <a:sym typeface="Calibri"/>
            </a:endParaRPr>
          </a:p>
        </p:txBody>
      </p:sp>
      <p:sp>
        <p:nvSpPr>
          <p:cNvPr id="437" name="Google Shape;437;g3d6caa93a2e_1_8"/>
          <p:cNvSpPr/>
          <p:nvPr/>
        </p:nvSpPr>
        <p:spPr>
          <a:xfrm>
            <a:off x="6281928" y="3593592"/>
            <a:ext cx="269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CA3AF"/>
              </a:buClr>
              <a:buSzPts val="800"/>
              <a:buFont typeface="Calibri"/>
              <a:buNone/>
            </a:pPr>
            <a:r>
              <a:rPr lang="en-US" sz="800" b="0" i="0" u="none" strike="noStrike" cap="none">
                <a:solidFill>
                  <a:srgbClr val="9CA3AF"/>
                </a:solidFill>
                <a:latin typeface="Calibri"/>
                <a:ea typeface="Calibri"/>
                <a:cs typeface="Calibri"/>
                <a:sym typeface="Calibri"/>
              </a:rPr>
              <a:t>% increase in users meeting daily water goals</a:t>
            </a:r>
            <a:endParaRPr sz="800" b="0" i="0" u="none" strike="noStrike" cap="none">
              <a:solidFill>
                <a:schemeClr val="dk1"/>
              </a:solidFill>
              <a:latin typeface="Calibri"/>
              <a:ea typeface="Calibri"/>
              <a:cs typeface="Calibri"/>
              <a:sym typeface="Calibri"/>
            </a:endParaRPr>
          </a:p>
        </p:txBody>
      </p:sp>
      <p:sp>
        <p:nvSpPr>
          <p:cNvPr id="438" name="Google Shape;438;g3d6caa93a2e_1_8"/>
          <p:cNvSpPr/>
          <p:nvPr/>
        </p:nvSpPr>
        <p:spPr>
          <a:xfrm>
            <a:off x="274320" y="4892040"/>
            <a:ext cx="7772400" cy="183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CA3AF"/>
              </a:buClr>
              <a:buSzPts val="700"/>
              <a:buFont typeface="Calibri"/>
              <a:buNone/>
            </a:pPr>
            <a:r>
              <a:rPr lang="en-US" sz="700" b="0" i="0" u="none" strike="noStrike" cap="none">
                <a:solidFill>
                  <a:srgbClr val="9CA3AF"/>
                </a:solidFill>
                <a:latin typeface="Calibri"/>
                <a:ea typeface="Calibri"/>
                <a:cs typeface="Calibri"/>
                <a:sym typeface="Calibri"/>
              </a:rPr>
              <a:t>WATER TIMER  |  Owala Innovation Concept</a:t>
            </a:r>
            <a:endParaRPr sz="700" b="0" i="0" u="none" strike="noStrike" cap="none">
              <a:solidFill>
                <a:schemeClr val="dk1"/>
              </a:solidFill>
              <a:latin typeface="Calibri"/>
              <a:ea typeface="Calibri"/>
              <a:cs typeface="Calibri"/>
              <a:sym typeface="Calibri"/>
            </a:endParaRPr>
          </a:p>
        </p:txBody>
      </p:sp>
      <p:sp>
        <p:nvSpPr>
          <p:cNvPr id="439" name="Google Shape;439;g3d6caa93a2e_1_8"/>
          <p:cNvSpPr/>
          <p:nvPr/>
        </p:nvSpPr>
        <p:spPr>
          <a:xfrm>
            <a:off x="8686800" y="4892040"/>
            <a:ext cx="365700" cy="1830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CA3AF"/>
              </a:buClr>
              <a:buSzPts val="700"/>
              <a:buFont typeface="Calibri"/>
              <a:buNone/>
            </a:pPr>
            <a:r>
              <a:rPr lang="en-US" sz="700" b="0" i="0" u="none" strike="noStrike" cap="none">
                <a:solidFill>
                  <a:srgbClr val="9CA3AF"/>
                </a:solidFill>
                <a:latin typeface="Calibri"/>
                <a:ea typeface="Calibri"/>
                <a:cs typeface="Calibri"/>
                <a:sym typeface="Calibri"/>
              </a:rPr>
              <a:t>9</a:t>
            </a:r>
            <a:endParaRPr sz="7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0C12"/>
        </a:solidFill>
        <a:effectLst/>
      </p:bgPr>
    </p:bg>
    <p:spTree>
      <p:nvGrpSpPr>
        <p:cNvPr id="1" name="Shape 444"/>
        <p:cNvGrpSpPr/>
        <p:nvPr/>
      </p:nvGrpSpPr>
      <p:grpSpPr>
        <a:xfrm>
          <a:off x="0" y="0"/>
          <a:ext cx="0" cy="0"/>
          <a:chOff x="0" y="0"/>
          <a:chExt cx="0" cy="0"/>
        </a:xfrm>
      </p:grpSpPr>
      <p:sp>
        <p:nvSpPr>
          <p:cNvPr id="445" name="Google Shape;445;p10"/>
          <p:cNvSpPr/>
          <p:nvPr/>
        </p:nvSpPr>
        <p:spPr>
          <a:xfrm>
            <a:off x="0" y="4956048"/>
            <a:ext cx="9144000" cy="182880"/>
          </a:xfrm>
          <a:prstGeom prst="rect">
            <a:avLst/>
          </a:prstGeom>
          <a:solidFill>
            <a:srgbClr val="0A0F1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0"/>
          <p:cNvSpPr/>
          <p:nvPr/>
        </p:nvSpPr>
        <p:spPr>
          <a:xfrm>
            <a:off x="457200" y="4974336"/>
            <a:ext cx="6400800" cy="1463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700"/>
              <a:buFont typeface="Calibri"/>
              <a:buNone/>
            </a:pPr>
            <a:r>
              <a:rPr lang="en-US" sz="700" b="0" i="0" u="none" strike="noStrike" cap="none">
                <a:solidFill>
                  <a:srgbClr val="475569"/>
                </a:solidFill>
                <a:latin typeface="Calibri"/>
                <a:ea typeface="Calibri"/>
                <a:cs typeface="Calibri"/>
                <a:sym typeface="Calibri"/>
              </a:rPr>
              <a:t>WATER TIMER  |  Owala Innovation Concept</a:t>
            </a:r>
            <a:endParaRPr sz="700" b="0" i="0" u="none" strike="noStrike" cap="none">
              <a:solidFill>
                <a:schemeClr val="dk1"/>
              </a:solidFill>
              <a:latin typeface="Calibri"/>
              <a:ea typeface="Calibri"/>
              <a:cs typeface="Calibri"/>
              <a:sym typeface="Calibri"/>
            </a:endParaRPr>
          </a:p>
        </p:txBody>
      </p:sp>
      <p:sp>
        <p:nvSpPr>
          <p:cNvPr id="447" name="Google Shape;447;p10"/>
          <p:cNvSpPr/>
          <p:nvPr/>
        </p:nvSpPr>
        <p:spPr>
          <a:xfrm>
            <a:off x="8503920" y="4974336"/>
            <a:ext cx="457200" cy="14630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9488"/>
              </a:buClr>
              <a:buSzPts val="700"/>
              <a:buFont typeface="Calibri"/>
              <a:buNone/>
            </a:pPr>
            <a:r>
              <a:rPr lang="en-US" sz="700" b="0" i="0" u="none" strike="noStrike" cap="none">
                <a:solidFill>
                  <a:srgbClr val="0D9488"/>
                </a:solidFill>
                <a:latin typeface="Calibri"/>
                <a:ea typeface="Calibri"/>
                <a:cs typeface="Calibri"/>
                <a:sym typeface="Calibri"/>
              </a:rPr>
              <a:t>10</a:t>
            </a:r>
            <a:endParaRPr sz="700" b="0" i="0" u="none" strike="noStrike" cap="none">
              <a:solidFill>
                <a:schemeClr val="dk1"/>
              </a:solidFill>
              <a:latin typeface="Calibri"/>
              <a:ea typeface="Calibri"/>
              <a:cs typeface="Calibri"/>
              <a:sym typeface="Calibri"/>
            </a:endParaRPr>
          </a:p>
        </p:txBody>
      </p:sp>
      <p:sp>
        <p:nvSpPr>
          <p:cNvPr id="448" name="Google Shape;448;p10"/>
          <p:cNvSpPr/>
          <p:nvPr/>
        </p:nvSpPr>
        <p:spPr>
          <a:xfrm>
            <a:off x="0" y="0"/>
            <a:ext cx="320040" cy="5143500"/>
          </a:xfrm>
          <a:prstGeom prst="rect">
            <a:avLst/>
          </a:prstGeom>
          <a:solidFill>
            <a:srgbClr val="BCB2D2"/>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0"/>
          <p:cNvSpPr/>
          <p:nvPr/>
        </p:nvSpPr>
        <p:spPr>
          <a:xfrm>
            <a:off x="5943600" y="137160"/>
            <a:ext cx="54900" cy="54900"/>
          </a:xfrm>
          <a:prstGeom prst="ellipse">
            <a:avLst/>
          </a:prstGeom>
          <a:solidFill>
            <a:srgbClr val="0D9488">
              <a:alpha val="10200"/>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0"/>
          <p:cNvSpPr/>
          <p:nvPr/>
        </p:nvSpPr>
        <p:spPr>
          <a:xfrm>
            <a:off x="6355080" y="137160"/>
            <a:ext cx="54900" cy="54900"/>
          </a:xfrm>
          <a:prstGeom prst="ellipse">
            <a:avLst/>
          </a:prstGeom>
          <a:solidFill>
            <a:srgbClr val="0D9488">
              <a:alpha val="10200"/>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0"/>
          <p:cNvSpPr/>
          <p:nvPr/>
        </p:nvSpPr>
        <p:spPr>
          <a:xfrm>
            <a:off x="5943600" y="548640"/>
            <a:ext cx="54900" cy="54900"/>
          </a:xfrm>
          <a:prstGeom prst="ellipse">
            <a:avLst/>
          </a:prstGeom>
          <a:solidFill>
            <a:srgbClr val="0D9488">
              <a:alpha val="10200"/>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0"/>
          <p:cNvSpPr/>
          <p:nvPr/>
        </p:nvSpPr>
        <p:spPr>
          <a:xfrm>
            <a:off x="6355080" y="548640"/>
            <a:ext cx="54900" cy="54900"/>
          </a:xfrm>
          <a:prstGeom prst="ellipse">
            <a:avLst/>
          </a:prstGeom>
          <a:solidFill>
            <a:srgbClr val="0D9488">
              <a:alpha val="10200"/>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0"/>
          <p:cNvSpPr/>
          <p:nvPr/>
        </p:nvSpPr>
        <p:spPr>
          <a:xfrm>
            <a:off x="5943600" y="960120"/>
            <a:ext cx="54900" cy="54900"/>
          </a:xfrm>
          <a:prstGeom prst="ellipse">
            <a:avLst/>
          </a:prstGeom>
          <a:solidFill>
            <a:srgbClr val="0D9488">
              <a:alpha val="10200"/>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0"/>
          <p:cNvSpPr/>
          <p:nvPr/>
        </p:nvSpPr>
        <p:spPr>
          <a:xfrm>
            <a:off x="6355080" y="960120"/>
            <a:ext cx="54900" cy="54900"/>
          </a:xfrm>
          <a:prstGeom prst="ellipse">
            <a:avLst/>
          </a:prstGeom>
          <a:solidFill>
            <a:srgbClr val="0D9488">
              <a:alpha val="10200"/>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0"/>
          <p:cNvSpPr/>
          <p:nvPr/>
        </p:nvSpPr>
        <p:spPr>
          <a:xfrm>
            <a:off x="5943600" y="1371600"/>
            <a:ext cx="54900" cy="54900"/>
          </a:xfrm>
          <a:prstGeom prst="ellipse">
            <a:avLst/>
          </a:prstGeom>
          <a:solidFill>
            <a:srgbClr val="0D9488">
              <a:alpha val="10200"/>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0"/>
          <p:cNvSpPr/>
          <p:nvPr/>
        </p:nvSpPr>
        <p:spPr>
          <a:xfrm>
            <a:off x="6355080" y="1371600"/>
            <a:ext cx="54900" cy="54900"/>
          </a:xfrm>
          <a:prstGeom prst="ellipse">
            <a:avLst/>
          </a:prstGeom>
          <a:solidFill>
            <a:srgbClr val="0D9488">
              <a:alpha val="10200"/>
            </a:srgbClr>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0"/>
          <p:cNvSpPr/>
          <p:nvPr/>
        </p:nvSpPr>
        <p:spPr>
          <a:xfrm>
            <a:off x="548640" y="411480"/>
            <a:ext cx="5486400" cy="502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300"/>
              <a:buFont typeface="Calibri"/>
              <a:buNone/>
            </a:pPr>
            <a:r>
              <a:rPr lang="en-US" sz="1300" b="1" u="none" strike="noStrike" cap="none">
                <a:solidFill>
                  <a:srgbClr val="BCB2D2"/>
                </a:solidFill>
                <a:latin typeface="Calibri"/>
                <a:ea typeface="Calibri"/>
                <a:cs typeface="Calibri"/>
                <a:sym typeface="Calibri"/>
              </a:rPr>
              <a:t>The Future of Hydration</a:t>
            </a:r>
            <a:endParaRPr sz="1300" b="0" u="none" strike="noStrike" cap="none">
              <a:solidFill>
                <a:srgbClr val="BCB2D2"/>
              </a:solidFill>
              <a:latin typeface="Calibri"/>
              <a:ea typeface="Calibri"/>
              <a:cs typeface="Calibri"/>
              <a:sym typeface="Calibri"/>
            </a:endParaRPr>
          </a:p>
        </p:txBody>
      </p:sp>
      <p:sp>
        <p:nvSpPr>
          <p:cNvPr id="458" name="Google Shape;458;p10"/>
          <p:cNvSpPr/>
          <p:nvPr/>
        </p:nvSpPr>
        <p:spPr>
          <a:xfrm>
            <a:off x="548640" y="868680"/>
            <a:ext cx="5486400" cy="1554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5600"/>
              <a:buFont typeface="Trebuchet MS"/>
              <a:buNone/>
            </a:pPr>
            <a:r>
              <a:rPr lang="en-US" sz="5600" b="1" i="0" u="none" strike="noStrike" cap="none">
                <a:solidFill>
                  <a:srgbClr val="F8FAFC"/>
                </a:solidFill>
                <a:latin typeface="Trebuchet MS"/>
                <a:ea typeface="Trebuchet MS"/>
                <a:cs typeface="Trebuchet MS"/>
                <a:sym typeface="Trebuchet MS"/>
              </a:rPr>
              <a:t>Is On The</a:t>
            </a:r>
            <a:endParaRPr sz="56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F8FAFC"/>
              </a:buClr>
              <a:buSzPts val="5600"/>
              <a:buFont typeface="Trebuchet MS"/>
              <a:buNone/>
            </a:pPr>
            <a:r>
              <a:rPr lang="en-US" sz="5600" b="1" i="0" u="none" strike="noStrike" cap="none">
                <a:solidFill>
                  <a:srgbClr val="F8FAFC"/>
                </a:solidFill>
                <a:latin typeface="Trebuchet MS"/>
                <a:ea typeface="Trebuchet MS"/>
                <a:cs typeface="Trebuchet MS"/>
                <a:sym typeface="Trebuchet MS"/>
              </a:rPr>
              <a:t>Bottle.</a:t>
            </a:r>
            <a:endParaRPr sz="5600" b="0" i="0" u="none" strike="noStrike" cap="none">
              <a:solidFill>
                <a:schemeClr val="dk1"/>
              </a:solidFill>
              <a:latin typeface="Calibri"/>
              <a:ea typeface="Calibri"/>
              <a:cs typeface="Calibri"/>
              <a:sym typeface="Calibri"/>
            </a:endParaRPr>
          </a:p>
        </p:txBody>
      </p:sp>
      <p:sp>
        <p:nvSpPr>
          <p:cNvPr id="459" name="Google Shape;459;p10"/>
          <p:cNvSpPr/>
          <p:nvPr/>
        </p:nvSpPr>
        <p:spPr>
          <a:xfrm>
            <a:off x="548640" y="2514600"/>
            <a:ext cx="53035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400"/>
              <a:buFont typeface="Calibri"/>
              <a:buNone/>
            </a:pPr>
            <a:r>
              <a:rPr lang="en-US" sz="1400" b="0" i="0" u="none" strike="noStrike" cap="none">
                <a:solidFill>
                  <a:srgbClr val="BCB2D2"/>
                </a:solidFill>
                <a:latin typeface="Calibri"/>
                <a:ea typeface="Calibri"/>
                <a:cs typeface="Calibri"/>
                <a:sym typeface="Calibri"/>
              </a:rPr>
              <a:t>Water Timer</a:t>
            </a:r>
            <a:r>
              <a:rPr lang="en-US">
                <a:solidFill>
                  <a:srgbClr val="BCB2D2"/>
                </a:solidFill>
                <a:latin typeface="Calibri"/>
                <a:ea typeface="Calibri"/>
                <a:cs typeface="Calibri"/>
                <a:sym typeface="Calibri"/>
              </a:rPr>
              <a:t>:</a:t>
            </a:r>
            <a:r>
              <a:rPr lang="en-US" sz="1400" b="0" i="0" u="none" strike="noStrike" cap="none">
                <a:solidFill>
                  <a:srgbClr val="BCB2D2"/>
                </a:solidFill>
                <a:latin typeface="Calibri"/>
                <a:ea typeface="Calibri"/>
                <a:cs typeface="Calibri"/>
                <a:sym typeface="Calibri"/>
              </a:rPr>
              <a:t>  Smart Hydration by Owala</a:t>
            </a:r>
            <a:endParaRPr sz="1400" b="0" i="0" u="none" strike="noStrike" cap="none">
              <a:solidFill>
                <a:srgbClr val="BCB2D2"/>
              </a:solidFill>
              <a:latin typeface="Calibri"/>
              <a:ea typeface="Calibri"/>
              <a:cs typeface="Calibri"/>
              <a:sym typeface="Calibri"/>
            </a:endParaRPr>
          </a:p>
        </p:txBody>
      </p:sp>
      <p:sp>
        <p:nvSpPr>
          <p:cNvPr id="460" name="Google Shape;460;p10"/>
          <p:cNvSpPr/>
          <p:nvPr/>
        </p:nvSpPr>
        <p:spPr>
          <a:xfrm>
            <a:off x="548640" y="2971800"/>
            <a:ext cx="5029200" cy="36576"/>
          </a:xfrm>
          <a:prstGeom prst="rect">
            <a:avLst/>
          </a:prstGeom>
          <a:solidFill>
            <a:srgbClr val="BCB2D2"/>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BCB2D2"/>
              </a:solidFill>
            </a:endParaRPr>
          </a:p>
        </p:txBody>
      </p:sp>
      <p:sp>
        <p:nvSpPr>
          <p:cNvPr id="461" name="Google Shape;461;p10"/>
          <p:cNvSpPr/>
          <p:nvPr/>
        </p:nvSpPr>
        <p:spPr>
          <a:xfrm>
            <a:off x="1622045" y="3297975"/>
            <a:ext cx="2882400" cy="457200"/>
          </a:xfrm>
          <a:prstGeom prst="rect">
            <a:avLst/>
          </a:prstGeom>
          <a:solidFill>
            <a:srgbClr val="BCB2D2"/>
          </a:solidFill>
          <a:ln w="12700" cap="flat" cmpd="sng">
            <a:solidFill>
              <a:srgbClr val="BCB2D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0"/>
          <p:cNvSpPr/>
          <p:nvPr/>
        </p:nvSpPr>
        <p:spPr>
          <a:xfrm>
            <a:off x="1622050" y="3334550"/>
            <a:ext cx="28824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BAE6FD"/>
              </a:buClr>
              <a:buSzPts val="950"/>
              <a:buFont typeface="Calibri"/>
              <a:buNone/>
            </a:pPr>
            <a:r>
              <a:rPr lang="en-US" sz="1050" b="1" u="none" strike="noStrike" cap="none">
                <a:solidFill>
                  <a:schemeClr val="dk1"/>
                </a:solidFill>
                <a:latin typeface="Calibri"/>
                <a:ea typeface="Calibri"/>
                <a:cs typeface="Calibri"/>
                <a:sym typeface="Calibri"/>
              </a:rPr>
              <a:t>Thank yo</a:t>
            </a:r>
            <a:r>
              <a:rPr lang="en-US" sz="1050" b="1">
                <a:solidFill>
                  <a:schemeClr val="dk1"/>
                </a:solidFill>
                <a:latin typeface="Calibri"/>
                <a:ea typeface="Calibri"/>
                <a:cs typeface="Calibri"/>
                <a:sym typeface="Calibri"/>
              </a:rPr>
              <a:t>u!</a:t>
            </a:r>
            <a:r>
              <a:rPr lang="en-US" sz="1050" b="1" u="none" strike="noStrike" cap="none">
                <a:solidFill>
                  <a:schemeClr val="dk1"/>
                </a:solidFill>
                <a:latin typeface="Calibri"/>
                <a:ea typeface="Calibri"/>
                <a:cs typeface="Calibri"/>
                <a:sym typeface="Calibri"/>
              </a:rPr>
              <a:t> We're happy to answer any questions.</a:t>
            </a:r>
            <a:endParaRPr sz="1050" b="1" u="none" strike="noStrike" cap="none">
              <a:solidFill>
                <a:schemeClr val="dk1"/>
              </a:solidFill>
              <a:latin typeface="Calibri"/>
              <a:ea typeface="Calibri"/>
              <a:cs typeface="Calibri"/>
              <a:sym typeface="Calibri"/>
            </a:endParaRPr>
          </a:p>
        </p:txBody>
      </p:sp>
      <p:pic>
        <p:nvPicPr>
          <p:cNvPr id="463" name="Google Shape;463;p10"/>
          <p:cNvPicPr preferRelativeResize="0"/>
          <p:nvPr/>
        </p:nvPicPr>
        <p:blipFill>
          <a:blip r:embed="rId3">
            <a:alphaModFix/>
          </a:blip>
          <a:stretch>
            <a:fillRect/>
          </a:stretch>
        </p:blipFill>
        <p:spPr>
          <a:xfrm>
            <a:off x="5715013" y="-12"/>
            <a:ext cx="3428982" cy="51435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1883</Words>
  <Application>Microsoft Office PowerPoint</Application>
  <PresentationFormat>On-screen Show (16:9)</PresentationFormat>
  <Paragraphs>255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Victoria Kokoszka</cp:lastModifiedBy>
  <cp:revision>1</cp:revision>
  <dcterms:created xsi:type="dcterms:W3CDTF">2026-04-13T18:36:12Z</dcterms:created>
  <dcterms:modified xsi:type="dcterms:W3CDTF">2026-10-02T23:26:41Z</dcterms:modified>
</cp:coreProperties>
</file>