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9Wd6HT4xfoLCYfIFF1WJ7rtlJ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48D342-DFC0-491A-835A-FC63651FD996}">
  <a:tblStyle styleId="{4448D342-DFC0-491A-835A-FC63651FD99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t>Anika</a:t>
            </a:r>
            <a:endParaRPr sz="1600"/>
          </a:p>
          <a:p>
            <a:pPr indent="0" lvl="0" marL="0" rtl="0" algn="l">
              <a:lnSpc>
                <a:spcPct val="115000"/>
              </a:lnSpc>
              <a:spcBef>
                <a:spcPts val="1200"/>
              </a:spcBef>
              <a:spcAft>
                <a:spcPts val="0"/>
              </a:spcAft>
              <a:buClr>
                <a:schemeClr val="dk1"/>
              </a:buClr>
              <a:buSzPts val="1100"/>
              <a:buFont typeface="Arial"/>
              <a:buNone/>
            </a:pPr>
            <a:r>
              <a:rPr lang="en-US" sz="1600"/>
              <a:t>“Here is the SWOT analysis for Water Timer. Starting with our INTERNAL strengths, in the current market we have Owala’s strong brand identity and recognizable design. We also benefit from product differentiation through the built-in hydration reminder functionality, which makes it more convenient than relying on separate apps and aligns well with wellness-focused consumers.</a:t>
            </a:r>
            <a:endParaRPr sz="1600"/>
          </a:p>
          <a:p>
            <a:pPr indent="0" lvl="0" marL="0" rtl="0" algn="l">
              <a:lnSpc>
                <a:spcPct val="115000"/>
              </a:lnSpc>
              <a:spcBef>
                <a:spcPts val="1200"/>
              </a:spcBef>
              <a:spcAft>
                <a:spcPts val="0"/>
              </a:spcAft>
              <a:buClr>
                <a:schemeClr val="dk1"/>
              </a:buClr>
              <a:buSzPts val="1100"/>
              <a:buFont typeface="Arial"/>
              <a:buNone/>
            </a:pPr>
            <a:r>
              <a:rPr lang="en-US" sz="1600"/>
              <a:t>For our INTERNAL weaknesses, the added technology would increase manufacturing costs and make the product a more complex offering than Owala’s standard bottles. There are also possible concerns around the durability, charging, and whether consumers will consistently value the added feature long term.</a:t>
            </a:r>
            <a:endParaRPr sz="1600"/>
          </a:p>
          <a:p>
            <a:pPr indent="0" lvl="0" marL="0" rtl="0" algn="l">
              <a:lnSpc>
                <a:spcPct val="115000"/>
              </a:lnSpc>
              <a:spcBef>
                <a:spcPts val="1200"/>
              </a:spcBef>
              <a:spcAft>
                <a:spcPts val="0"/>
              </a:spcAft>
              <a:buClr>
                <a:schemeClr val="dk1"/>
              </a:buClr>
              <a:buSzPts val="1100"/>
              <a:buFont typeface="Arial"/>
              <a:buNone/>
            </a:pPr>
            <a:r>
              <a:rPr lang="en-US" sz="1600"/>
              <a:t>Looking at EXTERNAL opportunities, Water Timer fits well with growing consumer interest in health, wellness, and habit-building products, and lets us dip more into those growing markets. It also creates room for partnerships with fitness and wellness influencers and allows Owala to build on the reusable bottle trend.</a:t>
            </a:r>
            <a:endParaRPr sz="1600"/>
          </a:p>
          <a:p>
            <a:pPr indent="0" lvl="0" marL="0" rtl="0" algn="l">
              <a:lnSpc>
                <a:spcPct val="115000"/>
              </a:lnSpc>
              <a:spcBef>
                <a:spcPts val="1200"/>
              </a:spcBef>
              <a:spcAft>
                <a:spcPts val="0"/>
              </a:spcAft>
              <a:buClr>
                <a:schemeClr val="dk1"/>
              </a:buClr>
              <a:buSzPts val="1100"/>
              <a:buFont typeface="Arial"/>
              <a:buNone/>
            </a:pPr>
            <a:r>
              <a:rPr lang="en-US" sz="1600"/>
              <a:t>Finally, for EXTERNAL threats we have competition not only from other bottle brands, but also from free digital hydration reminder tools, and the risk of imitation if the idea becomes popular. There is also the challenge of convincing consumers to pay a premium price in a crowded market.”</a:t>
            </a:r>
            <a:endParaRPr sz="1600"/>
          </a:p>
          <a:p>
            <a:pPr indent="0" lvl="0" marL="0" rtl="0" algn="l">
              <a:spcBef>
                <a:spcPts val="1200"/>
              </a:spcBef>
              <a:spcAft>
                <a:spcPts val="0"/>
              </a:spcAft>
              <a:buNone/>
            </a:pPr>
            <a:r>
              <a:t/>
            </a:r>
            <a:endParaRPr/>
          </a:p>
        </p:txBody>
      </p:sp>
      <p:sp>
        <p:nvSpPr>
          <p:cNvPr id="97" name="Google Shape;9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d6caa93a2e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d6caa93a2e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g3d6caa93a2e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8.png"/><Relationship Id="rId5" Type="http://schemas.openxmlformats.org/officeDocument/2006/relationships/image" Target="../media/image22.png"/><Relationship Id="rId6"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5" name="Shape 15"/>
        <p:cNvGrpSpPr/>
        <p:nvPr/>
      </p:nvGrpSpPr>
      <p:grpSpPr>
        <a:xfrm>
          <a:off x="0" y="0"/>
          <a:ext cx="0" cy="0"/>
          <a:chOff x="0" y="0"/>
          <a:chExt cx="0" cy="0"/>
        </a:xfrm>
      </p:grpSpPr>
      <p:sp>
        <p:nvSpPr>
          <p:cNvPr id="16" name="Google Shape;16;p1"/>
          <p:cNvSpPr/>
          <p:nvPr/>
        </p:nvSpPr>
        <p:spPr>
          <a:xfrm>
            <a:off x="228600" y="0"/>
            <a:ext cx="4932900" cy="514350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33150" y="-61450"/>
            <a:ext cx="361800" cy="5418000"/>
          </a:xfrm>
          <a:prstGeom prst="rect">
            <a:avLst/>
          </a:prstGeom>
          <a:solidFill>
            <a:srgbClr val="BCB2D2"/>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88625" y="1414225"/>
            <a:ext cx="4007100" cy="94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8000"/>
              <a:buFont typeface="Trebuchet MS"/>
              <a:buNone/>
            </a:pPr>
            <a:r>
              <a:rPr b="1" lang="en-US" sz="8000">
                <a:solidFill>
                  <a:srgbClr val="F8FAFC"/>
                </a:solidFill>
                <a:latin typeface="Trebuchet MS"/>
                <a:ea typeface="Trebuchet MS"/>
                <a:cs typeface="Trebuchet MS"/>
                <a:sym typeface="Trebuchet MS"/>
              </a:rPr>
              <a:t>OWALA</a:t>
            </a:r>
            <a:endParaRPr b="0" i="0" sz="8000" u="none" cap="none" strike="noStrike">
              <a:solidFill>
                <a:schemeClr val="dk1"/>
              </a:solidFill>
              <a:latin typeface="Calibri"/>
              <a:ea typeface="Calibri"/>
              <a:cs typeface="Calibri"/>
              <a:sym typeface="Calibri"/>
            </a:endParaRPr>
          </a:p>
        </p:txBody>
      </p:sp>
      <p:sp>
        <p:nvSpPr>
          <p:cNvPr id="19" name="Google Shape;19;p1"/>
          <p:cNvSpPr/>
          <p:nvPr/>
        </p:nvSpPr>
        <p:spPr>
          <a:xfrm>
            <a:off x="457200" y="2153375"/>
            <a:ext cx="46323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8000"/>
              <a:buFont typeface="Trebuchet MS"/>
              <a:buNone/>
            </a:pPr>
            <a:r>
              <a:rPr b="1" lang="en-US" sz="5400">
                <a:solidFill>
                  <a:srgbClr val="BCB2D2"/>
                </a:solidFill>
                <a:latin typeface="Trebuchet MS"/>
                <a:ea typeface="Trebuchet MS"/>
                <a:cs typeface="Trebuchet MS"/>
                <a:sym typeface="Trebuchet MS"/>
              </a:rPr>
              <a:t>WATER </a:t>
            </a:r>
            <a:r>
              <a:rPr b="1" i="0" lang="en-US" sz="5400" u="none" cap="none" strike="noStrike">
                <a:solidFill>
                  <a:srgbClr val="BCB2D2"/>
                </a:solidFill>
                <a:latin typeface="Trebuchet MS"/>
                <a:ea typeface="Trebuchet MS"/>
                <a:cs typeface="Trebuchet MS"/>
                <a:sym typeface="Trebuchet MS"/>
              </a:rPr>
              <a:t>TIMER</a:t>
            </a:r>
            <a:endParaRPr b="0" i="0" sz="5400" u="none" cap="none" strike="noStrike">
              <a:solidFill>
                <a:srgbClr val="BCB2D2"/>
              </a:solidFill>
              <a:latin typeface="Calibri"/>
              <a:ea typeface="Calibri"/>
              <a:cs typeface="Calibri"/>
              <a:sym typeface="Calibri"/>
            </a:endParaRPr>
          </a:p>
        </p:txBody>
      </p:sp>
      <p:sp>
        <p:nvSpPr>
          <p:cNvPr id="20" name="Google Shape;20;p1"/>
          <p:cNvSpPr/>
          <p:nvPr/>
        </p:nvSpPr>
        <p:spPr>
          <a:xfrm>
            <a:off x="457200" y="320040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600"/>
              <a:buFont typeface="Calibri"/>
              <a:buNone/>
            </a:pPr>
            <a:r>
              <a:rPr b="0" i="1" lang="en-US" sz="1600" u="none" cap="none" strike="noStrike">
                <a:solidFill>
                  <a:srgbClr val="94A3B8"/>
                </a:solidFill>
                <a:latin typeface="Calibri"/>
                <a:ea typeface="Calibri"/>
                <a:cs typeface="Calibri"/>
                <a:sym typeface="Calibri"/>
              </a:rPr>
              <a:t>Smart Hydration. Built Into Your Bottle.</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457200" y="3794760"/>
            <a:ext cx="2743200" cy="27432"/>
          </a:xfrm>
          <a:prstGeom prst="rect">
            <a:avLst/>
          </a:prstGeom>
          <a:solidFill>
            <a:srgbClr val="BCB2D2"/>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BCB2D2"/>
              </a:solidFill>
            </a:endParaRPr>
          </a:p>
        </p:txBody>
      </p:sp>
      <p:sp>
        <p:nvSpPr>
          <p:cNvPr id="22" name="Google Shape;22;p1"/>
          <p:cNvSpPr/>
          <p:nvPr/>
        </p:nvSpPr>
        <p:spPr>
          <a:xfrm>
            <a:off x="457200" y="3931925"/>
            <a:ext cx="4572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100"/>
              <a:buFont typeface="Calibri"/>
              <a:buNone/>
            </a:pPr>
            <a:r>
              <a:rPr b="1" i="0" lang="en-US" sz="1100" u="none" cap="none" strike="noStrike">
                <a:solidFill>
                  <a:srgbClr val="BAE6FD"/>
                </a:solidFill>
                <a:latin typeface="Calibri"/>
                <a:ea typeface="Calibri"/>
                <a:cs typeface="Calibri"/>
                <a:sym typeface="Calibri"/>
              </a:rPr>
              <a:t>Group Members: </a:t>
            </a:r>
            <a:r>
              <a:rPr lang="en-US" sz="1100">
                <a:solidFill>
                  <a:srgbClr val="94A3B8"/>
                </a:solidFill>
                <a:latin typeface="Calibri"/>
                <a:ea typeface="Calibri"/>
                <a:cs typeface="Calibri"/>
                <a:sym typeface="Calibri"/>
              </a:rPr>
              <a:t>Anika Bandwar</a:t>
            </a:r>
            <a:r>
              <a:rPr b="0" i="0" lang="en-US" sz="1100" u="none" cap="none" strike="noStrike">
                <a:solidFill>
                  <a:srgbClr val="94A3B8"/>
                </a:solidFill>
                <a:latin typeface="Calibri"/>
                <a:ea typeface="Calibri"/>
                <a:cs typeface="Calibri"/>
                <a:sym typeface="Calibri"/>
              </a:rPr>
              <a:t> •  </a:t>
            </a:r>
            <a:r>
              <a:rPr lang="en-US" sz="1100">
                <a:solidFill>
                  <a:srgbClr val="94A3B8"/>
                </a:solidFill>
                <a:latin typeface="Calibri"/>
                <a:ea typeface="Calibri"/>
                <a:cs typeface="Calibri"/>
                <a:sym typeface="Calibri"/>
              </a:rPr>
              <a:t>Mehul Jain</a:t>
            </a:r>
            <a:r>
              <a:rPr b="0" i="0" lang="en-US" sz="1100" u="none" cap="none" strike="noStrike">
                <a:solidFill>
                  <a:srgbClr val="94A3B8"/>
                </a:solidFill>
                <a:latin typeface="Calibri"/>
                <a:ea typeface="Calibri"/>
                <a:cs typeface="Calibri"/>
                <a:sym typeface="Calibri"/>
              </a:rPr>
              <a:t>  •  </a:t>
            </a:r>
            <a:r>
              <a:rPr lang="en-US" sz="1100">
                <a:solidFill>
                  <a:srgbClr val="94A3B8"/>
                </a:solidFill>
                <a:latin typeface="Calibri"/>
                <a:ea typeface="Calibri"/>
                <a:cs typeface="Calibri"/>
                <a:sym typeface="Calibri"/>
              </a:rPr>
              <a:t>Colin Kummings</a:t>
            </a:r>
            <a:r>
              <a:rPr b="0" i="0" lang="en-US" sz="1100" u="none" cap="none" strike="noStrike">
                <a:solidFill>
                  <a:srgbClr val="94A3B8"/>
                </a:solidFill>
                <a:latin typeface="Calibri"/>
                <a:ea typeface="Calibri"/>
                <a:cs typeface="Calibri"/>
                <a:sym typeface="Calibri"/>
              </a:rPr>
              <a:t>  • </a:t>
            </a:r>
            <a:r>
              <a:rPr lang="en-US" sz="1100">
                <a:solidFill>
                  <a:srgbClr val="94A3B8"/>
                </a:solidFill>
                <a:latin typeface="Calibri"/>
                <a:ea typeface="Calibri"/>
                <a:cs typeface="Calibri"/>
                <a:sym typeface="Calibri"/>
              </a:rPr>
              <a:t>Rosie Kwok </a:t>
            </a:r>
            <a:r>
              <a:rPr lang="en-US" sz="1100">
                <a:solidFill>
                  <a:srgbClr val="94A3B8"/>
                </a:solidFill>
                <a:latin typeface="Calibri"/>
                <a:ea typeface="Calibri"/>
                <a:cs typeface="Calibri"/>
                <a:sym typeface="Calibri"/>
              </a:rPr>
              <a:t>• Victoria Kokoszka •  Aditya Patel •  Sahishnav Grende •  Vishwajith Banala</a:t>
            </a:r>
            <a:endParaRPr b="0" i="0" sz="1100" u="none" cap="none" strike="noStrike">
              <a:solidFill>
                <a:schemeClr val="dk1"/>
              </a:solidFill>
              <a:latin typeface="Calibri"/>
              <a:ea typeface="Calibri"/>
              <a:cs typeface="Calibri"/>
              <a:sym typeface="Calibri"/>
            </a:endParaRPr>
          </a:p>
        </p:txBody>
      </p:sp>
      <p:sp>
        <p:nvSpPr>
          <p:cNvPr id="23" name="Google Shape;23;p1"/>
          <p:cNvSpPr/>
          <p:nvPr/>
        </p:nvSpPr>
        <p:spPr>
          <a:xfrm>
            <a:off x="457200" y="4251960"/>
            <a:ext cx="4572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100"/>
              <a:buFont typeface="Calibri"/>
              <a:buNone/>
            </a:pPr>
            <a:r>
              <a:rPr b="1" i="0" lang="en-US" sz="1100" u="none" cap="none" strike="noStrike">
                <a:solidFill>
                  <a:srgbClr val="BAE6FD"/>
                </a:solidFill>
                <a:latin typeface="Calibri"/>
                <a:ea typeface="Calibri"/>
                <a:cs typeface="Calibri"/>
                <a:sym typeface="Calibri"/>
              </a:rPr>
              <a:t>Course: </a:t>
            </a:r>
            <a:r>
              <a:rPr lang="en-US" sz="1100">
                <a:solidFill>
                  <a:srgbClr val="94A3B8"/>
                </a:solidFill>
                <a:latin typeface="Calibri"/>
                <a:ea typeface="Calibri"/>
                <a:cs typeface="Calibri"/>
                <a:sym typeface="Calibri"/>
              </a:rPr>
              <a:t>I</a:t>
            </a:r>
            <a:r>
              <a:rPr b="0" i="0" lang="en-US" sz="1100" u="none" cap="none" strike="noStrike">
                <a:solidFill>
                  <a:srgbClr val="94A3B8"/>
                </a:solidFill>
                <a:latin typeface="Calibri"/>
                <a:ea typeface="Calibri"/>
                <a:cs typeface="Calibri"/>
                <a:sym typeface="Calibri"/>
              </a:rPr>
              <a:t>ntro to Marketing</a:t>
            </a:r>
            <a:r>
              <a:rPr lang="en-US" sz="1100">
                <a:solidFill>
                  <a:srgbClr val="94A3B8"/>
                </a:solidFill>
                <a:latin typeface="Calibri"/>
                <a:ea typeface="Calibri"/>
                <a:cs typeface="Calibri"/>
                <a:sym typeface="Calibri"/>
              </a:rPr>
              <a:t>, Spring 2026, 04/23/26</a:t>
            </a:r>
            <a:endParaRPr b="0" i="0" sz="1100" u="none" cap="none" strike="noStrike">
              <a:solidFill>
                <a:schemeClr val="dk1"/>
              </a:solidFill>
              <a:latin typeface="Calibri"/>
              <a:ea typeface="Calibri"/>
              <a:cs typeface="Calibri"/>
              <a:sym typeface="Calibri"/>
            </a:endParaRPr>
          </a:p>
        </p:txBody>
      </p:sp>
      <p:pic>
        <p:nvPicPr>
          <p:cNvPr id="24" name="Google Shape;24;p1"/>
          <p:cNvPicPr preferRelativeResize="0"/>
          <p:nvPr/>
        </p:nvPicPr>
        <p:blipFill>
          <a:blip r:embed="rId3">
            <a:alphaModFix/>
          </a:blip>
          <a:stretch>
            <a:fillRect/>
          </a:stretch>
        </p:blipFill>
        <p:spPr>
          <a:xfrm>
            <a:off x="5508600" y="171623"/>
            <a:ext cx="3200128" cy="4800250"/>
          </a:xfrm>
          <a:prstGeom prst="rect">
            <a:avLst/>
          </a:prstGeom>
          <a:noFill/>
          <a:ln cap="flat" cmpd="sng" w="28575">
            <a:solidFill>
              <a:srgbClr val="A78BFA"/>
            </a:solidFill>
            <a:prstDash val="solid"/>
            <a:round/>
            <a:headEnd len="sm" w="sm" type="none"/>
            <a:tailEnd len="sm" w="sm" type="none"/>
          </a:ln>
        </p:spPr>
      </p:pic>
      <p:pic>
        <p:nvPicPr>
          <p:cNvPr descr="make this look like a realistic water drop and make the shape look better" id="25" name="Google Shape;25;p1"/>
          <p:cNvPicPr preferRelativeResize="0"/>
          <p:nvPr/>
        </p:nvPicPr>
        <p:blipFill>
          <a:blip r:embed="rId4">
            <a:alphaModFix/>
          </a:blip>
          <a:stretch>
            <a:fillRect/>
          </a:stretch>
        </p:blipFill>
        <p:spPr>
          <a:xfrm>
            <a:off x="3723950" y="743900"/>
            <a:ext cx="1111775" cy="1111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0" name="Shape 30"/>
        <p:cNvGrpSpPr/>
        <p:nvPr/>
      </p:nvGrpSpPr>
      <p:grpSpPr>
        <a:xfrm>
          <a:off x="0" y="0"/>
          <a:ext cx="0" cy="0"/>
          <a:chOff x="0" y="0"/>
          <a:chExt cx="0" cy="0"/>
        </a:xfrm>
      </p:grpSpPr>
      <p:sp>
        <p:nvSpPr>
          <p:cNvPr id="31" name="Google Shape;31;p2"/>
          <p:cNvSpPr/>
          <p:nvPr/>
        </p:nvSpPr>
        <p:spPr>
          <a:xfrm>
            <a:off x="0" y="0"/>
            <a:ext cx="9144000" cy="73152"/>
          </a:xfrm>
          <a:prstGeom prst="rect">
            <a:avLst/>
          </a:prstGeom>
          <a:solidFill>
            <a:srgbClr val="14B8A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57200" y="201168"/>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2800"/>
              <a:buFont typeface="Trebuchet MS"/>
              <a:buNone/>
            </a:pPr>
            <a:r>
              <a:rPr b="1" i="0" lang="en-US" sz="2800" u="none" cap="none" strike="noStrike">
                <a:solidFill>
                  <a:srgbClr val="F8FAFC"/>
                </a:solidFill>
                <a:latin typeface="Trebuchet MS"/>
                <a:ea typeface="Trebuchet MS"/>
                <a:cs typeface="Trebuchet MS"/>
                <a:sym typeface="Trebuchet MS"/>
              </a:rPr>
              <a:t>Market Research                               </a:t>
            </a:r>
            <a:r>
              <a:rPr b="1" lang="en-US" sz="1200">
                <a:solidFill>
                  <a:srgbClr val="B7B7B7"/>
                </a:solidFill>
                <a:latin typeface="Trebuchet MS"/>
                <a:ea typeface="Trebuchet MS"/>
                <a:cs typeface="Trebuchet MS"/>
                <a:sym typeface="Trebuchet MS"/>
              </a:rPr>
              <a:t>Colin </a:t>
            </a:r>
            <a:r>
              <a:rPr b="1" lang="en-US" sz="1200">
                <a:solidFill>
                  <a:srgbClr val="B7B7B7"/>
                </a:solidFill>
                <a:latin typeface="Trebuchet MS"/>
                <a:ea typeface="Trebuchet MS"/>
                <a:cs typeface="Trebuchet MS"/>
                <a:sym typeface="Trebuchet MS"/>
              </a:rPr>
              <a:t>Kummings</a:t>
            </a:r>
            <a:endParaRPr b="0" i="0" sz="2800" u="none" cap="none" strike="noStrike">
              <a:solidFill>
                <a:schemeClr val="dk1"/>
              </a:solidFill>
              <a:latin typeface="Calibri"/>
              <a:ea typeface="Calibri"/>
              <a:cs typeface="Calibri"/>
              <a:sym typeface="Calibri"/>
            </a:endParaRPr>
          </a:p>
        </p:txBody>
      </p:sp>
      <p:sp>
        <p:nvSpPr>
          <p:cNvPr id="33" name="Google Shape;33;p2"/>
          <p:cNvSpPr/>
          <p:nvPr/>
        </p:nvSpPr>
        <p:spPr>
          <a:xfrm>
            <a:off x="45720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200"/>
              <a:buFont typeface="Calibri"/>
              <a:buNone/>
            </a:pPr>
            <a:r>
              <a:rPr b="0" i="1" lang="en-US" sz="1200" u="none" cap="none" strike="noStrike">
                <a:solidFill>
                  <a:srgbClr val="14B8A6"/>
                </a:solidFill>
                <a:latin typeface="Calibri"/>
                <a:ea typeface="Calibri"/>
                <a:cs typeface="Calibri"/>
                <a:sym typeface="Calibri"/>
              </a:rPr>
              <a:t>Consumer Trends &amp; Competitive Landscape</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36" name="Google Shape;36;p2"/>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
        <p:nvSpPr>
          <p:cNvPr id="37" name="Google Shape;37;p2"/>
          <p:cNvSpPr/>
          <p:nvPr/>
        </p:nvSpPr>
        <p:spPr>
          <a:xfrm>
            <a:off x="7772400" y="4572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046720" y="4572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321040" y="4572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8595360" y="4572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8869680" y="4572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772400" y="73152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046720" y="73152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321040" y="73152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8595360" y="73152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8869680" y="73152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7772400" y="100584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8046720" y="100584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321040" y="100584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8595360" y="100584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8869680" y="100584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7772400" y="128016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8046720" y="128016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8321040" y="128016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8595360" y="128016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8869680" y="128016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772400" y="155448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8046720" y="155448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8321040" y="155448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8595360" y="155448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8869680" y="155448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7772400" y="18288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8046720" y="18288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8321040" y="18288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8595360" y="18288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8869680" y="1828800"/>
            <a:ext cx="54864" cy="54864"/>
          </a:xfrm>
          <a:prstGeom prst="ellipse">
            <a:avLst/>
          </a:prstGeom>
          <a:solidFill>
            <a:srgbClr val="0D9488">
              <a:alpha val="7843"/>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365760" y="1143000"/>
            <a:ext cx="2606040" cy="1234440"/>
          </a:xfrm>
          <a:prstGeom prst="rect">
            <a:avLst/>
          </a:prstGeom>
          <a:solidFill>
            <a:srgbClr val="161B22"/>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 name="Google Shape;68;p2"/>
          <p:cNvPicPr preferRelativeResize="0"/>
          <p:nvPr/>
        </p:nvPicPr>
        <p:blipFill rotWithShape="1">
          <a:blip r:embed="rId3">
            <a:alphaModFix/>
          </a:blip>
          <a:srcRect b="0" l="0" r="0" t="0"/>
          <a:stretch/>
        </p:blipFill>
        <p:spPr>
          <a:xfrm>
            <a:off x="548640" y="1261872"/>
            <a:ext cx="347472" cy="347472"/>
          </a:xfrm>
          <a:prstGeom prst="rect">
            <a:avLst/>
          </a:prstGeom>
          <a:noFill/>
          <a:ln>
            <a:noFill/>
          </a:ln>
        </p:spPr>
      </p:pic>
      <p:sp>
        <p:nvSpPr>
          <p:cNvPr id="69" name="Google Shape;69;p2"/>
          <p:cNvSpPr/>
          <p:nvPr/>
        </p:nvSpPr>
        <p:spPr>
          <a:xfrm>
            <a:off x="1005840" y="1207008"/>
            <a:ext cx="1828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3000"/>
              <a:buFont typeface="Trebuchet MS"/>
              <a:buNone/>
            </a:pPr>
            <a:r>
              <a:rPr b="1" i="0" lang="en-US" sz="3000" u="none" cap="none" strike="noStrike">
                <a:solidFill>
                  <a:srgbClr val="14B8A6"/>
                </a:solidFill>
                <a:latin typeface="Trebuchet MS"/>
                <a:ea typeface="Trebuchet MS"/>
                <a:cs typeface="Trebuchet MS"/>
                <a:sym typeface="Trebuchet MS"/>
              </a:rPr>
              <a:t>$</a:t>
            </a:r>
            <a:r>
              <a:rPr b="1" lang="en-US" sz="3000">
                <a:solidFill>
                  <a:srgbClr val="14B8A6"/>
                </a:solidFill>
                <a:latin typeface="Trebuchet MS"/>
                <a:ea typeface="Trebuchet MS"/>
                <a:cs typeface="Trebuchet MS"/>
                <a:sym typeface="Trebuchet MS"/>
              </a:rPr>
              <a:t>2.8</a:t>
            </a:r>
            <a:r>
              <a:rPr b="1" i="0" lang="en-US" sz="3000" u="none" cap="none" strike="noStrike">
                <a:solidFill>
                  <a:srgbClr val="14B8A6"/>
                </a:solidFill>
                <a:latin typeface="Trebuchet MS"/>
                <a:ea typeface="Trebuchet MS"/>
                <a:cs typeface="Trebuchet MS"/>
                <a:sym typeface="Trebuchet MS"/>
              </a:rPr>
              <a:t>B</a:t>
            </a:r>
            <a:endParaRPr b="0" i="0" sz="3000" u="none" cap="none" strike="noStrike">
              <a:solidFill>
                <a:schemeClr val="dk1"/>
              </a:solidFill>
              <a:latin typeface="Calibri"/>
              <a:ea typeface="Calibri"/>
              <a:cs typeface="Calibri"/>
              <a:sym typeface="Calibri"/>
            </a:endParaRPr>
          </a:p>
        </p:txBody>
      </p:sp>
      <p:sp>
        <p:nvSpPr>
          <p:cNvPr id="70" name="Google Shape;70;p2"/>
          <p:cNvSpPr/>
          <p:nvPr/>
        </p:nvSpPr>
        <p:spPr>
          <a:xfrm>
            <a:off x="548640" y="1719072"/>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Global Smart Water Bottle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Market (2025</a:t>
            </a:r>
            <a:endParaRPr b="0" i="0" sz="1000" u="none" cap="none" strike="noStrike">
              <a:solidFill>
                <a:schemeClr val="dk1"/>
              </a:solidFill>
              <a:latin typeface="Calibri"/>
              <a:ea typeface="Calibri"/>
              <a:cs typeface="Calibri"/>
              <a:sym typeface="Calibri"/>
            </a:endParaRPr>
          </a:p>
        </p:txBody>
      </p:sp>
      <p:sp>
        <p:nvSpPr>
          <p:cNvPr id="71" name="Google Shape;71;p2"/>
          <p:cNvSpPr/>
          <p:nvPr/>
        </p:nvSpPr>
        <p:spPr>
          <a:xfrm>
            <a:off x="3200400" y="1143000"/>
            <a:ext cx="2606040" cy="1234440"/>
          </a:xfrm>
          <a:prstGeom prst="rect">
            <a:avLst/>
          </a:prstGeom>
          <a:solidFill>
            <a:srgbClr val="161B22"/>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3840480" y="1207008"/>
            <a:ext cx="1828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3000"/>
              <a:buFont typeface="Trebuchet MS"/>
              <a:buNone/>
            </a:pPr>
            <a:r>
              <a:rPr b="1" i="0" lang="en-US" sz="3000" u="none" cap="none" strike="noStrike">
                <a:solidFill>
                  <a:srgbClr val="14B8A6"/>
                </a:solidFill>
                <a:latin typeface="Trebuchet MS"/>
                <a:ea typeface="Trebuchet MS"/>
                <a:cs typeface="Trebuchet MS"/>
                <a:sym typeface="Trebuchet MS"/>
              </a:rPr>
              <a:t>$</a:t>
            </a:r>
            <a:r>
              <a:rPr b="1" lang="en-US" sz="3000">
                <a:solidFill>
                  <a:srgbClr val="14B8A6"/>
                </a:solidFill>
                <a:latin typeface="Trebuchet MS"/>
                <a:ea typeface="Trebuchet MS"/>
                <a:cs typeface="Trebuchet MS"/>
                <a:sym typeface="Trebuchet MS"/>
              </a:rPr>
              <a:t>8.9B</a:t>
            </a:r>
            <a:endParaRPr b="0" i="0" sz="3000" u="none" cap="none" strike="noStrike">
              <a:solidFill>
                <a:schemeClr val="dk1"/>
              </a:solidFill>
              <a:latin typeface="Calibri"/>
              <a:ea typeface="Calibri"/>
              <a:cs typeface="Calibri"/>
              <a:sym typeface="Calibri"/>
            </a:endParaRPr>
          </a:p>
        </p:txBody>
      </p:sp>
      <p:sp>
        <p:nvSpPr>
          <p:cNvPr id="73" name="Google Shape;73;p2"/>
          <p:cNvSpPr/>
          <p:nvPr/>
        </p:nvSpPr>
        <p:spPr>
          <a:xfrm>
            <a:off x="3383280" y="1719072"/>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Projected Global Smart </a:t>
            </a:r>
            <a:r>
              <a:rPr lang="en-US" sz="1000">
                <a:solidFill>
                  <a:srgbClr val="94A3B8"/>
                </a:solidFill>
                <a:latin typeface="Calibri"/>
                <a:ea typeface="Calibri"/>
                <a:cs typeface="Calibri"/>
                <a:sym typeface="Calibri"/>
              </a:rPr>
              <a:t>Water</a:t>
            </a:r>
            <a:r>
              <a:rPr lang="en-US" sz="1000">
                <a:solidFill>
                  <a:srgbClr val="94A3B8"/>
                </a:solidFill>
                <a:latin typeface="Calibri"/>
                <a:ea typeface="Calibri"/>
                <a:cs typeface="Calibri"/>
                <a:sym typeface="Calibri"/>
              </a:rPr>
              <a:t> Bottle Market by 2036</a:t>
            </a:r>
            <a:endParaRPr b="0" i="0" sz="1000" u="none" cap="none" strike="noStrike">
              <a:solidFill>
                <a:schemeClr val="dk1"/>
              </a:solidFill>
              <a:latin typeface="Calibri"/>
              <a:ea typeface="Calibri"/>
              <a:cs typeface="Calibri"/>
              <a:sym typeface="Calibri"/>
            </a:endParaRPr>
          </a:p>
        </p:txBody>
      </p:sp>
      <p:sp>
        <p:nvSpPr>
          <p:cNvPr id="74" name="Google Shape;74;p2"/>
          <p:cNvSpPr/>
          <p:nvPr/>
        </p:nvSpPr>
        <p:spPr>
          <a:xfrm>
            <a:off x="6035040" y="1143000"/>
            <a:ext cx="2606040" cy="1234440"/>
          </a:xfrm>
          <a:prstGeom prst="rect">
            <a:avLst/>
          </a:prstGeom>
          <a:solidFill>
            <a:srgbClr val="161B22"/>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2"/>
          <p:cNvPicPr preferRelativeResize="0"/>
          <p:nvPr/>
        </p:nvPicPr>
        <p:blipFill rotWithShape="1">
          <a:blip r:embed="rId4">
            <a:alphaModFix/>
          </a:blip>
          <a:srcRect b="0" l="0" r="0" t="0"/>
          <a:stretch/>
        </p:blipFill>
        <p:spPr>
          <a:xfrm>
            <a:off x="6217920" y="1261872"/>
            <a:ext cx="347472" cy="347472"/>
          </a:xfrm>
          <a:prstGeom prst="rect">
            <a:avLst/>
          </a:prstGeom>
          <a:noFill/>
          <a:ln>
            <a:noFill/>
          </a:ln>
        </p:spPr>
      </p:pic>
      <p:sp>
        <p:nvSpPr>
          <p:cNvPr id="76" name="Google Shape;76;p2"/>
          <p:cNvSpPr/>
          <p:nvPr/>
        </p:nvSpPr>
        <p:spPr>
          <a:xfrm>
            <a:off x="6675120" y="1207008"/>
            <a:ext cx="1828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3000"/>
              <a:buFont typeface="Trebuchet MS"/>
              <a:buNone/>
            </a:pPr>
            <a:r>
              <a:rPr b="1" lang="en-US" sz="3000">
                <a:solidFill>
                  <a:srgbClr val="14B8A6"/>
                </a:solidFill>
                <a:latin typeface="Trebuchet MS"/>
                <a:ea typeface="Trebuchet MS"/>
                <a:cs typeface="Trebuchet MS"/>
                <a:sym typeface="Trebuchet MS"/>
              </a:rPr>
              <a:t>10.7%</a:t>
            </a:r>
            <a:endParaRPr b="0" i="0" sz="3000" u="none" cap="none" strike="noStrike">
              <a:solidFill>
                <a:schemeClr val="dk1"/>
              </a:solidFill>
              <a:latin typeface="Calibri"/>
              <a:ea typeface="Calibri"/>
              <a:cs typeface="Calibri"/>
              <a:sym typeface="Calibri"/>
            </a:endParaRPr>
          </a:p>
        </p:txBody>
      </p:sp>
      <p:sp>
        <p:nvSpPr>
          <p:cNvPr id="77" name="Google Shape;77;p2"/>
          <p:cNvSpPr/>
          <p:nvPr/>
        </p:nvSpPr>
        <p:spPr>
          <a:xfrm>
            <a:off x="6217920" y="1719072"/>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Compound Annual Growth Rate for the Global Smart Water Bottle Market</a:t>
            </a:r>
            <a:endParaRPr b="0" i="0" sz="1000" u="none" cap="none" strike="noStrike">
              <a:solidFill>
                <a:schemeClr val="dk1"/>
              </a:solidFill>
              <a:latin typeface="Calibri"/>
              <a:ea typeface="Calibri"/>
              <a:cs typeface="Calibri"/>
              <a:sym typeface="Calibri"/>
            </a:endParaRPr>
          </a:p>
        </p:txBody>
      </p:sp>
      <p:sp>
        <p:nvSpPr>
          <p:cNvPr id="78" name="Google Shape;78;p2"/>
          <p:cNvSpPr/>
          <p:nvPr/>
        </p:nvSpPr>
        <p:spPr>
          <a:xfrm>
            <a:off x="365750" y="2560326"/>
            <a:ext cx="4120800" cy="2341200"/>
          </a:xfrm>
          <a:prstGeom prst="rect">
            <a:avLst/>
          </a:prstGeom>
          <a:solidFill>
            <a:srgbClr val="161B22"/>
          </a:solidFill>
          <a:ln cap="flat" cmpd="sng" w="12700">
            <a:solidFill>
              <a:srgbClr val="21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548640" y="26517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300"/>
              <a:buFont typeface="Trebuchet MS"/>
              <a:buNone/>
            </a:pPr>
            <a:r>
              <a:rPr b="1" lang="en-US" sz="1300">
                <a:solidFill>
                  <a:srgbClr val="BAE6FD"/>
                </a:solidFill>
                <a:latin typeface="Trebuchet MS"/>
                <a:ea typeface="Trebuchet MS"/>
                <a:cs typeface="Trebuchet MS"/>
                <a:sym typeface="Trebuchet MS"/>
              </a:rPr>
              <a:t>Market Trends and Target Customers</a:t>
            </a:r>
            <a:endParaRPr b="0" i="0" sz="1300" u="none" cap="none" strike="noStrike">
              <a:solidFill>
                <a:schemeClr val="dk1"/>
              </a:solidFill>
              <a:latin typeface="Calibri"/>
              <a:ea typeface="Calibri"/>
              <a:cs typeface="Calibri"/>
              <a:sym typeface="Calibri"/>
            </a:endParaRPr>
          </a:p>
        </p:txBody>
      </p:sp>
      <p:pic>
        <p:nvPicPr>
          <p:cNvPr descr="preencoded.png" id="80" name="Google Shape;80;p2"/>
          <p:cNvPicPr preferRelativeResize="0"/>
          <p:nvPr/>
        </p:nvPicPr>
        <p:blipFill rotWithShape="1">
          <a:blip r:embed="rId5">
            <a:alphaModFix/>
          </a:blip>
          <a:srcRect b="0" l="0" r="0" t="0"/>
          <a:stretch/>
        </p:blipFill>
        <p:spPr>
          <a:xfrm>
            <a:off x="502920" y="3090672"/>
            <a:ext cx="201168" cy="201168"/>
          </a:xfrm>
          <a:prstGeom prst="rect">
            <a:avLst/>
          </a:prstGeom>
          <a:noFill/>
          <a:ln>
            <a:noFill/>
          </a:ln>
        </p:spPr>
      </p:pic>
      <p:sp>
        <p:nvSpPr>
          <p:cNvPr id="81" name="Google Shape;81;p2"/>
          <p:cNvSpPr/>
          <p:nvPr/>
        </p:nvSpPr>
        <p:spPr>
          <a:xfrm>
            <a:off x="777240" y="3054096"/>
            <a:ext cx="3566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Water bottle trends cycle every 2–3 years (Nalgene → HydroFlask → Stanley → Owala)(Driven</a:t>
            </a:r>
            <a:r>
              <a:rPr lang="en-US" sz="1000">
                <a:solidFill>
                  <a:srgbClr val="94A3B8"/>
                </a:solidFill>
                <a:latin typeface="Calibri"/>
                <a:ea typeface="Calibri"/>
                <a:cs typeface="Calibri"/>
                <a:sym typeface="Calibri"/>
              </a:rPr>
              <a:t> by Social Media/Influencers)</a:t>
            </a:r>
            <a:endParaRPr b="0" i="0" sz="1000" u="none" cap="none" strike="noStrike">
              <a:solidFill>
                <a:schemeClr val="dk1"/>
              </a:solidFill>
              <a:latin typeface="Calibri"/>
              <a:ea typeface="Calibri"/>
              <a:cs typeface="Calibri"/>
              <a:sym typeface="Calibri"/>
            </a:endParaRPr>
          </a:p>
        </p:txBody>
      </p:sp>
      <p:pic>
        <p:nvPicPr>
          <p:cNvPr descr="preencoded.png" id="82" name="Google Shape;82;p2"/>
          <p:cNvPicPr preferRelativeResize="0"/>
          <p:nvPr/>
        </p:nvPicPr>
        <p:blipFill rotWithShape="1">
          <a:blip r:embed="rId5">
            <a:alphaModFix/>
          </a:blip>
          <a:srcRect b="0" l="0" r="0" t="0"/>
          <a:stretch/>
        </p:blipFill>
        <p:spPr>
          <a:xfrm>
            <a:off x="502920" y="3474720"/>
            <a:ext cx="201168" cy="201168"/>
          </a:xfrm>
          <a:prstGeom prst="rect">
            <a:avLst/>
          </a:prstGeom>
          <a:noFill/>
          <a:ln>
            <a:noFill/>
          </a:ln>
        </p:spPr>
      </p:pic>
      <p:sp>
        <p:nvSpPr>
          <p:cNvPr id="83" name="Google Shape;83;p2"/>
          <p:cNvSpPr/>
          <p:nvPr/>
        </p:nvSpPr>
        <p:spPr>
          <a:xfrm>
            <a:off x="777240" y="3438144"/>
            <a:ext cx="3566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Target Customers: </a:t>
            </a:r>
            <a:r>
              <a:rPr lang="en-US" sz="1000">
                <a:solidFill>
                  <a:srgbClr val="94A3B8"/>
                </a:solidFill>
                <a:latin typeface="Calibri"/>
                <a:ea typeface="Calibri"/>
                <a:cs typeface="Calibri"/>
                <a:sym typeface="Calibri"/>
              </a:rPr>
              <a:t>Fitness</a:t>
            </a:r>
            <a:r>
              <a:rPr lang="en-US" sz="1000">
                <a:solidFill>
                  <a:srgbClr val="94A3B8"/>
                </a:solidFill>
                <a:latin typeface="Calibri"/>
                <a:ea typeface="Calibri"/>
                <a:cs typeface="Calibri"/>
                <a:sym typeface="Calibri"/>
              </a:rPr>
              <a:t> enthusiasts, office and remote workers, Gen Z and millenials (18-25), healthcare and medical Users</a:t>
            </a:r>
            <a:endParaRPr b="0" i="0" sz="1000" u="none" cap="none" strike="noStrike">
              <a:solidFill>
                <a:schemeClr val="dk1"/>
              </a:solidFill>
              <a:latin typeface="Calibri"/>
              <a:ea typeface="Calibri"/>
              <a:cs typeface="Calibri"/>
              <a:sym typeface="Calibri"/>
            </a:endParaRPr>
          </a:p>
        </p:txBody>
      </p:sp>
      <p:pic>
        <p:nvPicPr>
          <p:cNvPr descr="preencoded.png" id="84" name="Google Shape;84;p2"/>
          <p:cNvPicPr preferRelativeResize="0"/>
          <p:nvPr/>
        </p:nvPicPr>
        <p:blipFill rotWithShape="1">
          <a:blip r:embed="rId5">
            <a:alphaModFix/>
          </a:blip>
          <a:srcRect b="0" l="0" r="0" t="0"/>
          <a:stretch/>
        </p:blipFill>
        <p:spPr>
          <a:xfrm>
            <a:off x="502920" y="3858768"/>
            <a:ext cx="201168" cy="201168"/>
          </a:xfrm>
          <a:prstGeom prst="rect">
            <a:avLst/>
          </a:prstGeom>
          <a:noFill/>
          <a:ln>
            <a:noFill/>
          </a:ln>
        </p:spPr>
      </p:pic>
      <p:sp>
        <p:nvSpPr>
          <p:cNvPr id="85" name="Google Shape;85;p2"/>
          <p:cNvSpPr/>
          <p:nvPr/>
        </p:nvSpPr>
        <p:spPr>
          <a:xfrm>
            <a:off x="777240" y="3822192"/>
            <a:ext cx="3566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Wellness/Fitness culture are driving demand along with sustainability pushing reusable drinkware</a:t>
            </a:r>
            <a:endParaRPr b="0" i="0" sz="1000" u="none" cap="none" strike="noStrike">
              <a:solidFill>
                <a:schemeClr val="dk1"/>
              </a:solidFill>
              <a:latin typeface="Calibri"/>
              <a:ea typeface="Calibri"/>
              <a:cs typeface="Calibri"/>
              <a:sym typeface="Calibri"/>
            </a:endParaRPr>
          </a:p>
        </p:txBody>
      </p:sp>
      <p:pic>
        <p:nvPicPr>
          <p:cNvPr descr="preencoded.png" id="86" name="Google Shape;86;p2"/>
          <p:cNvPicPr preferRelativeResize="0"/>
          <p:nvPr/>
        </p:nvPicPr>
        <p:blipFill rotWithShape="1">
          <a:blip r:embed="rId5">
            <a:alphaModFix/>
          </a:blip>
          <a:srcRect b="0" l="0" r="0" t="0"/>
          <a:stretch/>
        </p:blipFill>
        <p:spPr>
          <a:xfrm>
            <a:off x="502920" y="4242816"/>
            <a:ext cx="201168" cy="201168"/>
          </a:xfrm>
          <a:prstGeom prst="rect">
            <a:avLst/>
          </a:prstGeom>
          <a:noFill/>
          <a:ln>
            <a:noFill/>
          </a:ln>
        </p:spPr>
      </p:pic>
      <p:sp>
        <p:nvSpPr>
          <p:cNvPr id="87" name="Google Shape;87;p2"/>
          <p:cNvSpPr/>
          <p:nvPr/>
        </p:nvSpPr>
        <p:spPr>
          <a:xfrm>
            <a:off x="777240" y="4206240"/>
            <a:ext cx="3566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Physical product reminders outperform digital alerts in behavior change studies</a:t>
            </a:r>
            <a:endParaRPr b="0" i="0" sz="1000" u="none" cap="none" strike="noStrike">
              <a:solidFill>
                <a:schemeClr val="dk1"/>
              </a:solidFill>
              <a:latin typeface="Calibri"/>
              <a:ea typeface="Calibri"/>
              <a:cs typeface="Calibri"/>
              <a:sym typeface="Calibri"/>
            </a:endParaRPr>
          </a:p>
        </p:txBody>
      </p:sp>
      <p:sp>
        <p:nvSpPr>
          <p:cNvPr id="88" name="Google Shape;88;p2"/>
          <p:cNvSpPr/>
          <p:nvPr/>
        </p:nvSpPr>
        <p:spPr>
          <a:xfrm>
            <a:off x="4754880" y="2560320"/>
            <a:ext cx="4023360" cy="2103120"/>
          </a:xfrm>
          <a:prstGeom prst="rect">
            <a:avLst/>
          </a:prstGeom>
          <a:solidFill>
            <a:srgbClr val="161B22"/>
          </a:solidFill>
          <a:ln cap="flat" cmpd="sng" w="12700">
            <a:solidFill>
              <a:srgbClr val="21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4937760" y="265176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300"/>
              <a:buFont typeface="Trebuchet MS"/>
              <a:buNone/>
            </a:pPr>
            <a:r>
              <a:rPr b="1" i="0" lang="en-US" sz="1300" u="none" cap="none" strike="noStrike">
                <a:solidFill>
                  <a:srgbClr val="BAE6FD"/>
                </a:solidFill>
                <a:latin typeface="Trebuchet MS"/>
                <a:ea typeface="Trebuchet MS"/>
                <a:cs typeface="Trebuchet MS"/>
                <a:sym typeface="Trebuchet MS"/>
              </a:rPr>
              <a:t>Competitor Landscape</a:t>
            </a:r>
            <a:endParaRPr b="0" i="0" sz="1300" u="none" cap="none" strike="noStrike">
              <a:solidFill>
                <a:schemeClr val="dk1"/>
              </a:solidFill>
              <a:latin typeface="Calibri"/>
              <a:ea typeface="Calibri"/>
              <a:cs typeface="Calibri"/>
              <a:sym typeface="Calibri"/>
            </a:endParaRPr>
          </a:p>
        </p:txBody>
      </p:sp>
      <p:graphicFrame>
        <p:nvGraphicFramePr>
          <p:cNvPr id="90" name="Google Shape;90;p2"/>
          <p:cNvGraphicFramePr/>
          <p:nvPr/>
        </p:nvGraphicFramePr>
        <p:xfrm>
          <a:off x="4800600" y="3017520"/>
          <a:ext cx="3000000" cy="3000000"/>
        </p:xfrm>
        <a:graphic>
          <a:graphicData uri="http://schemas.openxmlformats.org/drawingml/2006/table">
            <a:tbl>
              <a:tblPr>
                <a:noFill/>
                <a:tableStyleId>{4448D342-DFC0-491A-835A-FC63651FD996}</a:tableStyleId>
              </a:tblPr>
              <a:tblGrid>
                <a:gridCol w="1645925"/>
                <a:gridCol w="738425"/>
                <a:gridCol w="730850"/>
                <a:gridCol w="679550"/>
              </a:tblGrid>
              <a:tr h="310900">
                <a:tc>
                  <a:txBody>
                    <a:bodyPr/>
                    <a:lstStyle/>
                    <a:p>
                      <a:pPr indent="0" lvl="0" marL="0" marR="0" rtl="0" algn="l">
                        <a:spcBef>
                          <a:spcPts val="0"/>
                        </a:spcBef>
                        <a:spcAft>
                          <a:spcPts val="0"/>
                        </a:spcAft>
                        <a:buClr>
                          <a:srgbClr val="0D1117"/>
                        </a:buClr>
                        <a:buSzPts val="1000"/>
                        <a:buFont typeface="Calibri"/>
                        <a:buNone/>
                      </a:pPr>
                      <a:r>
                        <a:rPr b="1" lang="en-US" sz="1000" u="none" cap="none" strike="noStrike">
                          <a:solidFill>
                            <a:srgbClr val="0D1117"/>
                          </a:solidFill>
                          <a:latin typeface="Calibri"/>
                          <a:ea typeface="Calibri"/>
                          <a:cs typeface="Calibri"/>
                          <a:sym typeface="Calibri"/>
                        </a:rPr>
                        <a:t>Brand</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0D9488"/>
                    </a:solidFill>
                  </a:tcPr>
                </a:tc>
                <a:tc>
                  <a:txBody>
                    <a:bodyPr/>
                    <a:lstStyle/>
                    <a:p>
                      <a:pPr indent="0" lvl="0" marL="0" marR="0" rtl="0" algn="ctr">
                        <a:spcBef>
                          <a:spcPts val="0"/>
                        </a:spcBef>
                        <a:spcAft>
                          <a:spcPts val="0"/>
                        </a:spcAft>
                        <a:buClr>
                          <a:srgbClr val="0D1117"/>
                        </a:buClr>
                        <a:buSzPts val="1000"/>
                        <a:buFont typeface="Calibri"/>
                        <a:buNone/>
                      </a:pPr>
                      <a:r>
                        <a:rPr b="1" lang="en-US" sz="1000" u="none" cap="none" strike="noStrike">
                          <a:solidFill>
                            <a:srgbClr val="0D1117"/>
                          </a:solidFill>
                          <a:latin typeface="Calibri"/>
                          <a:ea typeface="Calibri"/>
                          <a:cs typeface="Calibri"/>
                          <a:sym typeface="Calibri"/>
                        </a:rPr>
                        <a:t>Reminder</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0D9488"/>
                    </a:solidFill>
                  </a:tcPr>
                </a:tc>
                <a:tc>
                  <a:txBody>
                    <a:bodyPr/>
                    <a:lstStyle/>
                    <a:p>
                      <a:pPr indent="0" lvl="0" marL="0" marR="0" rtl="0" algn="ctr">
                        <a:spcBef>
                          <a:spcPts val="0"/>
                        </a:spcBef>
                        <a:spcAft>
                          <a:spcPts val="0"/>
                        </a:spcAft>
                        <a:buClr>
                          <a:srgbClr val="0D1117"/>
                        </a:buClr>
                        <a:buSzPts val="1000"/>
                        <a:buFont typeface="Calibri"/>
                        <a:buNone/>
                      </a:pPr>
                      <a:r>
                        <a:rPr b="1" lang="en-US" sz="1000" u="none" cap="none" strike="noStrike">
                          <a:solidFill>
                            <a:srgbClr val="0D1117"/>
                          </a:solidFill>
                          <a:latin typeface="Calibri"/>
                          <a:ea typeface="Calibri"/>
                          <a:cs typeface="Calibri"/>
                          <a:sym typeface="Calibri"/>
                        </a:rPr>
                        <a:t>Tracker</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0D9488"/>
                    </a:solidFill>
                  </a:tcPr>
                </a:tc>
                <a:tc>
                  <a:txBody>
                    <a:bodyPr/>
                    <a:lstStyle/>
                    <a:p>
                      <a:pPr indent="0" lvl="0" marL="0" marR="0" rtl="0" algn="ctr">
                        <a:spcBef>
                          <a:spcPts val="0"/>
                        </a:spcBef>
                        <a:spcAft>
                          <a:spcPts val="0"/>
                        </a:spcAft>
                        <a:buClr>
                          <a:srgbClr val="0D1117"/>
                        </a:buClr>
                        <a:buSzPts val="1000"/>
                        <a:buFont typeface="Calibri"/>
                        <a:buNone/>
                      </a:pPr>
                      <a:r>
                        <a:rPr b="1" lang="en-US" sz="1000" u="none" cap="none" strike="noStrike">
                          <a:solidFill>
                            <a:srgbClr val="0D1117"/>
                          </a:solidFill>
                          <a:latin typeface="Calibri"/>
                          <a:ea typeface="Calibri"/>
                          <a:cs typeface="Calibri"/>
                          <a:sym typeface="Calibri"/>
                        </a:rPr>
                        <a:t>Physical Timer</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0D9488"/>
                    </a:solidFill>
                  </a:tcPr>
                </a:tc>
              </a:tr>
              <a:tr h="310900">
                <a:tc>
                  <a:txBody>
                    <a:bodyPr/>
                    <a:lstStyle/>
                    <a:p>
                      <a:pPr indent="0" lvl="0" marL="0" marR="0" rtl="0" algn="l">
                        <a:spcBef>
                          <a:spcPts val="0"/>
                        </a:spcBef>
                        <a:spcAft>
                          <a:spcPts val="0"/>
                        </a:spcAft>
                        <a:buClr>
                          <a:srgbClr val="F8FAFC"/>
                        </a:buClr>
                        <a:buSzPts val="1000"/>
                        <a:buFont typeface="Calibri"/>
                        <a:buNone/>
                      </a:pPr>
                      <a:r>
                        <a:rPr lang="en-US" sz="1000" u="none" cap="none" strike="noStrike">
                          <a:solidFill>
                            <a:srgbClr val="F8FAFC"/>
                          </a:solidFill>
                          <a:latin typeface="Calibri"/>
                          <a:ea typeface="Calibri"/>
                          <a:cs typeface="Calibri"/>
                          <a:sym typeface="Calibri"/>
                        </a:rPr>
                        <a:t>Owala (current)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EF4444"/>
                        </a:buClr>
                        <a:buSzPts val="1000"/>
                        <a:buFont typeface="Calibri"/>
                        <a:buNone/>
                      </a:pPr>
                      <a:r>
                        <a:rPr lang="en-US" sz="1000" u="none" cap="none" strike="noStrike">
                          <a:solidFill>
                            <a:srgbClr val="EF444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EF4444"/>
                        </a:buClr>
                        <a:buSzPts val="1000"/>
                        <a:buFont typeface="Calibri"/>
                        <a:buNone/>
                      </a:pPr>
                      <a:r>
                        <a:rPr lang="en-US" sz="1000" u="none" cap="none" strike="noStrike">
                          <a:solidFill>
                            <a:srgbClr val="EF444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EF4444"/>
                        </a:buClr>
                        <a:buSzPts val="1000"/>
                        <a:buFont typeface="Calibri"/>
                        <a:buNone/>
                      </a:pPr>
                      <a:r>
                        <a:rPr lang="en-US" sz="1000" u="none" cap="none" strike="noStrike">
                          <a:solidFill>
                            <a:srgbClr val="EF444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r>
              <a:tr h="310900">
                <a:tc>
                  <a:txBody>
                    <a:bodyPr/>
                    <a:lstStyle/>
                    <a:p>
                      <a:pPr indent="0" lvl="0" marL="0" marR="0" rtl="0" algn="l">
                        <a:spcBef>
                          <a:spcPts val="0"/>
                        </a:spcBef>
                        <a:spcAft>
                          <a:spcPts val="0"/>
                        </a:spcAft>
                        <a:buClr>
                          <a:srgbClr val="F8FAFC"/>
                        </a:buClr>
                        <a:buSzPts val="1000"/>
                        <a:buFont typeface="Calibri"/>
                        <a:buNone/>
                      </a:pPr>
                      <a:r>
                        <a:rPr lang="en-US" sz="1000" u="none" cap="none" strike="noStrike">
                          <a:solidFill>
                            <a:srgbClr val="F8FAFC"/>
                          </a:solidFill>
                          <a:latin typeface="Calibri"/>
                          <a:ea typeface="Calibri"/>
                          <a:cs typeface="Calibri"/>
                          <a:sym typeface="Calibri"/>
                        </a:rPr>
                        <a:t>HidrateSpark PRO 2</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F8FAFC"/>
                        </a:buClr>
                        <a:buSzPts val="1000"/>
                        <a:buFont typeface="Calibri"/>
                        <a:buNone/>
                      </a:pPr>
                      <a:r>
                        <a:rPr lang="en-US" sz="1000" u="none" cap="none" strike="noStrike">
                          <a:solidFill>
                            <a:srgbClr val="F8FAFC"/>
                          </a:solidFill>
                          <a:latin typeface="Calibri"/>
                          <a:ea typeface="Calibri"/>
                          <a:cs typeface="Calibri"/>
                          <a:sym typeface="Calibri"/>
                        </a:rPr>
                        <a:t>✓ App</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F8FAFC"/>
                        </a:buClr>
                        <a:buSzPts val="1000"/>
                        <a:buFont typeface="Calibri"/>
                        <a:buNone/>
                      </a:pPr>
                      <a:r>
                        <a:rPr lang="en-US" sz="1000" u="none" cap="none" strike="noStrike">
                          <a:solidFill>
                            <a:srgbClr val="F8FAFC"/>
                          </a:solidFill>
                          <a:latin typeface="Calibri"/>
                          <a:ea typeface="Calibri"/>
                          <a:cs typeface="Calibri"/>
                          <a:sym typeface="Calibri"/>
                        </a:rPr>
                        <a:t>✓ App</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EF4444"/>
                        </a:buClr>
                        <a:buSzPts val="1000"/>
                        <a:buFont typeface="Calibri"/>
                        <a:buNone/>
                      </a:pPr>
                      <a:r>
                        <a:rPr lang="en-US" sz="1000" u="none" cap="none" strike="noStrike">
                          <a:solidFill>
                            <a:srgbClr val="EF444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r>
              <a:tr h="310900">
                <a:tc>
                  <a:txBody>
                    <a:bodyPr/>
                    <a:lstStyle/>
                    <a:p>
                      <a:pPr indent="0" lvl="0" marL="0" marR="0" rtl="0" algn="l">
                        <a:spcBef>
                          <a:spcPts val="0"/>
                        </a:spcBef>
                        <a:spcAft>
                          <a:spcPts val="0"/>
                        </a:spcAft>
                        <a:buClr>
                          <a:srgbClr val="F8FAFC"/>
                        </a:buClr>
                        <a:buSzPts val="1000"/>
                        <a:buFont typeface="Calibri"/>
                        <a:buNone/>
                      </a:pPr>
                      <a:r>
                        <a:rPr lang="en-US" sz="1000" u="none" cap="none" strike="noStrike">
                          <a:solidFill>
                            <a:srgbClr val="F8FAFC"/>
                          </a:solidFill>
                          <a:latin typeface="Calibri"/>
                          <a:ea typeface="Calibri"/>
                          <a:cs typeface="Calibri"/>
                          <a:sym typeface="Calibri"/>
                        </a:rPr>
                        <a:t>LARQ Pure</a:t>
                      </a:r>
                      <a:r>
                        <a:rPr lang="en-US" sz="1000">
                          <a:solidFill>
                            <a:srgbClr val="F8FAFC"/>
                          </a:solidFill>
                          <a:latin typeface="Calibri"/>
                          <a:ea typeface="Calibri"/>
                          <a:cs typeface="Calibri"/>
                          <a:sym typeface="Calibri"/>
                        </a:rPr>
                        <a:t>Vis 2</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EF4444"/>
                        </a:buClr>
                        <a:buSzPts val="1000"/>
                        <a:buFont typeface="Calibri"/>
                        <a:buNone/>
                      </a:pPr>
                      <a:r>
                        <a:rPr lang="en-US" sz="1000" u="none" cap="none" strike="noStrike">
                          <a:solidFill>
                            <a:srgbClr val="EF444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EF4444"/>
                        </a:buClr>
                        <a:buSzPts val="1000"/>
                        <a:buFont typeface="Calibri"/>
                        <a:buNone/>
                      </a:pPr>
                      <a:r>
                        <a:rPr lang="en-US" sz="1000" u="none" cap="none" strike="noStrike">
                          <a:solidFill>
                            <a:srgbClr val="EF444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c>
                  <a:txBody>
                    <a:bodyPr/>
                    <a:lstStyle/>
                    <a:p>
                      <a:pPr indent="0" lvl="0" marL="0" marR="0" rtl="0" algn="ctr">
                        <a:spcBef>
                          <a:spcPts val="0"/>
                        </a:spcBef>
                        <a:spcAft>
                          <a:spcPts val="0"/>
                        </a:spcAft>
                        <a:buClr>
                          <a:srgbClr val="EF4444"/>
                        </a:buClr>
                        <a:buSzPts val="1000"/>
                        <a:buFont typeface="Calibri"/>
                        <a:buNone/>
                      </a:pPr>
                      <a:r>
                        <a:rPr lang="en-US" sz="1000" u="none" cap="none" strike="noStrike">
                          <a:solidFill>
                            <a:srgbClr val="EF444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61B22"/>
                    </a:solidFill>
                  </a:tcPr>
                </a:tc>
              </a:tr>
              <a:tr h="310900">
                <a:tc>
                  <a:txBody>
                    <a:bodyPr/>
                    <a:lstStyle/>
                    <a:p>
                      <a:pPr indent="0" lvl="0" marL="0" marR="0" rtl="0" algn="l">
                        <a:spcBef>
                          <a:spcPts val="0"/>
                        </a:spcBef>
                        <a:spcAft>
                          <a:spcPts val="0"/>
                        </a:spcAft>
                        <a:buClr>
                          <a:srgbClr val="5EEAD4"/>
                        </a:buClr>
                        <a:buSzPts val="1000"/>
                        <a:buFont typeface="Calibri"/>
                        <a:buNone/>
                      </a:pPr>
                      <a:r>
                        <a:rPr b="1" lang="en-US" sz="1000" u="none" cap="none" strike="noStrike">
                          <a:solidFill>
                            <a:srgbClr val="5EEAD4"/>
                          </a:solidFill>
                          <a:latin typeface="Calibri"/>
                          <a:ea typeface="Calibri"/>
                          <a:cs typeface="Calibri"/>
                          <a:sym typeface="Calibri"/>
                        </a:rPr>
                        <a:t>Water Timer ✦</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A3A35"/>
                    </a:solidFill>
                  </a:tcPr>
                </a:tc>
                <a:tc>
                  <a:txBody>
                    <a:bodyPr/>
                    <a:lstStyle/>
                    <a:p>
                      <a:pPr indent="0" lvl="0" marL="0" marR="0" rtl="0" algn="ctr">
                        <a:spcBef>
                          <a:spcPts val="0"/>
                        </a:spcBef>
                        <a:spcAft>
                          <a:spcPts val="0"/>
                        </a:spcAft>
                        <a:buClr>
                          <a:srgbClr val="5EEAD4"/>
                        </a:buClr>
                        <a:buSzPts val="1000"/>
                        <a:buFont typeface="Calibri"/>
                        <a:buNone/>
                      </a:pPr>
                      <a:r>
                        <a:rPr lang="en-US" sz="1000" u="none" cap="none" strike="noStrike">
                          <a:solidFill>
                            <a:srgbClr val="5EEAD4"/>
                          </a:solidFill>
                          <a:latin typeface="Calibri"/>
                          <a:ea typeface="Calibri"/>
                          <a:cs typeface="Calibri"/>
                          <a:sym typeface="Calibri"/>
                        </a:rPr>
                        <a:t>✓ Built-in</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A3A35"/>
                    </a:solidFill>
                  </a:tcPr>
                </a:tc>
                <a:tc>
                  <a:txBody>
                    <a:bodyPr/>
                    <a:lstStyle/>
                    <a:p>
                      <a:pPr indent="0" lvl="0" marL="0" marR="0" rtl="0" algn="ctr">
                        <a:spcBef>
                          <a:spcPts val="0"/>
                        </a:spcBef>
                        <a:spcAft>
                          <a:spcPts val="0"/>
                        </a:spcAft>
                        <a:buClr>
                          <a:srgbClr val="5EEAD4"/>
                        </a:buClr>
                        <a:buSzPts val="1000"/>
                        <a:buFont typeface="Calibri"/>
                        <a:buNone/>
                      </a:pPr>
                      <a:r>
                        <a:rPr lang="en-US" sz="1000" u="none" cap="none" strike="noStrike">
                          <a:solidFill>
                            <a:srgbClr val="5EEAD4"/>
                          </a:solidFill>
                          <a:latin typeface="Calibri"/>
                          <a:ea typeface="Calibri"/>
                          <a:cs typeface="Calibri"/>
                          <a:sym typeface="Calibri"/>
                        </a:rPr>
                        <a:t>✓ Built-in</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A3A35"/>
                    </a:solidFill>
                  </a:tcPr>
                </a:tc>
                <a:tc>
                  <a:txBody>
                    <a:bodyPr/>
                    <a:lstStyle/>
                    <a:p>
                      <a:pPr indent="0" lvl="0" marL="0" marR="0" rtl="0" algn="ctr">
                        <a:spcBef>
                          <a:spcPts val="0"/>
                        </a:spcBef>
                        <a:spcAft>
                          <a:spcPts val="0"/>
                        </a:spcAft>
                        <a:buClr>
                          <a:srgbClr val="5EEAD4"/>
                        </a:buClr>
                        <a:buSzPts val="1000"/>
                        <a:buFont typeface="Calibri"/>
                        <a:buNone/>
                      </a:pPr>
                      <a:r>
                        <a:rPr lang="en-US" sz="1000" u="none" cap="none" strike="noStrike">
                          <a:solidFill>
                            <a:srgbClr val="5EEAD4"/>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lnL cap="flat" cmpd="sng" w="9525">
                      <a:solidFill>
                        <a:srgbClr val="1E293B"/>
                      </a:solidFill>
                      <a:prstDash val="solid"/>
                      <a:round/>
                      <a:headEnd len="sm" w="sm" type="none"/>
                      <a:tailEnd len="sm" w="sm" type="none"/>
                    </a:lnL>
                    <a:lnR cap="flat" cmpd="sng" w="9525">
                      <a:solidFill>
                        <a:srgbClr val="1E293B"/>
                      </a:solidFill>
                      <a:prstDash val="solid"/>
                      <a:round/>
                      <a:headEnd len="sm" w="sm" type="none"/>
                      <a:tailEnd len="sm" w="sm" type="none"/>
                    </a:lnR>
                    <a:lnT cap="flat" cmpd="sng" w="9525">
                      <a:solidFill>
                        <a:srgbClr val="1E293B"/>
                      </a:solidFill>
                      <a:prstDash val="solid"/>
                      <a:round/>
                      <a:headEnd len="sm" w="sm" type="none"/>
                      <a:tailEnd len="sm" w="sm" type="none"/>
                    </a:lnT>
                    <a:lnB cap="flat" cmpd="sng" w="9525">
                      <a:solidFill>
                        <a:srgbClr val="1E293B"/>
                      </a:solidFill>
                      <a:prstDash val="solid"/>
                      <a:round/>
                      <a:headEnd len="sm" w="sm" type="none"/>
                      <a:tailEnd len="sm" w="sm" type="none"/>
                    </a:lnB>
                    <a:solidFill>
                      <a:srgbClr val="1A3A35"/>
                    </a:solidFill>
                  </a:tcPr>
                </a:tc>
              </a:tr>
            </a:tbl>
          </a:graphicData>
        </a:graphic>
      </p:graphicFrame>
      <p:pic>
        <p:nvPicPr>
          <p:cNvPr descr="preencoded.png" id="91" name="Google Shape;91;p2"/>
          <p:cNvPicPr preferRelativeResize="0"/>
          <p:nvPr/>
        </p:nvPicPr>
        <p:blipFill rotWithShape="1">
          <a:blip r:embed="rId5">
            <a:alphaModFix/>
          </a:blip>
          <a:srcRect b="0" l="0" r="0" t="0"/>
          <a:stretch/>
        </p:blipFill>
        <p:spPr>
          <a:xfrm>
            <a:off x="502920" y="4608566"/>
            <a:ext cx="201168" cy="201168"/>
          </a:xfrm>
          <a:prstGeom prst="rect">
            <a:avLst/>
          </a:prstGeom>
          <a:noFill/>
          <a:ln>
            <a:noFill/>
          </a:ln>
        </p:spPr>
      </p:pic>
      <p:sp>
        <p:nvSpPr>
          <p:cNvPr id="92" name="Google Shape;92;p2"/>
          <p:cNvSpPr/>
          <p:nvPr/>
        </p:nvSpPr>
        <p:spPr>
          <a:xfrm>
            <a:off x="777265" y="4544590"/>
            <a:ext cx="3566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lang="en-US" sz="1000">
                <a:solidFill>
                  <a:srgbClr val="94A3B8"/>
                </a:solidFill>
                <a:latin typeface="Calibri"/>
                <a:ea typeface="Calibri"/>
                <a:cs typeface="Calibri"/>
                <a:sym typeface="Calibri"/>
              </a:rPr>
              <a:t>North America = 39.6% market share and reminder feature usage is up 14% YoY</a:t>
            </a:r>
            <a:endParaRPr b="0" i="0" sz="1000" u="none" cap="none" strike="noStrike">
              <a:solidFill>
                <a:schemeClr val="dk1"/>
              </a:solidFill>
              <a:latin typeface="Calibri"/>
              <a:ea typeface="Calibri"/>
              <a:cs typeface="Calibri"/>
              <a:sym typeface="Calibri"/>
            </a:endParaRPr>
          </a:p>
        </p:txBody>
      </p:sp>
      <p:pic>
        <p:nvPicPr>
          <p:cNvPr id="93" name="Google Shape;93;p2"/>
          <p:cNvPicPr preferRelativeResize="0"/>
          <p:nvPr/>
        </p:nvPicPr>
        <p:blipFill>
          <a:blip r:embed="rId6">
            <a:alphaModFix/>
          </a:blip>
          <a:stretch>
            <a:fillRect/>
          </a:stretch>
        </p:blipFill>
        <p:spPr>
          <a:xfrm>
            <a:off x="3328412" y="1232283"/>
            <a:ext cx="457200" cy="45235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98" name="Shape 98"/>
        <p:cNvGrpSpPr/>
        <p:nvPr/>
      </p:nvGrpSpPr>
      <p:grpSpPr>
        <a:xfrm>
          <a:off x="0" y="0"/>
          <a:ext cx="0" cy="0"/>
          <a:chOff x="0" y="0"/>
          <a:chExt cx="0" cy="0"/>
        </a:xfrm>
      </p:grpSpPr>
      <p:sp>
        <p:nvSpPr>
          <p:cNvPr id="99" name="Google Shape;99;p3"/>
          <p:cNvSpPr/>
          <p:nvPr/>
        </p:nvSpPr>
        <p:spPr>
          <a:xfrm>
            <a:off x="0" y="0"/>
            <a:ext cx="9144000" cy="73152"/>
          </a:xfrm>
          <a:prstGeom prst="rect">
            <a:avLst/>
          </a:prstGeom>
          <a:solidFill>
            <a:srgbClr val="14B8A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457200" y="201175"/>
            <a:ext cx="8412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2800"/>
              <a:buFont typeface="Trebuchet MS"/>
              <a:buNone/>
            </a:pPr>
            <a:r>
              <a:rPr b="1" i="0" lang="en-US" sz="2800" u="none" cap="none" strike="noStrike">
                <a:solidFill>
                  <a:srgbClr val="F8FAFC"/>
                </a:solidFill>
                <a:latin typeface="Trebuchet MS"/>
                <a:ea typeface="Trebuchet MS"/>
                <a:cs typeface="Trebuchet MS"/>
                <a:sym typeface="Trebuchet MS"/>
              </a:rPr>
              <a:t>SWOT Analysis 											</a:t>
            </a:r>
            <a:r>
              <a:rPr b="1" lang="en-US" sz="1200">
                <a:solidFill>
                  <a:srgbClr val="B7B7B7"/>
                </a:solidFill>
                <a:latin typeface="Trebuchet MS"/>
                <a:ea typeface="Trebuchet MS"/>
                <a:cs typeface="Trebuchet MS"/>
                <a:sym typeface="Trebuchet MS"/>
              </a:rPr>
              <a:t>Anika Bandwar</a:t>
            </a:r>
            <a:endParaRPr b="0" i="0" sz="2800" u="none" cap="none" strike="noStrike">
              <a:solidFill>
                <a:schemeClr val="dk1"/>
              </a:solidFill>
              <a:latin typeface="Calibri"/>
              <a:ea typeface="Calibri"/>
              <a:cs typeface="Calibri"/>
              <a:sym typeface="Calibri"/>
            </a:endParaRPr>
          </a:p>
        </p:txBody>
      </p:sp>
      <p:sp>
        <p:nvSpPr>
          <p:cNvPr id="101" name="Google Shape;101;p3"/>
          <p:cNvSpPr/>
          <p:nvPr/>
        </p:nvSpPr>
        <p:spPr>
          <a:xfrm>
            <a:off x="457200" y="749800"/>
            <a:ext cx="8412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200"/>
              <a:buFont typeface="Calibri"/>
              <a:buNone/>
            </a:pPr>
            <a:r>
              <a:rPr b="0" i="1" lang="en-US" sz="1200" u="none" cap="none" strike="noStrike">
                <a:solidFill>
                  <a:srgbClr val="14B8A6"/>
                </a:solidFill>
                <a:latin typeface="Calibri"/>
                <a:ea typeface="Calibri"/>
                <a:cs typeface="Calibri"/>
                <a:sym typeface="Calibri"/>
              </a:rPr>
              <a:t>Strategic Assessment of Water Timer</a:t>
            </a:r>
            <a:endParaRPr b="0" i="0" sz="1200" u="none" cap="none" strike="noStrike">
              <a:solidFill>
                <a:schemeClr val="dk1"/>
              </a:solidFill>
              <a:latin typeface="Calibri"/>
              <a:ea typeface="Calibri"/>
              <a:cs typeface="Calibri"/>
              <a:sym typeface="Calibri"/>
            </a:endParaRPr>
          </a:p>
        </p:txBody>
      </p:sp>
      <p:sp>
        <p:nvSpPr>
          <p:cNvPr id="102" name="Google Shape;102;p3"/>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104" name="Google Shape;104;p3"/>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
        <p:nvSpPr>
          <p:cNvPr id="105" name="Google Shape;105;p3"/>
          <p:cNvSpPr/>
          <p:nvPr/>
        </p:nvSpPr>
        <p:spPr>
          <a:xfrm>
            <a:off x="274320" y="1143000"/>
            <a:ext cx="4160520" cy="1691640"/>
          </a:xfrm>
          <a:prstGeom prst="rect">
            <a:avLst/>
          </a:prstGeom>
          <a:solidFill>
            <a:srgbClr val="161B22"/>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274320" y="1143000"/>
            <a:ext cx="4160520" cy="320040"/>
          </a:xfrm>
          <a:prstGeom prst="rect">
            <a:avLst/>
          </a:prstGeom>
          <a:solidFill>
            <a:srgbClr val="0D9488">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3"/>
          <p:cNvPicPr preferRelativeResize="0"/>
          <p:nvPr/>
        </p:nvPicPr>
        <p:blipFill rotWithShape="1">
          <a:blip r:embed="rId3">
            <a:alphaModFix/>
          </a:blip>
          <a:srcRect b="0" l="0" r="0" t="0"/>
          <a:stretch/>
        </p:blipFill>
        <p:spPr>
          <a:xfrm>
            <a:off x="411480" y="1197864"/>
            <a:ext cx="219456" cy="219456"/>
          </a:xfrm>
          <a:prstGeom prst="rect">
            <a:avLst/>
          </a:prstGeom>
          <a:noFill/>
          <a:ln>
            <a:noFill/>
          </a:ln>
        </p:spPr>
      </p:pic>
      <p:sp>
        <p:nvSpPr>
          <p:cNvPr id="108" name="Google Shape;108;p3"/>
          <p:cNvSpPr/>
          <p:nvPr/>
        </p:nvSpPr>
        <p:spPr>
          <a:xfrm>
            <a:off x="713232" y="118872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Trebuchet MS"/>
              <a:buNone/>
            </a:pPr>
            <a:r>
              <a:rPr b="1" i="0" lang="en-US" sz="1300" u="none" cap="none" strike="noStrike">
                <a:solidFill>
                  <a:srgbClr val="0D9488"/>
                </a:solidFill>
                <a:latin typeface="Trebuchet MS"/>
                <a:ea typeface="Trebuchet MS"/>
                <a:cs typeface="Trebuchet MS"/>
                <a:sym typeface="Trebuchet MS"/>
              </a:rPr>
              <a:t>STRENGTHS</a:t>
            </a:r>
            <a:endParaRPr b="0" i="0" sz="1300" u="none" cap="none" strike="noStrike">
              <a:solidFill>
                <a:schemeClr val="dk1"/>
              </a:solidFill>
              <a:latin typeface="Calibri"/>
              <a:ea typeface="Calibri"/>
              <a:cs typeface="Calibri"/>
              <a:sym typeface="Calibri"/>
            </a:endParaRPr>
          </a:p>
        </p:txBody>
      </p:sp>
      <p:sp>
        <p:nvSpPr>
          <p:cNvPr id="109" name="Google Shape;109;p3"/>
          <p:cNvSpPr/>
          <p:nvPr/>
        </p:nvSpPr>
        <p:spPr>
          <a:xfrm>
            <a:off x="457200" y="1527048"/>
            <a:ext cx="3840480" cy="1234440"/>
          </a:xfrm>
          <a:prstGeom prst="rect">
            <a:avLst/>
          </a:prstGeom>
          <a:noFill/>
          <a:ln>
            <a:noFill/>
          </a:ln>
        </p:spPr>
        <p:txBody>
          <a:bodyPr anchorCtr="0" anchor="ctr" bIns="0" lIns="0" spcFirstLastPara="1" rIns="0" wrap="square" tIns="0">
            <a:noAutofit/>
          </a:bodyPr>
          <a:lstStyle/>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Established Owala brand equity and recognizable aesthetic</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Product differentiation through built-in hydration reminder functionality</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Greater convenience than app-based reminder alternatives</a:t>
            </a:r>
            <a:endParaRPr sz="1000">
              <a:solidFill>
                <a:srgbClr val="94A3B8"/>
              </a:solidFill>
              <a:latin typeface="Calibri"/>
              <a:ea typeface="Calibri"/>
              <a:cs typeface="Calibri"/>
              <a:sym typeface="Calibri"/>
            </a:endParaRPr>
          </a:p>
          <a:p>
            <a:pPr indent="-292100" lvl="0" marL="457200" marR="0" rtl="0" algn="l">
              <a:lnSpc>
                <a:spcPct val="115000"/>
              </a:lnSpc>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Blends form and function for a wellness-oriented consumer</a:t>
            </a:r>
            <a:endParaRPr sz="1000">
              <a:solidFill>
                <a:srgbClr val="94A3B8"/>
              </a:solidFill>
              <a:latin typeface="Calibri"/>
              <a:ea typeface="Calibri"/>
              <a:cs typeface="Calibri"/>
              <a:sym typeface="Calibri"/>
            </a:endParaRPr>
          </a:p>
        </p:txBody>
      </p:sp>
      <p:sp>
        <p:nvSpPr>
          <p:cNvPr id="110" name="Google Shape;110;p3"/>
          <p:cNvSpPr/>
          <p:nvPr/>
        </p:nvSpPr>
        <p:spPr>
          <a:xfrm>
            <a:off x="297228" y="2953650"/>
            <a:ext cx="4160400" cy="1691700"/>
          </a:xfrm>
          <a:prstGeom prst="rect">
            <a:avLst/>
          </a:prstGeom>
          <a:solidFill>
            <a:srgbClr val="161B22"/>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297228" y="2953650"/>
            <a:ext cx="4160400" cy="320100"/>
          </a:xfrm>
          <a:prstGeom prst="rect">
            <a:avLst/>
          </a:prstGeom>
          <a:solidFill>
            <a:srgbClr val="F59E0B">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3"/>
          <p:cNvPicPr preferRelativeResize="0"/>
          <p:nvPr/>
        </p:nvPicPr>
        <p:blipFill rotWithShape="1">
          <a:blip r:embed="rId4">
            <a:alphaModFix/>
          </a:blip>
          <a:srcRect b="0" l="0" r="0" t="0"/>
          <a:stretch/>
        </p:blipFill>
        <p:spPr>
          <a:xfrm>
            <a:off x="434388" y="3008514"/>
            <a:ext cx="219456" cy="219456"/>
          </a:xfrm>
          <a:prstGeom prst="rect">
            <a:avLst/>
          </a:prstGeom>
          <a:noFill/>
          <a:ln>
            <a:noFill/>
          </a:ln>
        </p:spPr>
      </p:pic>
      <p:sp>
        <p:nvSpPr>
          <p:cNvPr id="113" name="Google Shape;113;p3"/>
          <p:cNvSpPr/>
          <p:nvPr/>
        </p:nvSpPr>
        <p:spPr>
          <a:xfrm>
            <a:off x="736140" y="2999370"/>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Trebuchet MS"/>
              <a:buNone/>
            </a:pPr>
            <a:r>
              <a:rPr b="1" i="0" lang="en-US" sz="1300" u="none" cap="none" strike="noStrike">
                <a:solidFill>
                  <a:srgbClr val="F59E0B"/>
                </a:solidFill>
                <a:latin typeface="Trebuchet MS"/>
                <a:ea typeface="Trebuchet MS"/>
                <a:cs typeface="Trebuchet MS"/>
                <a:sym typeface="Trebuchet MS"/>
              </a:rPr>
              <a:t>WEAKNESSES</a:t>
            </a:r>
            <a:endParaRPr b="0" i="0" sz="1300" u="none" cap="none" strike="noStrike">
              <a:solidFill>
                <a:schemeClr val="dk1"/>
              </a:solidFill>
              <a:latin typeface="Calibri"/>
              <a:ea typeface="Calibri"/>
              <a:cs typeface="Calibri"/>
              <a:sym typeface="Calibri"/>
            </a:endParaRPr>
          </a:p>
        </p:txBody>
      </p:sp>
      <p:sp>
        <p:nvSpPr>
          <p:cNvPr id="114" name="Google Shape;114;p3"/>
          <p:cNvSpPr/>
          <p:nvPr/>
        </p:nvSpPr>
        <p:spPr>
          <a:xfrm>
            <a:off x="480108" y="3337698"/>
            <a:ext cx="3840600" cy="1234500"/>
          </a:xfrm>
          <a:prstGeom prst="rect">
            <a:avLst/>
          </a:prstGeom>
          <a:noFill/>
          <a:ln>
            <a:noFill/>
          </a:ln>
        </p:spPr>
        <p:txBody>
          <a:bodyPr anchorCtr="0" anchor="ctr" bIns="0" lIns="0" spcFirstLastPara="1" rIns="0" wrap="square" tIns="0">
            <a:noAutofit/>
          </a:bodyPr>
          <a:lstStyle/>
          <a:p>
            <a:pPr indent="-298450" lvl="0" marL="457200" rtl="0" algn="l">
              <a:lnSpc>
                <a:spcPct val="115000"/>
              </a:lnSpc>
              <a:spcBef>
                <a:spcPts val="1200"/>
              </a:spcBef>
              <a:spcAft>
                <a:spcPts val="0"/>
              </a:spcAft>
              <a:buClr>
                <a:srgbClr val="94A3B8"/>
              </a:buClr>
              <a:buSzPts val="1100"/>
              <a:buChar char="●"/>
            </a:pPr>
            <a:r>
              <a:rPr lang="en-US" sz="1000">
                <a:solidFill>
                  <a:srgbClr val="94A3B8"/>
                </a:solidFill>
                <a:latin typeface="Calibri"/>
                <a:ea typeface="Calibri"/>
                <a:cs typeface="Calibri"/>
                <a:sym typeface="Calibri"/>
              </a:rPr>
              <a:t>Increased manufacturing and retail cost due to added technology</a:t>
            </a:r>
            <a:endParaRPr sz="1000">
              <a:solidFill>
                <a:srgbClr val="94A3B8"/>
              </a:solidFill>
              <a:latin typeface="Calibri"/>
              <a:ea typeface="Calibri"/>
              <a:cs typeface="Calibri"/>
              <a:sym typeface="Calibri"/>
            </a:endParaRPr>
          </a:p>
          <a:p>
            <a:pPr indent="-298450" lvl="0" marL="457200" rtl="0" algn="l">
              <a:lnSpc>
                <a:spcPct val="115000"/>
              </a:lnSpc>
              <a:spcBef>
                <a:spcPts val="0"/>
              </a:spcBef>
              <a:spcAft>
                <a:spcPts val="0"/>
              </a:spcAft>
              <a:buClr>
                <a:srgbClr val="94A3B8"/>
              </a:buClr>
              <a:buSzPts val="1100"/>
              <a:buChar char="●"/>
            </a:pPr>
            <a:r>
              <a:rPr lang="en-US" sz="1000">
                <a:solidFill>
                  <a:srgbClr val="94A3B8"/>
                </a:solidFill>
                <a:latin typeface="Calibri"/>
                <a:ea typeface="Calibri"/>
                <a:cs typeface="Calibri"/>
                <a:sym typeface="Calibri"/>
              </a:rPr>
              <a:t>Potential maintenance concerns such as charging, durability, or technical failure</a:t>
            </a:r>
            <a:endParaRPr sz="1000">
              <a:solidFill>
                <a:srgbClr val="94A3B8"/>
              </a:solidFill>
              <a:latin typeface="Calibri"/>
              <a:ea typeface="Calibri"/>
              <a:cs typeface="Calibri"/>
              <a:sym typeface="Calibri"/>
            </a:endParaRPr>
          </a:p>
          <a:p>
            <a:pPr indent="-298450" lvl="0" marL="457200" rtl="0" algn="l">
              <a:lnSpc>
                <a:spcPct val="115000"/>
              </a:lnSpc>
              <a:spcBef>
                <a:spcPts val="0"/>
              </a:spcBef>
              <a:spcAft>
                <a:spcPts val="0"/>
              </a:spcAft>
              <a:buClr>
                <a:srgbClr val="94A3B8"/>
              </a:buClr>
              <a:buSzPts val="1100"/>
              <a:buChar char="●"/>
            </a:pPr>
            <a:r>
              <a:rPr lang="en-US" sz="1000">
                <a:solidFill>
                  <a:srgbClr val="94A3B8"/>
                </a:solidFill>
                <a:latin typeface="Calibri"/>
                <a:ea typeface="Calibri"/>
                <a:cs typeface="Calibri"/>
                <a:sym typeface="Calibri"/>
              </a:rPr>
              <a:t>More complex product offering than Owala’s standard bottles</a:t>
            </a:r>
            <a:endParaRPr sz="1000">
              <a:solidFill>
                <a:srgbClr val="94A3B8"/>
              </a:solidFill>
              <a:latin typeface="Calibri"/>
              <a:ea typeface="Calibri"/>
              <a:cs typeface="Calibri"/>
              <a:sym typeface="Calibri"/>
            </a:endParaRPr>
          </a:p>
          <a:p>
            <a:pPr indent="-298450" lvl="0" marL="457200" rtl="0" algn="l">
              <a:lnSpc>
                <a:spcPct val="115000"/>
              </a:lnSpc>
              <a:spcBef>
                <a:spcPts val="0"/>
              </a:spcBef>
              <a:spcAft>
                <a:spcPts val="0"/>
              </a:spcAft>
              <a:buClr>
                <a:srgbClr val="94A3B8"/>
              </a:buClr>
              <a:buSzPts val="1100"/>
              <a:buChar char="●"/>
            </a:pPr>
            <a:r>
              <a:rPr lang="en-US" sz="1000">
                <a:solidFill>
                  <a:srgbClr val="94A3B8"/>
                </a:solidFill>
                <a:latin typeface="Calibri"/>
                <a:ea typeface="Calibri"/>
                <a:cs typeface="Calibri"/>
                <a:sym typeface="Calibri"/>
              </a:rPr>
              <a:t>Uncertainty around long-term consumer adoption of the added feature</a:t>
            </a:r>
            <a:endParaRPr sz="1000">
              <a:solidFill>
                <a:srgbClr val="94A3B8"/>
              </a:solidFill>
              <a:latin typeface="Calibri"/>
              <a:ea typeface="Calibri"/>
              <a:cs typeface="Calibri"/>
              <a:sym typeface="Calibri"/>
            </a:endParaRPr>
          </a:p>
        </p:txBody>
      </p:sp>
      <p:sp>
        <p:nvSpPr>
          <p:cNvPr id="115" name="Google Shape;115;p3"/>
          <p:cNvSpPr/>
          <p:nvPr/>
        </p:nvSpPr>
        <p:spPr>
          <a:xfrm>
            <a:off x="4686358" y="1138331"/>
            <a:ext cx="4160400" cy="1691700"/>
          </a:xfrm>
          <a:prstGeom prst="rect">
            <a:avLst/>
          </a:prstGeom>
          <a:solidFill>
            <a:srgbClr val="161B22"/>
          </a:solidFill>
          <a:ln cap="flat" cmpd="sng" w="1905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4686358" y="1138331"/>
            <a:ext cx="4160400" cy="320100"/>
          </a:xfrm>
          <a:prstGeom prst="rect">
            <a:avLst/>
          </a:prstGeom>
          <a:solidFill>
            <a:srgbClr val="38BDF8">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3"/>
          <p:cNvPicPr preferRelativeResize="0"/>
          <p:nvPr/>
        </p:nvPicPr>
        <p:blipFill rotWithShape="1">
          <a:blip r:embed="rId5">
            <a:alphaModFix/>
          </a:blip>
          <a:srcRect b="0" l="0" r="0" t="0"/>
          <a:stretch/>
        </p:blipFill>
        <p:spPr>
          <a:xfrm>
            <a:off x="4823518" y="1193195"/>
            <a:ext cx="219456" cy="219456"/>
          </a:xfrm>
          <a:prstGeom prst="rect">
            <a:avLst/>
          </a:prstGeom>
          <a:noFill/>
          <a:ln>
            <a:noFill/>
          </a:ln>
        </p:spPr>
      </p:pic>
      <p:sp>
        <p:nvSpPr>
          <p:cNvPr id="118" name="Google Shape;118;p3"/>
          <p:cNvSpPr/>
          <p:nvPr/>
        </p:nvSpPr>
        <p:spPr>
          <a:xfrm>
            <a:off x="5125270" y="1184051"/>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1300"/>
              <a:buFont typeface="Trebuchet MS"/>
              <a:buNone/>
            </a:pPr>
            <a:r>
              <a:rPr b="1" i="0" lang="en-US" sz="1300" u="none" cap="none" strike="noStrike">
                <a:solidFill>
                  <a:srgbClr val="38BDF8"/>
                </a:solidFill>
                <a:latin typeface="Trebuchet MS"/>
                <a:ea typeface="Trebuchet MS"/>
                <a:cs typeface="Trebuchet MS"/>
                <a:sym typeface="Trebuchet MS"/>
              </a:rPr>
              <a:t>OPPORTUNITIES</a:t>
            </a:r>
            <a:endParaRPr b="0" i="0" sz="1300" u="none" cap="none" strike="noStrike">
              <a:solidFill>
                <a:schemeClr val="dk1"/>
              </a:solidFill>
              <a:latin typeface="Calibri"/>
              <a:ea typeface="Calibri"/>
              <a:cs typeface="Calibri"/>
              <a:sym typeface="Calibri"/>
            </a:endParaRPr>
          </a:p>
        </p:txBody>
      </p:sp>
      <p:sp>
        <p:nvSpPr>
          <p:cNvPr id="119" name="Google Shape;119;p3"/>
          <p:cNvSpPr/>
          <p:nvPr/>
        </p:nvSpPr>
        <p:spPr>
          <a:xfrm>
            <a:off x="4869238" y="1522379"/>
            <a:ext cx="3840600" cy="1234500"/>
          </a:xfrm>
          <a:prstGeom prst="rect">
            <a:avLst/>
          </a:prstGeom>
          <a:noFill/>
          <a:ln>
            <a:noFill/>
          </a:ln>
        </p:spPr>
        <p:txBody>
          <a:bodyPr anchorCtr="0" anchor="ctr" bIns="0" lIns="0" spcFirstLastPara="1" rIns="0" wrap="square" tIns="0">
            <a:noAutofit/>
          </a:bodyPr>
          <a:lstStyle/>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Expansion of the health-conscious and wellness-focused consumer market</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Increased popularity of products tied to habit formation and self-improvement</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Ability to capitalize on evolving reusable bottle trends</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External partnership and influencer marketing opportunities in fitness and wellness spaces</a:t>
            </a:r>
            <a:endParaRPr sz="1000">
              <a:solidFill>
                <a:srgbClr val="94A3B8"/>
              </a:solidFill>
              <a:latin typeface="Calibri"/>
              <a:ea typeface="Calibri"/>
              <a:cs typeface="Calibri"/>
              <a:sym typeface="Calibri"/>
            </a:endParaRPr>
          </a:p>
        </p:txBody>
      </p:sp>
      <p:sp>
        <p:nvSpPr>
          <p:cNvPr id="120" name="Google Shape;120;p3"/>
          <p:cNvSpPr/>
          <p:nvPr/>
        </p:nvSpPr>
        <p:spPr>
          <a:xfrm>
            <a:off x="4663440" y="2944368"/>
            <a:ext cx="4160520" cy="1691640"/>
          </a:xfrm>
          <a:prstGeom prst="rect">
            <a:avLst/>
          </a:prstGeom>
          <a:solidFill>
            <a:srgbClr val="161B22"/>
          </a:solid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4663440" y="2944368"/>
            <a:ext cx="4160520" cy="320040"/>
          </a:xfrm>
          <a:prstGeom prst="rect">
            <a:avLst/>
          </a:prstGeom>
          <a:solidFill>
            <a:srgbClr val="EF4444">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 name="Google Shape;122;p3"/>
          <p:cNvPicPr preferRelativeResize="0"/>
          <p:nvPr/>
        </p:nvPicPr>
        <p:blipFill rotWithShape="1">
          <a:blip r:embed="rId6">
            <a:alphaModFix/>
          </a:blip>
          <a:srcRect b="0" l="0" r="0" t="0"/>
          <a:stretch/>
        </p:blipFill>
        <p:spPr>
          <a:xfrm>
            <a:off x="4800600" y="2999232"/>
            <a:ext cx="219456" cy="219456"/>
          </a:xfrm>
          <a:prstGeom prst="rect">
            <a:avLst/>
          </a:prstGeom>
          <a:noFill/>
          <a:ln>
            <a:noFill/>
          </a:ln>
        </p:spPr>
      </p:pic>
      <p:sp>
        <p:nvSpPr>
          <p:cNvPr id="123" name="Google Shape;123;p3"/>
          <p:cNvSpPr/>
          <p:nvPr/>
        </p:nvSpPr>
        <p:spPr>
          <a:xfrm>
            <a:off x="5102352" y="299008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300"/>
              <a:buFont typeface="Trebuchet MS"/>
              <a:buNone/>
            </a:pPr>
            <a:r>
              <a:rPr b="1" i="0" lang="en-US" sz="1300" u="none" cap="none" strike="noStrike">
                <a:solidFill>
                  <a:srgbClr val="EF4444"/>
                </a:solidFill>
                <a:latin typeface="Trebuchet MS"/>
                <a:ea typeface="Trebuchet MS"/>
                <a:cs typeface="Trebuchet MS"/>
                <a:sym typeface="Trebuchet MS"/>
              </a:rPr>
              <a:t>THREATS</a:t>
            </a:r>
            <a:endParaRPr b="0" i="0" sz="1300" u="none" cap="none" strike="noStrike">
              <a:solidFill>
                <a:schemeClr val="dk1"/>
              </a:solidFill>
              <a:latin typeface="Calibri"/>
              <a:ea typeface="Calibri"/>
              <a:cs typeface="Calibri"/>
              <a:sym typeface="Calibri"/>
            </a:endParaRPr>
          </a:p>
        </p:txBody>
      </p:sp>
      <p:sp>
        <p:nvSpPr>
          <p:cNvPr id="124" name="Google Shape;124;p3"/>
          <p:cNvSpPr/>
          <p:nvPr/>
        </p:nvSpPr>
        <p:spPr>
          <a:xfrm>
            <a:off x="4846320" y="3328416"/>
            <a:ext cx="3840480" cy="1234440"/>
          </a:xfrm>
          <a:prstGeom prst="rect">
            <a:avLst/>
          </a:prstGeom>
          <a:noFill/>
          <a:ln>
            <a:noFill/>
          </a:ln>
        </p:spPr>
        <p:txBody>
          <a:bodyPr anchorCtr="0" anchor="ctr" bIns="0" lIns="0" spcFirstLastPara="1" rIns="0" wrap="square" tIns="0">
            <a:noAutofit/>
          </a:bodyPr>
          <a:lstStyle/>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Competitive pressure from existing bottle brands and substitute products</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Indirect competition from free digital hydration reminder tools</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Risk of feature imitation if the concept gains popularity</a:t>
            </a:r>
            <a:endParaRPr sz="1000">
              <a:solidFill>
                <a:srgbClr val="94A3B8"/>
              </a:solidFill>
              <a:latin typeface="Calibri"/>
              <a:ea typeface="Calibri"/>
              <a:cs typeface="Calibri"/>
              <a:sym typeface="Calibri"/>
            </a:endParaRPr>
          </a:p>
          <a:p>
            <a:pPr indent="-292100" lvl="0" marL="457200" rtl="0" algn="l">
              <a:spcBef>
                <a:spcPts val="0"/>
              </a:spcBef>
              <a:spcAft>
                <a:spcPts val="0"/>
              </a:spcAft>
              <a:buClr>
                <a:srgbClr val="94A3B8"/>
              </a:buClr>
              <a:buSzPts val="1000"/>
              <a:buFont typeface="Calibri"/>
              <a:buChar char="●"/>
            </a:pPr>
            <a:r>
              <a:rPr lang="en-US" sz="1000">
                <a:solidFill>
                  <a:srgbClr val="94A3B8"/>
                </a:solidFill>
                <a:latin typeface="Calibri"/>
                <a:ea typeface="Calibri"/>
                <a:cs typeface="Calibri"/>
                <a:sym typeface="Calibri"/>
              </a:rPr>
              <a:t>Consumer resistance to a premium-priced bottle in a crowded market</a:t>
            </a:r>
            <a:endParaRPr sz="1000">
              <a:solidFill>
                <a:srgbClr val="94A3B8"/>
              </a:solidFill>
              <a:latin typeface="Calibri"/>
              <a:ea typeface="Calibri"/>
              <a:cs typeface="Calibri"/>
              <a:sym typeface="Calibri"/>
            </a:endParaRPr>
          </a:p>
        </p:txBody>
      </p:sp>
      <p:sp>
        <p:nvSpPr>
          <p:cNvPr id="125" name="Google Shape;125;p3"/>
          <p:cNvSpPr/>
          <p:nvPr/>
        </p:nvSpPr>
        <p:spPr>
          <a:xfrm>
            <a:off x="4434840" y="1143000"/>
            <a:ext cx="274320" cy="3493008"/>
          </a:xfrm>
          <a:prstGeom prst="rect">
            <a:avLst/>
          </a:prstGeom>
          <a:solidFill>
            <a:srgbClr val="0D111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274320" y="2788920"/>
            <a:ext cx="8595360" cy="155448"/>
          </a:xfrm>
          <a:prstGeom prst="rect">
            <a:avLst/>
          </a:prstGeom>
          <a:solidFill>
            <a:srgbClr val="0D111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1954975" y="2725000"/>
            <a:ext cx="799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200"/>
              <a:buFont typeface="Calibri"/>
              <a:buNone/>
            </a:pPr>
            <a:r>
              <a:rPr b="1" lang="en-US" sz="1200">
                <a:solidFill>
                  <a:schemeClr val="lt1"/>
                </a:solidFill>
                <a:latin typeface="Calibri"/>
                <a:ea typeface="Calibri"/>
                <a:cs typeface="Calibri"/>
                <a:sym typeface="Calibri"/>
              </a:rPr>
              <a:t>INTERNAL</a:t>
            </a:r>
            <a:endParaRPr b="1" sz="1200" u="none" cap="none" strike="noStrike">
              <a:solidFill>
                <a:schemeClr val="lt1"/>
              </a:solidFill>
              <a:latin typeface="Calibri"/>
              <a:ea typeface="Calibri"/>
              <a:cs typeface="Calibri"/>
              <a:sym typeface="Calibri"/>
            </a:endParaRPr>
          </a:p>
        </p:txBody>
      </p:sp>
      <p:sp>
        <p:nvSpPr>
          <p:cNvPr id="128" name="Google Shape;128;p3"/>
          <p:cNvSpPr/>
          <p:nvPr/>
        </p:nvSpPr>
        <p:spPr>
          <a:xfrm>
            <a:off x="6462975" y="2725000"/>
            <a:ext cx="799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1200"/>
              <a:buFont typeface="Calibri"/>
              <a:buNone/>
            </a:pPr>
            <a:r>
              <a:rPr b="1" lang="en-US" sz="1200">
                <a:solidFill>
                  <a:schemeClr val="lt1"/>
                </a:solidFill>
                <a:latin typeface="Calibri"/>
                <a:ea typeface="Calibri"/>
                <a:cs typeface="Calibri"/>
                <a:sym typeface="Calibri"/>
              </a:rPr>
              <a:t>EX</a:t>
            </a:r>
            <a:r>
              <a:rPr b="1" lang="en-US" sz="1200">
                <a:solidFill>
                  <a:schemeClr val="lt1"/>
                </a:solidFill>
                <a:latin typeface="Calibri"/>
                <a:ea typeface="Calibri"/>
                <a:cs typeface="Calibri"/>
                <a:sym typeface="Calibri"/>
              </a:rPr>
              <a:t>TERNAL</a:t>
            </a:r>
            <a:endParaRPr b="1" sz="1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133" name="Shape 133"/>
        <p:cNvGrpSpPr/>
        <p:nvPr/>
      </p:nvGrpSpPr>
      <p:grpSpPr>
        <a:xfrm>
          <a:off x="0" y="0"/>
          <a:ext cx="0" cy="0"/>
          <a:chOff x="0" y="0"/>
          <a:chExt cx="0" cy="0"/>
        </a:xfrm>
      </p:grpSpPr>
      <p:sp>
        <p:nvSpPr>
          <p:cNvPr id="134" name="Google Shape;134;p4"/>
          <p:cNvSpPr/>
          <p:nvPr/>
        </p:nvSpPr>
        <p:spPr>
          <a:xfrm>
            <a:off x="0" y="0"/>
            <a:ext cx="9144000" cy="73152"/>
          </a:xfrm>
          <a:prstGeom prst="rect">
            <a:avLst/>
          </a:prstGeom>
          <a:solidFill>
            <a:srgbClr val="14B8A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457200" y="201168"/>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2800"/>
              <a:buFont typeface="Trebuchet MS"/>
              <a:buNone/>
            </a:pPr>
            <a:r>
              <a:rPr b="1" i="0" lang="en-US" sz="2800" u="none" cap="none" strike="noStrike">
                <a:solidFill>
                  <a:srgbClr val="F8FAFC"/>
                </a:solidFill>
                <a:latin typeface="Trebuchet MS"/>
                <a:ea typeface="Trebuchet MS"/>
                <a:cs typeface="Trebuchet MS"/>
                <a:sym typeface="Trebuchet MS"/>
              </a:rPr>
              <a:t>Segmentation, Targeting &amp; Positioning</a:t>
            </a:r>
            <a:r>
              <a:rPr b="1" lang="en-US" sz="2800">
                <a:solidFill>
                  <a:srgbClr val="F8FAFC"/>
                </a:solidFill>
                <a:latin typeface="Trebuchet MS"/>
                <a:ea typeface="Trebuchet MS"/>
                <a:cs typeface="Trebuchet MS"/>
                <a:sym typeface="Trebuchet MS"/>
              </a:rPr>
              <a:t> 	</a:t>
            </a:r>
            <a:r>
              <a:rPr b="1" lang="en-US" sz="2800">
                <a:solidFill>
                  <a:srgbClr val="F8FAFC"/>
                </a:solidFill>
                <a:latin typeface="Trebuchet MS"/>
                <a:ea typeface="Trebuchet MS"/>
                <a:cs typeface="Trebuchet MS"/>
                <a:sym typeface="Trebuchet MS"/>
              </a:rPr>
              <a:t>	</a:t>
            </a:r>
            <a:r>
              <a:rPr b="1" lang="en-US" sz="1200">
                <a:solidFill>
                  <a:srgbClr val="B7B7B7"/>
                </a:solidFill>
                <a:latin typeface="Trebuchet MS"/>
                <a:ea typeface="Trebuchet MS"/>
                <a:cs typeface="Trebuchet MS"/>
                <a:sym typeface="Trebuchet MS"/>
              </a:rPr>
              <a:t>Aditya Patel</a:t>
            </a:r>
            <a:endParaRPr b="1" sz="2800">
              <a:solidFill>
                <a:srgbClr val="F8FAFC"/>
              </a:solidFill>
              <a:latin typeface="Trebuchet MS"/>
              <a:ea typeface="Trebuchet MS"/>
              <a:cs typeface="Trebuchet MS"/>
              <a:sym typeface="Trebuchet MS"/>
            </a:endParaRPr>
          </a:p>
        </p:txBody>
      </p:sp>
      <p:sp>
        <p:nvSpPr>
          <p:cNvPr id="136" name="Google Shape;136;p4"/>
          <p:cNvSpPr/>
          <p:nvPr/>
        </p:nvSpPr>
        <p:spPr>
          <a:xfrm>
            <a:off x="45720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200"/>
              <a:buFont typeface="Calibri"/>
              <a:buNone/>
            </a:pPr>
            <a:r>
              <a:rPr b="0" i="1" lang="en-US" sz="1200" u="none" cap="none" strike="noStrike">
                <a:solidFill>
                  <a:srgbClr val="14B8A6"/>
                </a:solidFill>
                <a:latin typeface="Calibri"/>
                <a:ea typeface="Calibri"/>
                <a:cs typeface="Calibri"/>
                <a:sym typeface="Calibri"/>
              </a:rPr>
              <a:t>Who We Reach and How We Stand Out</a:t>
            </a:r>
            <a:endParaRPr b="0" i="0" sz="1200" u="none" cap="none" strike="noStrike">
              <a:solidFill>
                <a:schemeClr val="dk1"/>
              </a:solidFill>
              <a:latin typeface="Calibri"/>
              <a:ea typeface="Calibri"/>
              <a:cs typeface="Calibri"/>
              <a:sym typeface="Calibri"/>
            </a:endParaRPr>
          </a:p>
        </p:txBody>
      </p:sp>
      <p:sp>
        <p:nvSpPr>
          <p:cNvPr id="137" name="Google Shape;137;p4"/>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139" name="Google Shape;139;p4"/>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sp>
        <p:nvSpPr>
          <p:cNvPr id="140" name="Google Shape;140;p4"/>
          <p:cNvSpPr/>
          <p:nvPr/>
        </p:nvSpPr>
        <p:spPr>
          <a:xfrm>
            <a:off x="7772400" y="109728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8028432" y="109728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8284464" y="109728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8540496" y="109728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8796528" y="109728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7772400" y="135331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8028432" y="135331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8284464" y="135331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8540496" y="135331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8796528" y="135331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7772400" y="1609344"/>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8028432" y="1609344"/>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8284464" y="1609344"/>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8540496" y="1609344"/>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8796528" y="1609344"/>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7772400" y="1865376"/>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8028432" y="1865376"/>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8284464" y="1865376"/>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8540496" y="1865376"/>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8796528" y="1865376"/>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7772400" y="2121408"/>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8028432" y="2121408"/>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8284464" y="2121408"/>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8540496" y="2121408"/>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8796528" y="2121408"/>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p:nvPr/>
        </p:nvSpPr>
        <p:spPr>
          <a:xfrm>
            <a:off x="7772400" y="237744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8028432" y="237744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8284464" y="237744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8540496" y="237744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8796528" y="2377440"/>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7772400" y="263347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8028432" y="263347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8284464" y="263347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540496" y="263347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8796528" y="2633472"/>
            <a:ext cx="54864" cy="54864"/>
          </a:xfrm>
          <a:prstGeom prst="ellipse">
            <a:avLst/>
          </a:prstGeom>
          <a:solidFill>
            <a:srgbClr val="38BDF8">
              <a:alpha val="7843"/>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
          <p:cNvSpPr/>
          <p:nvPr/>
        </p:nvSpPr>
        <p:spPr>
          <a:xfrm>
            <a:off x="274320" y="1097280"/>
            <a:ext cx="4114800" cy="2560320"/>
          </a:xfrm>
          <a:prstGeom prst="rect">
            <a:avLst/>
          </a:prstGeom>
          <a:solidFill>
            <a:srgbClr val="161B22"/>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a:off x="457200" y="1170432"/>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300"/>
              <a:buFont typeface="Trebuchet MS"/>
              <a:buNone/>
            </a:pPr>
            <a:r>
              <a:rPr b="1" i="0" lang="en-US" sz="1300" u="none" cap="none" strike="noStrike">
                <a:solidFill>
                  <a:srgbClr val="14B8A6"/>
                </a:solidFill>
                <a:latin typeface="Trebuchet MS"/>
                <a:ea typeface="Trebuchet MS"/>
                <a:cs typeface="Trebuchet MS"/>
                <a:sym typeface="Trebuchet MS"/>
              </a:rPr>
              <a:t>SEGMENTATION</a:t>
            </a:r>
            <a:endParaRPr b="0" i="0" sz="1300" u="none" cap="none" strike="noStrike">
              <a:solidFill>
                <a:schemeClr val="dk1"/>
              </a:solidFill>
              <a:latin typeface="Calibri"/>
              <a:ea typeface="Calibri"/>
              <a:cs typeface="Calibri"/>
              <a:sym typeface="Calibri"/>
            </a:endParaRPr>
          </a:p>
        </p:txBody>
      </p:sp>
      <p:sp>
        <p:nvSpPr>
          <p:cNvPr id="177" name="Google Shape;177;p4"/>
          <p:cNvSpPr/>
          <p:nvPr/>
        </p:nvSpPr>
        <p:spPr>
          <a:xfrm>
            <a:off x="457200" y="157276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Calibri"/>
              <a:buNone/>
            </a:pPr>
            <a:r>
              <a:rPr b="1" i="0" lang="en-US" sz="1050" u="none" cap="none" strike="noStrike">
                <a:solidFill>
                  <a:srgbClr val="BAE6FD"/>
                </a:solidFill>
                <a:latin typeface="Calibri"/>
                <a:ea typeface="Calibri"/>
                <a:cs typeface="Calibri"/>
                <a:sym typeface="Calibri"/>
              </a:rPr>
              <a:t>Age: </a:t>
            </a:r>
            <a:r>
              <a:rPr b="0" i="0" lang="en-US" sz="1050" u="none" cap="none" strike="noStrike">
                <a:solidFill>
                  <a:srgbClr val="94A3B8"/>
                </a:solidFill>
                <a:latin typeface="Calibri"/>
                <a:ea typeface="Calibri"/>
                <a:cs typeface="Calibri"/>
                <a:sym typeface="Calibri"/>
              </a:rPr>
              <a:t>18–35 (Millennials &amp; Gen Z)</a:t>
            </a:r>
            <a:endParaRPr b="0" i="0" sz="1050" u="none" cap="none" strike="noStrike">
              <a:solidFill>
                <a:schemeClr val="dk1"/>
              </a:solidFill>
              <a:latin typeface="Calibri"/>
              <a:ea typeface="Calibri"/>
              <a:cs typeface="Calibri"/>
              <a:sym typeface="Calibri"/>
            </a:endParaRPr>
          </a:p>
        </p:txBody>
      </p:sp>
      <p:sp>
        <p:nvSpPr>
          <p:cNvPr id="178" name="Google Shape;178;p4"/>
          <p:cNvSpPr/>
          <p:nvPr/>
        </p:nvSpPr>
        <p:spPr>
          <a:xfrm>
            <a:off x="457200" y="196596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Calibri"/>
              <a:buNone/>
            </a:pPr>
            <a:r>
              <a:rPr b="1" i="0" lang="en-US" sz="1050" u="none" cap="none" strike="noStrike">
                <a:solidFill>
                  <a:srgbClr val="BAE6FD"/>
                </a:solidFill>
                <a:latin typeface="Calibri"/>
                <a:ea typeface="Calibri"/>
                <a:cs typeface="Calibri"/>
                <a:sym typeface="Calibri"/>
              </a:rPr>
              <a:t>Lifestyle: </a:t>
            </a:r>
            <a:r>
              <a:rPr b="0" i="0" lang="en-US" sz="1050" u="none" cap="none" strike="noStrike">
                <a:solidFill>
                  <a:srgbClr val="94A3B8"/>
                </a:solidFill>
                <a:latin typeface="Calibri"/>
                <a:ea typeface="Calibri"/>
                <a:cs typeface="Calibri"/>
                <a:sym typeface="Calibri"/>
              </a:rPr>
              <a:t>Health-conscious, gym-goers, remote workers</a:t>
            </a:r>
            <a:endParaRPr b="0" i="0" sz="1050" u="none" cap="none" strike="noStrike">
              <a:solidFill>
                <a:schemeClr val="dk1"/>
              </a:solidFill>
              <a:latin typeface="Calibri"/>
              <a:ea typeface="Calibri"/>
              <a:cs typeface="Calibri"/>
              <a:sym typeface="Calibri"/>
            </a:endParaRPr>
          </a:p>
        </p:txBody>
      </p:sp>
      <p:sp>
        <p:nvSpPr>
          <p:cNvPr id="179" name="Google Shape;179;p4"/>
          <p:cNvSpPr/>
          <p:nvPr/>
        </p:nvSpPr>
        <p:spPr>
          <a:xfrm>
            <a:off x="457200" y="2359152"/>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Calibri"/>
              <a:buNone/>
            </a:pPr>
            <a:r>
              <a:rPr b="1" i="0" lang="en-US" sz="1050" u="none" cap="none" strike="noStrike">
                <a:solidFill>
                  <a:srgbClr val="BAE6FD"/>
                </a:solidFill>
                <a:latin typeface="Calibri"/>
                <a:ea typeface="Calibri"/>
                <a:cs typeface="Calibri"/>
                <a:sym typeface="Calibri"/>
              </a:rPr>
              <a:t>Behavior: </a:t>
            </a:r>
            <a:r>
              <a:rPr b="0" i="0" lang="en-US" sz="1050" u="none" cap="none" strike="noStrike">
                <a:solidFill>
                  <a:srgbClr val="94A3B8"/>
                </a:solidFill>
                <a:latin typeface="Calibri"/>
                <a:ea typeface="Calibri"/>
                <a:cs typeface="Calibri"/>
                <a:sym typeface="Calibri"/>
              </a:rPr>
              <a:t>Frequent water bottle users, wellness app users</a:t>
            </a:r>
            <a:endParaRPr b="0" i="0" sz="1050" u="none" cap="none" strike="noStrike">
              <a:solidFill>
                <a:schemeClr val="dk1"/>
              </a:solidFill>
              <a:latin typeface="Calibri"/>
              <a:ea typeface="Calibri"/>
              <a:cs typeface="Calibri"/>
              <a:sym typeface="Calibri"/>
            </a:endParaRPr>
          </a:p>
        </p:txBody>
      </p:sp>
      <p:sp>
        <p:nvSpPr>
          <p:cNvPr id="180" name="Google Shape;180;p4"/>
          <p:cNvSpPr/>
          <p:nvPr/>
        </p:nvSpPr>
        <p:spPr>
          <a:xfrm>
            <a:off x="457200" y="2752344"/>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Calibri"/>
              <a:buNone/>
            </a:pPr>
            <a:r>
              <a:rPr b="1" i="0" lang="en-US" sz="1050" u="none" cap="none" strike="noStrike">
                <a:solidFill>
                  <a:srgbClr val="BAE6FD"/>
                </a:solidFill>
                <a:latin typeface="Calibri"/>
                <a:ea typeface="Calibri"/>
                <a:cs typeface="Calibri"/>
                <a:sym typeface="Calibri"/>
              </a:rPr>
              <a:t>Income: </a:t>
            </a:r>
            <a:r>
              <a:rPr b="0" i="0" lang="en-US" sz="1050" u="none" cap="none" strike="noStrike">
                <a:solidFill>
                  <a:srgbClr val="94A3B8"/>
                </a:solidFill>
                <a:latin typeface="Calibri"/>
                <a:ea typeface="Calibri"/>
                <a:cs typeface="Calibri"/>
                <a:sym typeface="Calibri"/>
              </a:rPr>
              <a:t>Mid to upper — $40K+ household</a:t>
            </a:r>
            <a:endParaRPr b="0" i="0" sz="1050" u="none" cap="none" strike="noStrike">
              <a:solidFill>
                <a:schemeClr val="dk1"/>
              </a:solidFill>
              <a:latin typeface="Calibri"/>
              <a:ea typeface="Calibri"/>
              <a:cs typeface="Calibri"/>
              <a:sym typeface="Calibri"/>
            </a:endParaRPr>
          </a:p>
        </p:txBody>
      </p:sp>
      <p:sp>
        <p:nvSpPr>
          <p:cNvPr id="181" name="Google Shape;181;p4"/>
          <p:cNvSpPr/>
          <p:nvPr/>
        </p:nvSpPr>
        <p:spPr>
          <a:xfrm>
            <a:off x="457200" y="3145536"/>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Calibri"/>
              <a:buNone/>
            </a:pPr>
            <a:r>
              <a:rPr b="1" i="0" lang="en-US" sz="1050" u="none" cap="none" strike="noStrike">
                <a:solidFill>
                  <a:srgbClr val="BAE6FD"/>
                </a:solidFill>
                <a:latin typeface="Calibri"/>
                <a:ea typeface="Calibri"/>
                <a:cs typeface="Calibri"/>
                <a:sym typeface="Calibri"/>
              </a:rPr>
              <a:t>Values: </a:t>
            </a:r>
            <a:r>
              <a:rPr b="0" i="0" lang="en-US" sz="1050" u="none" cap="none" strike="noStrike">
                <a:solidFill>
                  <a:srgbClr val="94A3B8"/>
                </a:solidFill>
                <a:latin typeface="Calibri"/>
                <a:ea typeface="Calibri"/>
                <a:cs typeface="Calibri"/>
                <a:sym typeface="Calibri"/>
              </a:rPr>
              <a:t>Sustainability, self-improvement, routines</a:t>
            </a:r>
            <a:endParaRPr b="0" i="0" sz="1050" u="none" cap="none" strike="noStrike">
              <a:solidFill>
                <a:schemeClr val="dk1"/>
              </a:solidFill>
              <a:latin typeface="Calibri"/>
              <a:ea typeface="Calibri"/>
              <a:cs typeface="Calibri"/>
              <a:sym typeface="Calibri"/>
            </a:endParaRPr>
          </a:p>
        </p:txBody>
      </p:sp>
      <p:sp>
        <p:nvSpPr>
          <p:cNvPr id="182" name="Google Shape;182;p4"/>
          <p:cNvSpPr/>
          <p:nvPr/>
        </p:nvSpPr>
        <p:spPr>
          <a:xfrm>
            <a:off x="4617720" y="1097280"/>
            <a:ext cx="4206240" cy="1828800"/>
          </a:xfrm>
          <a:prstGeom prst="rect">
            <a:avLst/>
          </a:prstGeom>
          <a:solidFill>
            <a:srgbClr val="1A2F3A"/>
          </a:solidFill>
          <a:ln cap="flat" cmpd="sng" w="1905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
          <p:cNvSpPr/>
          <p:nvPr/>
        </p:nvSpPr>
        <p:spPr>
          <a:xfrm>
            <a:off x="4617720" y="1097280"/>
            <a:ext cx="4206240" cy="320040"/>
          </a:xfrm>
          <a:prstGeom prst="rect">
            <a:avLst/>
          </a:prstGeom>
          <a:solidFill>
            <a:srgbClr val="38BDF8">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4" name="Google Shape;184;p4"/>
          <p:cNvPicPr preferRelativeResize="0"/>
          <p:nvPr/>
        </p:nvPicPr>
        <p:blipFill rotWithShape="1">
          <a:blip r:embed="rId3">
            <a:alphaModFix/>
          </a:blip>
          <a:srcRect b="0" l="0" r="0" t="0"/>
          <a:stretch/>
        </p:blipFill>
        <p:spPr>
          <a:xfrm>
            <a:off x="4736592" y="1152144"/>
            <a:ext cx="219456" cy="219456"/>
          </a:xfrm>
          <a:prstGeom prst="rect">
            <a:avLst/>
          </a:prstGeom>
          <a:noFill/>
          <a:ln>
            <a:noFill/>
          </a:ln>
        </p:spPr>
      </p:pic>
      <p:sp>
        <p:nvSpPr>
          <p:cNvPr id="185" name="Google Shape;185;p4"/>
          <p:cNvSpPr/>
          <p:nvPr/>
        </p:nvSpPr>
        <p:spPr>
          <a:xfrm>
            <a:off x="5029200" y="1161288"/>
            <a:ext cx="3657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1200"/>
              <a:buFont typeface="Trebuchet MS"/>
              <a:buNone/>
            </a:pPr>
            <a:r>
              <a:rPr b="1" i="0" lang="en-US" sz="1200" u="none" cap="none" strike="noStrike">
                <a:solidFill>
                  <a:srgbClr val="38BDF8"/>
                </a:solidFill>
                <a:latin typeface="Trebuchet MS"/>
                <a:ea typeface="Trebuchet MS"/>
                <a:cs typeface="Trebuchet MS"/>
                <a:sym typeface="Trebuchet MS"/>
              </a:rPr>
              <a:t>TARGET AUDIENCE</a:t>
            </a:r>
            <a:endParaRPr b="0" i="0" sz="1200" u="none" cap="none" strike="noStrike">
              <a:solidFill>
                <a:schemeClr val="dk1"/>
              </a:solidFill>
              <a:latin typeface="Calibri"/>
              <a:ea typeface="Calibri"/>
              <a:cs typeface="Calibri"/>
              <a:sym typeface="Calibri"/>
            </a:endParaRPr>
          </a:p>
        </p:txBody>
      </p:sp>
      <p:sp>
        <p:nvSpPr>
          <p:cNvPr id="186" name="Google Shape;186;p4"/>
          <p:cNvSpPr/>
          <p:nvPr/>
        </p:nvSpPr>
        <p:spPr>
          <a:xfrm>
            <a:off x="4709160" y="150876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600"/>
              <a:buFont typeface="Trebuchet MS"/>
              <a:buNone/>
            </a:pPr>
            <a:r>
              <a:rPr b="1" i="1" lang="en-US" sz="1600" u="none" cap="none" strike="noStrike">
                <a:solidFill>
                  <a:srgbClr val="BAE6FD"/>
                </a:solidFill>
                <a:latin typeface="Trebuchet MS"/>
                <a:ea typeface="Trebuchet MS"/>
                <a:cs typeface="Trebuchet MS"/>
                <a:sym typeface="Trebuchet MS"/>
              </a:rPr>
              <a:t>"The Wellness Optimizer"</a:t>
            </a:r>
            <a:endParaRPr b="0" i="0" sz="1600" u="none" cap="none" strike="noStrike">
              <a:solidFill>
                <a:schemeClr val="dk1"/>
              </a:solidFill>
              <a:latin typeface="Calibri"/>
              <a:ea typeface="Calibri"/>
              <a:cs typeface="Calibri"/>
              <a:sym typeface="Calibri"/>
            </a:endParaRPr>
          </a:p>
        </p:txBody>
      </p:sp>
      <p:pic>
        <p:nvPicPr>
          <p:cNvPr descr="preencoded.png" id="187" name="Google Shape;187;p4"/>
          <p:cNvPicPr preferRelativeResize="0"/>
          <p:nvPr/>
        </p:nvPicPr>
        <p:blipFill rotWithShape="1">
          <a:blip r:embed="rId4">
            <a:alphaModFix/>
          </a:blip>
          <a:srcRect b="0" l="0" r="0" t="0"/>
          <a:stretch/>
        </p:blipFill>
        <p:spPr>
          <a:xfrm>
            <a:off x="4709160" y="1920240"/>
            <a:ext cx="164592" cy="164592"/>
          </a:xfrm>
          <a:prstGeom prst="rect">
            <a:avLst/>
          </a:prstGeom>
          <a:noFill/>
          <a:ln>
            <a:noFill/>
          </a:ln>
        </p:spPr>
      </p:pic>
      <p:sp>
        <p:nvSpPr>
          <p:cNvPr id="188" name="Google Shape;188;p4"/>
          <p:cNvSpPr/>
          <p:nvPr/>
        </p:nvSpPr>
        <p:spPr>
          <a:xfrm>
            <a:off x="4956048" y="1901952"/>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Age 22–34, active lifestyle, sets daily health goals</a:t>
            </a:r>
            <a:endParaRPr b="0" i="0" sz="1000" u="none" cap="none" strike="noStrike">
              <a:solidFill>
                <a:schemeClr val="dk1"/>
              </a:solidFill>
              <a:latin typeface="Calibri"/>
              <a:ea typeface="Calibri"/>
              <a:cs typeface="Calibri"/>
              <a:sym typeface="Calibri"/>
            </a:endParaRPr>
          </a:p>
        </p:txBody>
      </p:sp>
      <p:pic>
        <p:nvPicPr>
          <p:cNvPr descr="preencoded.png" id="189" name="Google Shape;189;p4"/>
          <p:cNvPicPr preferRelativeResize="0"/>
          <p:nvPr/>
        </p:nvPicPr>
        <p:blipFill rotWithShape="1">
          <a:blip r:embed="rId4">
            <a:alphaModFix/>
          </a:blip>
          <a:srcRect b="0" l="0" r="0" t="0"/>
          <a:stretch/>
        </p:blipFill>
        <p:spPr>
          <a:xfrm>
            <a:off x="4709160" y="2176272"/>
            <a:ext cx="164592" cy="164592"/>
          </a:xfrm>
          <a:prstGeom prst="rect">
            <a:avLst/>
          </a:prstGeom>
          <a:noFill/>
          <a:ln>
            <a:noFill/>
          </a:ln>
        </p:spPr>
      </p:pic>
      <p:sp>
        <p:nvSpPr>
          <p:cNvPr id="190" name="Google Shape;190;p4"/>
          <p:cNvSpPr/>
          <p:nvPr/>
        </p:nvSpPr>
        <p:spPr>
          <a:xfrm>
            <a:off x="4956048" y="2157984"/>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Already owns a water bottle but wants smarter habits</a:t>
            </a:r>
            <a:endParaRPr b="0" i="0" sz="1000" u="none" cap="none" strike="noStrike">
              <a:solidFill>
                <a:schemeClr val="dk1"/>
              </a:solidFill>
              <a:latin typeface="Calibri"/>
              <a:ea typeface="Calibri"/>
              <a:cs typeface="Calibri"/>
              <a:sym typeface="Calibri"/>
            </a:endParaRPr>
          </a:p>
        </p:txBody>
      </p:sp>
      <p:pic>
        <p:nvPicPr>
          <p:cNvPr descr="preencoded.png" id="191" name="Google Shape;191;p4"/>
          <p:cNvPicPr preferRelativeResize="0"/>
          <p:nvPr/>
        </p:nvPicPr>
        <p:blipFill rotWithShape="1">
          <a:blip r:embed="rId4">
            <a:alphaModFix/>
          </a:blip>
          <a:srcRect b="0" l="0" r="0" t="0"/>
          <a:stretch/>
        </p:blipFill>
        <p:spPr>
          <a:xfrm>
            <a:off x="4709160" y="2432304"/>
            <a:ext cx="164592" cy="164592"/>
          </a:xfrm>
          <a:prstGeom prst="rect">
            <a:avLst/>
          </a:prstGeom>
          <a:noFill/>
          <a:ln>
            <a:noFill/>
          </a:ln>
        </p:spPr>
      </p:pic>
      <p:sp>
        <p:nvSpPr>
          <p:cNvPr id="192" name="Google Shape;192;p4"/>
          <p:cNvSpPr/>
          <p:nvPr/>
        </p:nvSpPr>
        <p:spPr>
          <a:xfrm>
            <a:off x="4956048" y="2414016"/>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Frustrated by notification overload from hydration apps</a:t>
            </a:r>
            <a:endParaRPr b="0" i="0" sz="1000" u="none" cap="none" strike="noStrike">
              <a:solidFill>
                <a:schemeClr val="dk1"/>
              </a:solidFill>
              <a:latin typeface="Calibri"/>
              <a:ea typeface="Calibri"/>
              <a:cs typeface="Calibri"/>
              <a:sym typeface="Calibri"/>
            </a:endParaRPr>
          </a:p>
        </p:txBody>
      </p:sp>
      <p:pic>
        <p:nvPicPr>
          <p:cNvPr descr="preencoded.png" id="193" name="Google Shape;193;p4"/>
          <p:cNvPicPr preferRelativeResize="0"/>
          <p:nvPr/>
        </p:nvPicPr>
        <p:blipFill rotWithShape="1">
          <a:blip r:embed="rId4">
            <a:alphaModFix/>
          </a:blip>
          <a:srcRect b="0" l="0" r="0" t="0"/>
          <a:stretch/>
        </p:blipFill>
        <p:spPr>
          <a:xfrm>
            <a:off x="4709160" y="2688336"/>
            <a:ext cx="164592" cy="164592"/>
          </a:xfrm>
          <a:prstGeom prst="rect">
            <a:avLst/>
          </a:prstGeom>
          <a:noFill/>
          <a:ln>
            <a:noFill/>
          </a:ln>
        </p:spPr>
      </p:pic>
      <p:sp>
        <p:nvSpPr>
          <p:cNvPr id="194" name="Google Shape;194;p4"/>
          <p:cNvSpPr/>
          <p:nvPr/>
        </p:nvSpPr>
        <p:spPr>
          <a:xfrm>
            <a:off x="4956048" y="2670048"/>
            <a:ext cx="3749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Willing to pay a premium for a clean, functional design</a:t>
            </a:r>
            <a:endParaRPr b="0" i="0" sz="1000" u="none" cap="none" strike="noStrike">
              <a:solidFill>
                <a:schemeClr val="dk1"/>
              </a:solidFill>
              <a:latin typeface="Calibri"/>
              <a:ea typeface="Calibri"/>
              <a:cs typeface="Calibri"/>
              <a:sym typeface="Calibri"/>
            </a:endParaRPr>
          </a:p>
        </p:txBody>
      </p:sp>
      <p:sp>
        <p:nvSpPr>
          <p:cNvPr id="195" name="Google Shape;195;p4"/>
          <p:cNvSpPr/>
          <p:nvPr/>
        </p:nvSpPr>
        <p:spPr>
          <a:xfrm>
            <a:off x="4617720" y="3044952"/>
            <a:ext cx="4206240" cy="1508760"/>
          </a:xfrm>
          <a:prstGeom prst="rect">
            <a:avLst/>
          </a:prstGeom>
          <a:solidFill>
            <a:srgbClr val="1A2A1E"/>
          </a:solidFill>
          <a:ln cap="flat" cmpd="sng" w="1905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4"/>
          <p:cNvPicPr preferRelativeResize="0"/>
          <p:nvPr/>
        </p:nvPicPr>
        <p:blipFill rotWithShape="1">
          <a:blip r:embed="rId5">
            <a:alphaModFix/>
          </a:blip>
          <a:srcRect b="0" l="0" r="0" t="0"/>
          <a:stretch/>
        </p:blipFill>
        <p:spPr>
          <a:xfrm>
            <a:off x="4736592" y="3118104"/>
            <a:ext cx="201168" cy="201168"/>
          </a:xfrm>
          <a:prstGeom prst="rect">
            <a:avLst/>
          </a:prstGeom>
          <a:noFill/>
          <a:ln>
            <a:noFill/>
          </a:ln>
        </p:spPr>
      </p:pic>
      <p:sp>
        <p:nvSpPr>
          <p:cNvPr id="197" name="Google Shape;197;p4"/>
          <p:cNvSpPr/>
          <p:nvPr/>
        </p:nvSpPr>
        <p:spPr>
          <a:xfrm>
            <a:off x="5010912" y="3090672"/>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100"/>
              <a:buFont typeface="Trebuchet MS"/>
              <a:buNone/>
            </a:pPr>
            <a:r>
              <a:rPr b="1" i="0" lang="en-US" sz="1100" u="none" cap="none" strike="noStrike">
                <a:solidFill>
                  <a:srgbClr val="059669"/>
                </a:solidFill>
                <a:latin typeface="Trebuchet MS"/>
                <a:ea typeface="Trebuchet MS"/>
                <a:cs typeface="Trebuchet MS"/>
                <a:sym typeface="Trebuchet MS"/>
              </a:rPr>
              <a:t>POSITIONING STATEMENT</a:t>
            </a:r>
            <a:endParaRPr b="0" i="0" sz="1100" u="none" cap="none" strike="noStrike">
              <a:solidFill>
                <a:schemeClr val="dk1"/>
              </a:solidFill>
              <a:latin typeface="Calibri"/>
              <a:ea typeface="Calibri"/>
              <a:cs typeface="Calibri"/>
              <a:sym typeface="Calibri"/>
            </a:endParaRPr>
          </a:p>
        </p:txBody>
      </p:sp>
      <p:sp>
        <p:nvSpPr>
          <p:cNvPr id="198" name="Google Shape;198;p4"/>
          <p:cNvSpPr/>
          <p:nvPr/>
        </p:nvSpPr>
        <p:spPr>
          <a:xfrm>
            <a:off x="4709160" y="3401568"/>
            <a:ext cx="3977640" cy="10789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AE6FD"/>
              </a:buClr>
              <a:buSzPts val="1050"/>
              <a:buFont typeface="Calibri"/>
              <a:buNone/>
            </a:pPr>
            <a:r>
              <a:rPr b="0" i="1" lang="en-US" sz="1050" u="none" cap="none" strike="noStrike">
                <a:solidFill>
                  <a:srgbClr val="BAE6FD"/>
                </a:solidFill>
                <a:latin typeface="Calibri"/>
                <a:ea typeface="Calibri"/>
                <a:cs typeface="Calibri"/>
                <a:sym typeface="Calibri"/>
              </a:rPr>
              <a:t>"For health-conscious young adults who want to build better hydration habits, Water Timer is the only smart water bottle that delivers built-in reminders and daily tracking — no app required."</a:t>
            </a:r>
            <a:endParaRPr b="0" i="0" sz="1050" u="none" cap="none" strike="noStrike">
              <a:solidFill>
                <a:schemeClr val="dk1"/>
              </a:solidFill>
              <a:latin typeface="Calibri"/>
              <a:ea typeface="Calibri"/>
              <a:cs typeface="Calibri"/>
              <a:sym typeface="Calibri"/>
            </a:endParaRPr>
          </a:p>
        </p:txBody>
      </p:sp>
      <p:sp>
        <p:nvSpPr>
          <p:cNvPr id="199" name="Google Shape;199;p4"/>
          <p:cNvSpPr/>
          <p:nvPr/>
        </p:nvSpPr>
        <p:spPr>
          <a:xfrm>
            <a:off x="274320" y="3767328"/>
            <a:ext cx="4114800" cy="804672"/>
          </a:xfrm>
          <a:prstGeom prst="rect">
            <a:avLst/>
          </a:prstGeom>
          <a:solidFill>
            <a:srgbClr val="1A2030"/>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457200" y="3822192"/>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100"/>
              <a:buFont typeface="Trebuchet MS"/>
              <a:buNone/>
            </a:pPr>
            <a:r>
              <a:rPr b="1" i="0" lang="en-US" sz="1100" u="none" cap="none" strike="noStrike">
                <a:solidFill>
                  <a:srgbClr val="14B8A6"/>
                </a:solidFill>
                <a:latin typeface="Trebuchet MS"/>
                <a:ea typeface="Trebuchet MS"/>
                <a:cs typeface="Trebuchet MS"/>
                <a:sym typeface="Trebuchet MS"/>
              </a:rPr>
              <a:t>Why This Audience?</a:t>
            </a:r>
            <a:endParaRPr b="0" i="0" sz="1100" u="none" cap="none" strike="noStrike">
              <a:solidFill>
                <a:schemeClr val="dk1"/>
              </a:solidFill>
              <a:latin typeface="Calibri"/>
              <a:ea typeface="Calibri"/>
              <a:cs typeface="Calibri"/>
              <a:sym typeface="Calibri"/>
            </a:endParaRPr>
          </a:p>
        </p:txBody>
      </p:sp>
      <p:sp>
        <p:nvSpPr>
          <p:cNvPr id="201" name="Google Shape;201;p4"/>
          <p:cNvSpPr/>
          <p:nvPr/>
        </p:nvSpPr>
        <p:spPr>
          <a:xfrm>
            <a:off x="457200" y="4096512"/>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50"/>
              <a:buFont typeface="Calibri"/>
              <a:buNone/>
            </a:pPr>
            <a:r>
              <a:rPr b="0" i="0" lang="en-US" sz="850" u="none" cap="none" strike="noStrike">
                <a:solidFill>
                  <a:srgbClr val="94A3B8"/>
                </a:solidFill>
                <a:latin typeface="Calibri"/>
                <a:ea typeface="Calibri"/>
                <a:cs typeface="Calibri"/>
                <a:sym typeface="Calibri"/>
              </a:rPr>
              <a:t>This segment has the purchasing power, brand awareness of Owala, and the unmet need that Water Timer directly solves: effortless hydration accountabilit</a:t>
            </a:r>
            <a:r>
              <a:rPr lang="en-US" sz="850">
                <a:solidFill>
                  <a:srgbClr val="94A3B8"/>
                </a:solidFill>
                <a:latin typeface="Calibri"/>
                <a:ea typeface="Calibri"/>
                <a:cs typeface="Calibri"/>
                <a:sym typeface="Calibri"/>
              </a:rPr>
              <a:t>y, </a:t>
            </a:r>
            <a:r>
              <a:rPr lang="en-US" sz="850">
                <a:solidFill>
                  <a:srgbClr val="94A3B8"/>
                </a:solidFill>
                <a:latin typeface="Calibri"/>
                <a:ea typeface="Calibri"/>
                <a:cs typeface="Calibri"/>
                <a:sym typeface="Calibri"/>
              </a:rPr>
              <a:t>especially</a:t>
            </a:r>
            <a:r>
              <a:rPr lang="en-US" sz="850">
                <a:solidFill>
                  <a:srgbClr val="94A3B8"/>
                </a:solidFill>
                <a:latin typeface="Calibri"/>
                <a:ea typeface="Calibri"/>
                <a:cs typeface="Calibri"/>
                <a:sym typeface="Calibri"/>
              </a:rPr>
              <a:t> considering drinking enough water is essential to a good lifestyle.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06" name="Shape 206"/>
        <p:cNvGrpSpPr/>
        <p:nvPr/>
      </p:nvGrpSpPr>
      <p:grpSpPr>
        <a:xfrm>
          <a:off x="0" y="0"/>
          <a:ext cx="0" cy="0"/>
          <a:chOff x="0" y="0"/>
          <a:chExt cx="0" cy="0"/>
        </a:xfrm>
      </p:grpSpPr>
      <p:sp>
        <p:nvSpPr>
          <p:cNvPr id="207" name="Google Shape;207;p5"/>
          <p:cNvSpPr/>
          <p:nvPr/>
        </p:nvSpPr>
        <p:spPr>
          <a:xfrm>
            <a:off x="0" y="0"/>
            <a:ext cx="9144000" cy="73152"/>
          </a:xfrm>
          <a:prstGeom prst="rect">
            <a:avLst/>
          </a:prstGeom>
          <a:solidFill>
            <a:srgbClr val="14B8A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457200" y="201168"/>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2800"/>
              <a:buFont typeface="Trebuchet MS"/>
              <a:buNone/>
            </a:pPr>
            <a:r>
              <a:rPr b="1" i="0" lang="en-US" sz="2800" u="none" cap="none" strike="noStrike">
                <a:solidFill>
                  <a:srgbClr val="F8FAFC"/>
                </a:solidFill>
                <a:latin typeface="Trebuchet MS"/>
                <a:ea typeface="Trebuchet MS"/>
                <a:cs typeface="Trebuchet MS"/>
                <a:sym typeface="Trebuchet MS"/>
              </a:rPr>
              <a:t>Marketing Mix</a:t>
            </a:r>
            <a:r>
              <a:rPr b="1" lang="en-US" sz="2800">
                <a:solidFill>
                  <a:srgbClr val="F8FAFC"/>
                </a:solidFill>
                <a:latin typeface="Trebuchet MS"/>
                <a:ea typeface="Trebuchet MS"/>
                <a:cs typeface="Trebuchet MS"/>
                <a:sym typeface="Trebuchet MS"/>
              </a:rPr>
              <a:t>—The</a:t>
            </a:r>
            <a:r>
              <a:rPr b="1" i="0" lang="en-US" sz="2800" u="none" cap="none" strike="noStrike">
                <a:solidFill>
                  <a:srgbClr val="F8FAFC"/>
                </a:solidFill>
                <a:latin typeface="Trebuchet MS"/>
                <a:ea typeface="Trebuchet MS"/>
                <a:cs typeface="Trebuchet MS"/>
                <a:sym typeface="Trebuchet MS"/>
              </a:rPr>
              <a:t> 4 Ps							</a:t>
            </a:r>
            <a:r>
              <a:rPr b="1" i="0" lang="en-US" sz="1200" u="none" cap="none" strike="noStrike">
                <a:solidFill>
                  <a:srgbClr val="B7B7B7"/>
                </a:solidFill>
                <a:latin typeface="Trebuchet MS"/>
                <a:ea typeface="Trebuchet MS"/>
                <a:cs typeface="Trebuchet MS"/>
                <a:sym typeface="Trebuchet MS"/>
              </a:rPr>
              <a:t>Ro</a:t>
            </a:r>
            <a:r>
              <a:rPr b="1" lang="en-US" sz="1200">
                <a:solidFill>
                  <a:srgbClr val="B7B7B7"/>
                </a:solidFill>
                <a:latin typeface="Trebuchet MS"/>
                <a:ea typeface="Trebuchet MS"/>
                <a:cs typeface="Trebuchet MS"/>
                <a:sym typeface="Trebuchet MS"/>
              </a:rPr>
              <a:t>si</a:t>
            </a:r>
            <a:r>
              <a:rPr b="1" lang="en-US" sz="1200">
                <a:solidFill>
                  <a:srgbClr val="B7B7B7"/>
                </a:solidFill>
                <a:latin typeface="Trebuchet MS"/>
                <a:ea typeface="Trebuchet MS"/>
                <a:cs typeface="Trebuchet MS"/>
                <a:sym typeface="Trebuchet MS"/>
              </a:rPr>
              <a:t>e Kwok</a:t>
            </a:r>
            <a:endParaRPr b="0" i="0" sz="1200" u="none" cap="none" strike="noStrike">
              <a:solidFill>
                <a:srgbClr val="B7B7B7"/>
              </a:solidFill>
              <a:latin typeface="Calibri"/>
              <a:ea typeface="Calibri"/>
              <a:cs typeface="Calibri"/>
              <a:sym typeface="Calibri"/>
            </a:endParaRPr>
          </a:p>
        </p:txBody>
      </p:sp>
      <p:sp>
        <p:nvSpPr>
          <p:cNvPr id="209" name="Google Shape;209;p5"/>
          <p:cNvSpPr/>
          <p:nvPr/>
        </p:nvSpPr>
        <p:spPr>
          <a:xfrm>
            <a:off x="45720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200"/>
              <a:buFont typeface="Calibri"/>
              <a:buNone/>
            </a:pPr>
            <a:r>
              <a:rPr b="0" i="1" lang="en-US" sz="1200" u="none" cap="none" strike="noStrike">
                <a:solidFill>
                  <a:srgbClr val="14B8A6"/>
                </a:solidFill>
                <a:latin typeface="Calibri"/>
                <a:ea typeface="Calibri"/>
                <a:cs typeface="Calibri"/>
                <a:sym typeface="Calibri"/>
              </a:rPr>
              <a:t>Product · Price · Place · Promotion</a:t>
            </a:r>
            <a:endParaRPr b="0" i="0" sz="1200" u="none" cap="none" strike="noStrike">
              <a:solidFill>
                <a:schemeClr val="dk1"/>
              </a:solidFill>
              <a:latin typeface="Calibri"/>
              <a:ea typeface="Calibri"/>
              <a:cs typeface="Calibri"/>
              <a:sym typeface="Calibri"/>
            </a:endParaRPr>
          </a:p>
        </p:txBody>
      </p:sp>
      <p:sp>
        <p:nvSpPr>
          <p:cNvPr id="210" name="Google Shape;210;p5"/>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212" name="Google Shape;212;p5"/>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sp>
        <p:nvSpPr>
          <p:cNvPr id="213" name="Google Shape;213;p5"/>
          <p:cNvSpPr/>
          <p:nvPr/>
        </p:nvSpPr>
        <p:spPr>
          <a:xfrm>
            <a:off x="274320" y="1188720"/>
            <a:ext cx="4160520" cy="1618488"/>
          </a:xfrm>
          <a:prstGeom prst="rect">
            <a:avLst/>
          </a:prstGeom>
          <a:solidFill>
            <a:srgbClr val="161B22"/>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274320" y="1188720"/>
            <a:ext cx="182880" cy="1618488"/>
          </a:xfrm>
          <a:prstGeom prst="rect">
            <a:avLst/>
          </a:prstGeom>
          <a:solidFill>
            <a:srgbClr val="0D9488"/>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5" name="Google Shape;215;p5"/>
          <p:cNvPicPr preferRelativeResize="0"/>
          <p:nvPr/>
        </p:nvPicPr>
        <p:blipFill rotWithShape="1">
          <a:blip r:embed="rId3">
            <a:alphaModFix/>
          </a:blip>
          <a:srcRect b="0" l="0" r="0" t="0"/>
          <a:stretch/>
        </p:blipFill>
        <p:spPr>
          <a:xfrm>
            <a:off x="594360" y="1298448"/>
            <a:ext cx="292608" cy="292608"/>
          </a:xfrm>
          <a:prstGeom prst="rect">
            <a:avLst/>
          </a:prstGeom>
          <a:noFill/>
          <a:ln>
            <a:noFill/>
          </a:ln>
        </p:spPr>
      </p:pic>
      <p:sp>
        <p:nvSpPr>
          <p:cNvPr id="216" name="Google Shape;216;p5"/>
          <p:cNvSpPr/>
          <p:nvPr/>
        </p:nvSpPr>
        <p:spPr>
          <a:xfrm>
            <a:off x="987552" y="1298448"/>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500"/>
              <a:buFont typeface="Trebuchet MS"/>
              <a:buNone/>
            </a:pPr>
            <a:r>
              <a:rPr b="1" i="0" lang="en-US" sz="1500" u="none" cap="none" strike="noStrike">
                <a:solidFill>
                  <a:srgbClr val="0D9488"/>
                </a:solidFill>
                <a:latin typeface="Trebuchet MS"/>
                <a:ea typeface="Trebuchet MS"/>
                <a:cs typeface="Trebuchet MS"/>
                <a:sym typeface="Trebuchet MS"/>
              </a:rPr>
              <a:t>PRODUCT</a:t>
            </a:r>
            <a:endParaRPr b="0" i="0" sz="1500" u="none" cap="none" strike="noStrike">
              <a:solidFill>
                <a:schemeClr val="dk1"/>
              </a:solidFill>
              <a:latin typeface="Calibri"/>
              <a:ea typeface="Calibri"/>
              <a:cs typeface="Calibri"/>
              <a:sym typeface="Calibri"/>
            </a:endParaRPr>
          </a:p>
        </p:txBody>
      </p:sp>
      <p:sp>
        <p:nvSpPr>
          <p:cNvPr id="217" name="Google Shape;217;p5"/>
          <p:cNvSpPr/>
          <p:nvPr/>
        </p:nvSpPr>
        <p:spPr>
          <a:xfrm>
            <a:off x="457200" y="1539813"/>
            <a:ext cx="3886200" cy="1267500"/>
          </a:xfrm>
          <a:prstGeom prst="rect">
            <a:avLst/>
          </a:prstGeom>
          <a:noFill/>
          <a:ln>
            <a:noFill/>
          </a:ln>
        </p:spPr>
        <p:txBody>
          <a:bodyPr anchorCtr="0" anchor="ctr" bIns="0" lIns="171450" spcFirstLastPara="1" rIns="0" wrap="square" tIns="0">
            <a:noAutofit/>
          </a:bodyPr>
          <a:lstStyle/>
          <a:p>
            <a:pPr indent="-339725" lvl="0" marL="342900" marR="0" rtl="0" algn="l">
              <a:spcBef>
                <a:spcPts val="0"/>
              </a:spcBef>
              <a:spcAft>
                <a:spcPts val="0"/>
              </a:spcAft>
              <a:buClr>
                <a:srgbClr val="94A3B8"/>
              </a:buClr>
              <a:buSzPts val="900"/>
              <a:buFont typeface="Calibri"/>
              <a:buChar char="•"/>
            </a:pPr>
            <a:r>
              <a:rPr b="0" i="0" lang="en-US" sz="900" u="none" cap="none" strike="noStrike">
                <a:solidFill>
                  <a:srgbClr val="94A3B8"/>
                </a:solidFill>
                <a:latin typeface="Calibri"/>
                <a:ea typeface="Calibri"/>
                <a:cs typeface="Calibri"/>
                <a:sym typeface="Calibri"/>
              </a:rPr>
              <a:t>Owala-based bottle with </a:t>
            </a:r>
            <a:r>
              <a:rPr lang="en-US" sz="900">
                <a:solidFill>
                  <a:srgbClr val="94A3B8"/>
                </a:solidFill>
                <a:latin typeface="Calibri"/>
                <a:ea typeface="Calibri"/>
                <a:cs typeface="Calibri"/>
                <a:sym typeface="Calibri"/>
              </a:rPr>
              <a:t>side-mounted digital </a:t>
            </a:r>
            <a:r>
              <a:rPr b="0" i="0" lang="en-US" sz="900" u="none" cap="none" strike="noStrike">
                <a:solidFill>
                  <a:srgbClr val="94A3B8"/>
                </a:solidFill>
                <a:latin typeface="Calibri"/>
                <a:ea typeface="Calibri"/>
                <a:cs typeface="Calibri"/>
                <a:sym typeface="Calibri"/>
              </a:rPr>
              <a:t>built-in water t</a:t>
            </a:r>
            <a:r>
              <a:rPr lang="en-US" sz="900">
                <a:solidFill>
                  <a:srgbClr val="94A3B8"/>
                </a:solidFill>
                <a:latin typeface="Calibri"/>
                <a:ea typeface="Calibri"/>
                <a:cs typeface="Calibri"/>
                <a:sym typeface="Calibri"/>
              </a:rPr>
              <a:t>imer and water-motion sensor</a:t>
            </a:r>
            <a:endParaRPr b="0" i="0" sz="900" u="none" cap="none" strike="noStrike">
              <a:solidFill>
                <a:schemeClr val="dk1"/>
              </a:solidFill>
              <a:latin typeface="Calibri"/>
              <a:ea typeface="Calibri"/>
              <a:cs typeface="Calibri"/>
              <a:sym typeface="Calibri"/>
            </a:endParaRPr>
          </a:p>
          <a:p>
            <a:pPr indent="-339725" lvl="0" marL="342900" marR="0" rtl="0" algn="l">
              <a:spcBef>
                <a:spcPts val="0"/>
              </a:spcBef>
              <a:spcAft>
                <a:spcPts val="0"/>
              </a:spcAft>
              <a:buClr>
                <a:srgbClr val="94A3B8"/>
              </a:buClr>
              <a:buSzPts val="900"/>
              <a:buFont typeface="Calibri"/>
              <a:buChar char="•"/>
            </a:pPr>
            <a:r>
              <a:rPr b="0" i="0" lang="en-US" sz="900" u="none" cap="none" strike="noStrike">
                <a:solidFill>
                  <a:srgbClr val="94A3B8"/>
                </a:solidFill>
                <a:latin typeface="Calibri"/>
                <a:ea typeface="Calibri"/>
                <a:cs typeface="Calibri"/>
                <a:sym typeface="Calibri"/>
              </a:rPr>
              <a:t>Battery via USB-C charging port backed with solar </a:t>
            </a:r>
            <a:r>
              <a:rPr lang="en-US" sz="900">
                <a:solidFill>
                  <a:srgbClr val="94A3B8"/>
                </a:solidFill>
                <a:latin typeface="Calibri"/>
                <a:ea typeface="Calibri"/>
                <a:cs typeface="Calibri"/>
                <a:sym typeface="Calibri"/>
              </a:rPr>
              <a:t>power </a:t>
            </a:r>
            <a:endParaRPr b="0" i="0" sz="900" u="none" cap="none" strike="noStrike">
              <a:solidFill>
                <a:schemeClr val="dk1"/>
              </a:solidFill>
              <a:latin typeface="Calibri"/>
              <a:ea typeface="Calibri"/>
              <a:cs typeface="Calibri"/>
              <a:sym typeface="Calibri"/>
            </a:endParaRPr>
          </a:p>
          <a:p>
            <a:pPr indent="-339725" lvl="0" marL="342900" marR="0" rtl="0" algn="l">
              <a:spcBef>
                <a:spcPts val="0"/>
              </a:spcBef>
              <a:spcAft>
                <a:spcPts val="0"/>
              </a:spcAft>
              <a:buClr>
                <a:srgbClr val="94A3B8"/>
              </a:buClr>
              <a:buSzPts val="900"/>
              <a:buFont typeface="Calibri"/>
              <a:buChar char="•"/>
            </a:pPr>
            <a:r>
              <a:rPr b="0" i="0" lang="en-US" sz="900" u="none" cap="none" strike="noStrike">
                <a:solidFill>
                  <a:srgbClr val="94A3B8"/>
                </a:solidFill>
                <a:latin typeface="Calibri"/>
                <a:ea typeface="Calibri"/>
                <a:cs typeface="Calibri"/>
                <a:sym typeface="Calibri"/>
              </a:rPr>
              <a:t>BPA-free</a:t>
            </a:r>
            <a:r>
              <a:rPr lang="en-US" sz="900">
                <a:solidFill>
                  <a:srgbClr val="94A3B8"/>
                </a:solidFill>
                <a:latin typeface="Calibri"/>
                <a:ea typeface="Calibri"/>
                <a:cs typeface="Calibri"/>
                <a:sym typeface="Calibri"/>
              </a:rPr>
              <a:t>, free-sip technology, leak-proof lids, made to be sturdy &amp; long-lasting</a:t>
            </a:r>
            <a:endParaRPr sz="900">
              <a:solidFill>
                <a:srgbClr val="94A3B8"/>
              </a:solidFill>
              <a:latin typeface="Calibri"/>
              <a:ea typeface="Calibri"/>
              <a:cs typeface="Calibri"/>
              <a:sym typeface="Calibri"/>
            </a:endParaRPr>
          </a:p>
          <a:p>
            <a:pPr indent="-339725"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Must be handwash, not dishwasher safe; lid &amp; straws are dishwasher safe</a:t>
            </a:r>
            <a:endParaRPr sz="900">
              <a:solidFill>
                <a:srgbClr val="94A3B8"/>
              </a:solidFill>
              <a:latin typeface="Calibri"/>
              <a:ea typeface="Calibri"/>
              <a:cs typeface="Calibri"/>
              <a:sym typeface="Calibri"/>
            </a:endParaRPr>
          </a:p>
          <a:p>
            <a:pPr indent="-339725" lvl="0" marL="342900" marR="0" rtl="0" algn="l">
              <a:spcBef>
                <a:spcPts val="0"/>
              </a:spcBef>
              <a:spcAft>
                <a:spcPts val="0"/>
              </a:spcAft>
              <a:buClr>
                <a:srgbClr val="94A3B8"/>
              </a:buClr>
              <a:buSzPts val="900"/>
              <a:buFont typeface="Calibri"/>
              <a:buChar char="•"/>
            </a:pPr>
            <a:r>
              <a:rPr b="0" i="0" lang="en-US" sz="900" u="none" cap="none" strike="noStrike">
                <a:solidFill>
                  <a:srgbClr val="94A3B8"/>
                </a:solidFill>
                <a:latin typeface="Calibri"/>
                <a:ea typeface="Calibri"/>
                <a:cs typeface="Calibri"/>
                <a:sym typeface="Calibri"/>
              </a:rPr>
              <a:t>Available in 3 sizes: 24 oz, 32oz &amp; 40o</a:t>
            </a:r>
            <a:r>
              <a:rPr lang="en-US" sz="900">
                <a:solidFill>
                  <a:srgbClr val="94A3B8"/>
                </a:solidFill>
                <a:latin typeface="Calibri"/>
                <a:ea typeface="Calibri"/>
                <a:cs typeface="Calibri"/>
                <a:sym typeface="Calibri"/>
              </a:rPr>
              <a:t>z</a:t>
            </a:r>
            <a:endParaRPr sz="900">
              <a:solidFill>
                <a:srgbClr val="94A3B8"/>
              </a:solidFill>
              <a:latin typeface="Calibri"/>
              <a:ea typeface="Calibri"/>
              <a:cs typeface="Calibri"/>
              <a:sym typeface="Calibri"/>
            </a:endParaRPr>
          </a:p>
          <a:p>
            <a:pPr indent="-339725"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Multi-colored combination, compatible for males &amp; females (unisex)</a:t>
            </a:r>
            <a:endParaRPr sz="900">
              <a:solidFill>
                <a:srgbClr val="94A3B8"/>
              </a:solidFill>
              <a:latin typeface="Calibri"/>
              <a:ea typeface="Calibri"/>
              <a:cs typeface="Calibri"/>
              <a:sym typeface="Calibri"/>
            </a:endParaRPr>
          </a:p>
        </p:txBody>
      </p:sp>
      <p:sp>
        <p:nvSpPr>
          <p:cNvPr id="218" name="Google Shape;218;p5"/>
          <p:cNvSpPr/>
          <p:nvPr/>
        </p:nvSpPr>
        <p:spPr>
          <a:xfrm>
            <a:off x="4663440" y="1188720"/>
            <a:ext cx="4160520" cy="1618488"/>
          </a:xfrm>
          <a:prstGeom prst="rect">
            <a:avLst/>
          </a:prstGeom>
          <a:solidFill>
            <a:srgbClr val="161B22"/>
          </a:solidFill>
          <a:ln cap="flat" cmpd="sng" w="1905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4663440" y="1188720"/>
            <a:ext cx="182880" cy="1618488"/>
          </a:xfrm>
          <a:prstGeom prst="rect">
            <a:avLst/>
          </a:prstGeom>
          <a:solidFill>
            <a:srgbClr val="38BDF8"/>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 name="Google Shape;220;p5"/>
          <p:cNvPicPr preferRelativeResize="0"/>
          <p:nvPr/>
        </p:nvPicPr>
        <p:blipFill rotWithShape="1">
          <a:blip r:embed="rId4">
            <a:alphaModFix/>
          </a:blip>
          <a:srcRect b="0" l="0" r="0" t="0"/>
          <a:stretch/>
        </p:blipFill>
        <p:spPr>
          <a:xfrm>
            <a:off x="4983480" y="1298448"/>
            <a:ext cx="292608" cy="292608"/>
          </a:xfrm>
          <a:prstGeom prst="rect">
            <a:avLst/>
          </a:prstGeom>
          <a:noFill/>
          <a:ln>
            <a:noFill/>
          </a:ln>
        </p:spPr>
      </p:pic>
      <p:sp>
        <p:nvSpPr>
          <p:cNvPr id="221" name="Google Shape;221;p5"/>
          <p:cNvSpPr/>
          <p:nvPr/>
        </p:nvSpPr>
        <p:spPr>
          <a:xfrm>
            <a:off x="5376672" y="1298448"/>
            <a:ext cx="3200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1500"/>
              <a:buFont typeface="Trebuchet MS"/>
              <a:buNone/>
            </a:pPr>
            <a:r>
              <a:rPr b="1" i="0" lang="en-US" sz="1500" u="none" cap="none" strike="noStrike">
                <a:solidFill>
                  <a:srgbClr val="38BDF8"/>
                </a:solidFill>
                <a:latin typeface="Trebuchet MS"/>
                <a:ea typeface="Trebuchet MS"/>
                <a:cs typeface="Trebuchet MS"/>
                <a:sym typeface="Trebuchet MS"/>
              </a:rPr>
              <a:t>PRICE</a:t>
            </a:r>
            <a:endParaRPr b="0" i="0" sz="1500" u="none" cap="none" strike="noStrike">
              <a:solidFill>
                <a:schemeClr val="dk1"/>
              </a:solidFill>
              <a:latin typeface="Calibri"/>
              <a:ea typeface="Calibri"/>
              <a:cs typeface="Calibri"/>
              <a:sym typeface="Calibri"/>
            </a:endParaRPr>
          </a:p>
        </p:txBody>
      </p:sp>
      <p:sp>
        <p:nvSpPr>
          <p:cNvPr id="222" name="Google Shape;222;p5"/>
          <p:cNvSpPr/>
          <p:nvPr/>
        </p:nvSpPr>
        <p:spPr>
          <a:xfrm>
            <a:off x="4983475" y="1618500"/>
            <a:ext cx="3749100" cy="10974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Retail price</a:t>
            </a:r>
            <a:r>
              <a:rPr lang="en-US" sz="950">
                <a:solidFill>
                  <a:srgbClr val="94A3B8"/>
                </a:solidFill>
                <a:latin typeface="Calibri"/>
                <a:ea typeface="Calibri"/>
                <a:cs typeface="Calibri"/>
                <a:sym typeface="Calibri"/>
              </a:rPr>
              <a:t> (standard price on the Owala site)</a:t>
            </a:r>
            <a:endParaRPr b="0" i="0" sz="950" u="none" cap="none" strike="noStrike">
              <a:solidFill>
                <a:srgbClr val="94A3B8"/>
              </a:solidFill>
              <a:latin typeface="Calibri"/>
              <a:ea typeface="Calibri"/>
              <a:cs typeface="Calibri"/>
              <a:sym typeface="Calibri"/>
            </a:endParaRPr>
          </a:p>
          <a:p>
            <a:pPr indent="457200" lvl="0" marL="0" marR="0" rtl="0" algn="l">
              <a:spcBef>
                <a:spcPts val="0"/>
              </a:spcBef>
              <a:spcAft>
                <a:spcPts val="0"/>
              </a:spcAft>
              <a:buNone/>
            </a:pPr>
            <a:r>
              <a:rPr lang="en-US" sz="950">
                <a:solidFill>
                  <a:srgbClr val="94A3B8"/>
                </a:solidFill>
                <a:latin typeface="Calibri"/>
                <a:ea typeface="Calibri"/>
                <a:cs typeface="Calibri"/>
                <a:sym typeface="Calibri"/>
              </a:rPr>
              <a:t>$45 (24 oz)	$50 (32 oz.)	$55 (40oz)</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P</a:t>
            </a:r>
            <a:r>
              <a:rPr lang="en-US" sz="950">
                <a:solidFill>
                  <a:srgbClr val="94A3B8"/>
                </a:solidFill>
                <a:latin typeface="Calibri"/>
                <a:ea typeface="Calibri"/>
                <a:cs typeface="Calibri"/>
                <a:sym typeface="Calibri"/>
              </a:rPr>
              <a:t>rices are subject to change depending on varying locations &amp; time of season</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1-year warrant</a:t>
            </a:r>
            <a:r>
              <a:rPr b="0" i="0" lang="en-US" sz="950" u="none" cap="none" strike="noStrike">
                <a:solidFill>
                  <a:srgbClr val="94A3B8"/>
                </a:solidFill>
                <a:latin typeface="Calibri"/>
                <a:ea typeface="Calibri"/>
                <a:cs typeface="Calibri"/>
                <a:sym typeface="Calibri"/>
              </a:rPr>
              <a:t>y for </a:t>
            </a:r>
            <a:r>
              <a:rPr lang="en-US" sz="950">
                <a:solidFill>
                  <a:srgbClr val="94A3B8"/>
                </a:solidFill>
                <a:latin typeface="Calibri"/>
                <a:ea typeface="Calibri"/>
                <a:cs typeface="Calibri"/>
                <a:sym typeface="Calibri"/>
              </a:rPr>
              <a:t>technology damage/</a:t>
            </a:r>
            <a:r>
              <a:rPr lang="en-US" sz="950">
                <a:solidFill>
                  <a:srgbClr val="94A3B8"/>
                </a:solidFill>
                <a:latin typeface="Calibri"/>
                <a:ea typeface="Calibri"/>
                <a:cs typeface="Calibri"/>
                <a:sym typeface="Calibri"/>
              </a:rPr>
              <a:t>malfunctions through Owala site</a:t>
            </a:r>
            <a:endParaRPr b="0" i="0" sz="950" u="none" cap="none" strike="noStrike">
              <a:solidFill>
                <a:schemeClr val="dk1"/>
              </a:solidFill>
              <a:latin typeface="Calibri"/>
              <a:ea typeface="Calibri"/>
              <a:cs typeface="Calibri"/>
              <a:sym typeface="Calibri"/>
            </a:endParaRPr>
          </a:p>
        </p:txBody>
      </p:sp>
      <p:sp>
        <p:nvSpPr>
          <p:cNvPr id="223" name="Google Shape;223;p5"/>
          <p:cNvSpPr/>
          <p:nvPr/>
        </p:nvSpPr>
        <p:spPr>
          <a:xfrm>
            <a:off x="274383" y="3072410"/>
            <a:ext cx="4160400" cy="1618500"/>
          </a:xfrm>
          <a:prstGeom prst="rect">
            <a:avLst/>
          </a:prstGeom>
          <a:solidFill>
            <a:srgbClr val="161B22"/>
          </a:solidFill>
          <a:ln cap="flat" cmpd="sng" w="19050">
            <a:solidFill>
              <a:srgbClr val="5EEA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274320" y="3108960"/>
            <a:ext cx="183000" cy="1618500"/>
          </a:xfrm>
          <a:prstGeom prst="rect">
            <a:avLst/>
          </a:prstGeom>
          <a:solidFill>
            <a:srgbClr val="5EEAD4"/>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5" name="Google Shape;225;p5"/>
          <p:cNvPicPr preferRelativeResize="0"/>
          <p:nvPr/>
        </p:nvPicPr>
        <p:blipFill rotWithShape="1">
          <a:blip r:embed="rId5">
            <a:alphaModFix/>
          </a:blip>
          <a:srcRect b="0" l="0" r="0" t="0"/>
          <a:stretch/>
        </p:blipFill>
        <p:spPr>
          <a:xfrm>
            <a:off x="594360" y="3218688"/>
            <a:ext cx="292608" cy="292608"/>
          </a:xfrm>
          <a:prstGeom prst="rect">
            <a:avLst/>
          </a:prstGeom>
          <a:noFill/>
          <a:ln>
            <a:noFill/>
          </a:ln>
        </p:spPr>
      </p:pic>
      <p:sp>
        <p:nvSpPr>
          <p:cNvPr id="226" name="Google Shape;226;p5"/>
          <p:cNvSpPr/>
          <p:nvPr/>
        </p:nvSpPr>
        <p:spPr>
          <a:xfrm>
            <a:off x="987552" y="3218688"/>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1500"/>
              <a:buFont typeface="Trebuchet MS"/>
              <a:buNone/>
            </a:pPr>
            <a:r>
              <a:rPr b="1" i="0" lang="en-US" sz="1500" u="none" cap="none" strike="noStrike">
                <a:solidFill>
                  <a:srgbClr val="5EEAD4"/>
                </a:solidFill>
                <a:latin typeface="Trebuchet MS"/>
                <a:ea typeface="Trebuchet MS"/>
                <a:cs typeface="Trebuchet MS"/>
                <a:sym typeface="Trebuchet MS"/>
              </a:rPr>
              <a:t>PLACE</a:t>
            </a:r>
            <a:endParaRPr b="0" i="0" sz="1500" u="none" cap="none" strike="noStrike">
              <a:solidFill>
                <a:schemeClr val="dk1"/>
              </a:solidFill>
              <a:latin typeface="Calibri"/>
              <a:ea typeface="Calibri"/>
              <a:cs typeface="Calibri"/>
              <a:sym typeface="Calibri"/>
            </a:endParaRPr>
          </a:p>
        </p:txBody>
      </p:sp>
      <p:sp>
        <p:nvSpPr>
          <p:cNvPr id="227" name="Google Shape;227;p5"/>
          <p:cNvSpPr/>
          <p:nvPr/>
        </p:nvSpPr>
        <p:spPr>
          <a:xfrm>
            <a:off x="594360" y="3584448"/>
            <a:ext cx="3749100" cy="10515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Owala.com </a:t>
            </a:r>
            <a:r>
              <a:rPr lang="en-US" sz="950">
                <a:solidFill>
                  <a:srgbClr val="94A3B8"/>
                </a:solidFill>
                <a:latin typeface="Calibri"/>
                <a:ea typeface="Calibri"/>
                <a:cs typeface="Calibri"/>
                <a:sym typeface="Calibri"/>
              </a:rPr>
              <a:t>(Direct To Consumer)</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Target, </a:t>
            </a:r>
            <a:r>
              <a:rPr lang="en-US" sz="950">
                <a:solidFill>
                  <a:srgbClr val="94A3B8"/>
                </a:solidFill>
                <a:latin typeface="Calibri"/>
                <a:ea typeface="Calibri"/>
                <a:cs typeface="Calibri"/>
                <a:sym typeface="Calibri"/>
              </a:rPr>
              <a:t>Walmart,</a:t>
            </a:r>
            <a:r>
              <a:rPr b="0" i="0" lang="en-US" sz="950" u="none" cap="none" strike="noStrike">
                <a:solidFill>
                  <a:srgbClr val="94A3B8"/>
                </a:solidFill>
                <a:latin typeface="Calibri"/>
                <a:ea typeface="Calibri"/>
                <a:cs typeface="Calibri"/>
                <a:sym typeface="Calibri"/>
              </a:rPr>
              <a:t> Dick's Sporting Goods, Urban Outfitters, </a:t>
            </a:r>
            <a:r>
              <a:rPr lang="en-US" sz="950">
                <a:solidFill>
                  <a:srgbClr val="94A3B8"/>
                </a:solidFill>
                <a:latin typeface="Calibri"/>
                <a:ea typeface="Calibri"/>
                <a:cs typeface="Calibri"/>
                <a:sym typeface="Calibri"/>
              </a:rPr>
              <a:t>Tilly's, TJMaxx, Marshalls (retail)</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Amazo</a:t>
            </a:r>
            <a:r>
              <a:rPr lang="en-US" sz="950">
                <a:solidFill>
                  <a:srgbClr val="94A3B8"/>
                </a:solidFill>
                <a:latin typeface="Calibri"/>
                <a:ea typeface="Calibri"/>
                <a:cs typeface="Calibri"/>
                <a:sym typeface="Calibri"/>
              </a:rPr>
              <a:t>n, EBay, TikTok Shop (E-Commerce)</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Campus book</a:t>
            </a:r>
            <a:r>
              <a:rPr lang="en-US" sz="950">
                <a:solidFill>
                  <a:srgbClr val="94A3B8"/>
                </a:solidFill>
                <a:latin typeface="Calibri"/>
                <a:ea typeface="Calibri"/>
                <a:cs typeface="Calibri"/>
                <a:sym typeface="Calibri"/>
              </a:rPr>
              <a:t>/merchandise stores</a:t>
            </a:r>
            <a:endParaRPr b="0" i="0" sz="950" u="none" cap="none" strike="noStrike">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Planet fitness, Crunch Fitness, other fitness locations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Mall &amp; shopping districts</a:t>
            </a:r>
            <a:endParaRPr b="0" i="0" sz="950" u="none" cap="none" strike="noStrike">
              <a:solidFill>
                <a:schemeClr val="dk1"/>
              </a:solidFill>
              <a:latin typeface="Calibri"/>
              <a:ea typeface="Calibri"/>
              <a:cs typeface="Calibri"/>
              <a:sym typeface="Calibri"/>
            </a:endParaRPr>
          </a:p>
        </p:txBody>
      </p:sp>
      <p:sp>
        <p:nvSpPr>
          <p:cNvPr id="228" name="Google Shape;228;p5"/>
          <p:cNvSpPr/>
          <p:nvPr/>
        </p:nvSpPr>
        <p:spPr>
          <a:xfrm>
            <a:off x="4663440" y="3108960"/>
            <a:ext cx="4160400" cy="1618500"/>
          </a:xfrm>
          <a:prstGeom prst="rect">
            <a:avLst/>
          </a:prstGeom>
          <a:solidFill>
            <a:srgbClr val="161B22"/>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4663440" y="3108960"/>
            <a:ext cx="183000" cy="1618500"/>
          </a:xfrm>
          <a:prstGeom prst="rect">
            <a:avLst/>
          </a:prstGeom>
          <a:solidFill>
            <a:srgbClr val="F59E0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0" name="Google Shape;230;p5"/>
          <p:cNvPicPr preferRelativeResize="0"/>
          <p:nvPr/>
        </p:nvPicPr>
        <p:blipFill rotWithShape="1">
          <a:blip r:embed="rId6">
            <a:alphaModFix/>
          </a:blip>
          <a:srcRect b="0" l="0" r="0" t="0"/>
          <a:stretch/>
        </p:blipFill>
        <p:spPr>
          <a:xfrm>
            <a:off x="4983480" y="3218688"/>
            <a:ext cx="292608" cy="292608"/>
          </a:xfrm>
          <a:prstGeom prst="rect">
            <a:avLst/>
          </a:prstGeom>
          <a:noFill/>
          <a:ln>
            <a:noFill/>
          </a:ln>
        </p:spPr>
      </p:pic>
      <p:sp>
        <p:nvSpPr>
          <p:cNvPr id="231" name="Google Shape;231;p5"/>
          <p:cNvSpPr/>
          <p:nvPr/>
        </p:nvSpPr>
        <p:spPr>
          <a:xfrm>
            <a:off x="5376672" y="3218688"/>
            <a:ext cx="3200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500"/>
              <a:buFont typeface="Trebuchet MS"/>
              <a:buNone/>
            </a:pPr>
            <a:r>
              <a:rPr b="1" i="0" lang="en-US" sz="1500" u="none" cap="none" strike="noStrike">
                <a:solidFill>
                  <a:srgbClr val="F59E0B"/>
                </a:solidFill>
                <a:latin typeface="Trebuchet MS"/>
                <a:ea typeface="Trebuchet MS"/>
                <a:cs typeface="Trebuchet MS"/>
                <a:sym typeface="Trebuchet MS"/>
              </a:rPr>
              <a:t>PROMOTION</a:t>
            </a:r>
            <a:endParaRPr b="0" i="0" sz="1500" u="none" cap="none" strike="noStrike">
              <a:solidFill>
                <a:schemeClr val="dk1"/>
              </a:solidFill>
              <a:latin typeface="Calibri"/>
              <a:ea typeface="Calibri"/>
              <a:cs typeface="Calibri"/>
              <a:sym typeface="Calibri"/>
            </a:endParaRPr>
          </a:p>
        </p:txBody>
      </p:sp>
      <p:sp>
        <p:nvSpPr>
          <p:cNvPr id="232" name="Google Shape;232;p5"/>
          <p:cNvSpPr/>
          <p:nvPr/>
        </p:nvSpPr>
        <p:spPr>
          <a:xfrm>
            <a:off x="4889500" y="3538800"/>
            <a:ext cx="3843000" cy="1143000"/>
          </a:xfrm>
          <a:prstGeom prst="rect">
            <a:avLst/>
          </a:prstGeom>
          <a:noFill/>
          <a:ln>
            <a:noFill/>
          </a:ln>
        </p:spPr>
        <p:txBody>
          <a:bodyPr anchorCtr="0" anchor="ctr" bIns="0" lIns="114300" spcFirstLastPara="1" rIns="0" wrap="square" tIns="0">
            <a:noAutofit/>
          </a:bodyPr>
          <a:lstStyle/>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a:t>
            </a:r>
            <a:r>
              <a:rPr b="0" i="0" lang="en-US" sz="950" u="none" cap="none" strike="noStrike">
                <a:solidFill>
                  <a:srgbClr val="94A3B8"/>
                </a:solidFill>
                <a:latin typeface="Calibri"/>
                <a:ea typeface="Calibri"/>
                <a:cs typeface="Calibri"/>
                <a:sym typeface="Calibri"/>
              </a:rPr>
              <a:t>ocial media </a:t>
            </a:r>
            <a:r>
              <a:rPr lang="en-US" sz="950">
                <a:solidFill>
                  <a:srgbClr val="94A3B8"/>
                </a:solidFill>
                <a:latin typeface="Calibri"/>
                <a:ea typeface="Calibri"/>
                <a:cs typeface="Calibri"/>
                <a:sym typeface="Calibri"/>
              </a:rPr>
              <a:t>partnerships with fitness influencers or athletes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Ads &amp; marketing directly through Owala’s social media accounts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Collaboration with </a:t>
            </a:r>
            <a:r>
              <a:rPr lang="en-US" sz="950">
                <a:solidFill>
                  <a:srgbClr val="94A3B8"/>
                </a:solidFill>
                <a:latin typeface="Calibri"/>
                <a:ea typeface="Calibri"/>
                <a:cs typeface="Calibri"/>
                <a:sym typeface="Calibri"/>
              </a:rPr>
              <a:t>athletic</a:t>
            </a:r>
            <a:r>
              <a:rPr lang="en-US" sz="950">
                <a:solidFill>
                  <a:srgbClr val="94A3B8"/>
                </a:solidFill>
                <a:latin typeface="Calibri"/>
                <a:ea typeface="Calibri"/>
                <a:cs typeface="Calibri"/>
                <a:sym typeface="Calibri"/>
              </a:rPr>
              <a:t> brands like Nike, Adidas, Under Armor, etc.</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Back-to-school &amp; black friday &amp; cyber monday discounts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Student discounts applicable through Owala site</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Seasonal &amp; limited edition water bottle designs </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Newsletter signups for exclusive deals</a:t>
            </a:r>
            <a:endParaRPr sz="950">
              <a:solidFill>
                <a:srgbClr val="94A3B8"/>
              </a:solidFill>
              <a:latin typeface="Calibri"/>
              <a:ea typeface="Calibri"/>
              <a:cs typeface="Calibri"/>
              <a:sym typeface="Calibri"/>
            </a:endParaRPr>
          </a:p>
        </p:txBody>
      </p:sp>
      <p:sp>
        <p:nvSpPr>
          <p:cNvPr id="233" name="Google Shape;233;p5"/>
          <p:cNvSpPr/>
          <p:nvPr/>
        </p:nvSpPr>
        <p:spPr>
          <a:xfrm>
            <a:off x="4443984" y="1188720"/>
            <a:ext cx="246900" cy="3310200"/>
          </a:xfrm>
          <a:prstGeom prst="rect">
            <a:avLst/>
          </a:prstGeom>
          <a:solidFill>
            <a:srgbClr val="0D111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297157" y="2857456"/>
            <a:ext cx="8549700" cy="164700"/>
          </a:xfrm>
          <a:prstGeom prst="rect">
            <a:avLst/>
          </a:prstGeom>
          <a:solidFill>
            <a:srgbClr val="0D111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239" name="Shape 239"/>
        <p:cNvGrpSpPr/>
        <p:nvPr/>
      </p:nvGrpSpPr>
      <p:grpSpPr>
        <a:xfrm>
          <a:off x="0" y="0"/>
          <a:ext cx="0" cy="0"/>
          <a:chOff x="0" y="0"/>
          <a:chExt cx="0" cy="0"/>
        </a:xfrm>
      </p:grpSpPr>
      <p:sp>
        <p:nvSpPr>
          <p:cNvPr id="240" name="Google Shape;240;p6"/>
          <p:cNvSpPr/>
          <p:nvPr/>
        </p:nvSpPr>
        <p:spPr>
          <a:xfrm>
            <a:off x="0" y="0"/>
            <a:ext cx="9144000" cy="73152"/>
          </a:xfrm>
          <a:prstGeom prst="rect">
            <a:avLst/>
          </a:prstGeom>
          <a:solidFill>
            <a:srgbClr val="14B8A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a:off x="457200" y="201168"/>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2800"/>
              <a:buFont typeface="Trebuchet MS"/>
              <a:buNone/>
            </a:pPr>
            <a:r>
              <a:rPr b="1" i="0" lang="en-US" sz="2800" u="none" cap="none" strike="noStrike">
                <a:solidFill>
                  <a:srgbClr val="F8FAFC"/>
                </a:solidFill>
                <a:latin typeface="Trebuchet MS"/>
                <a:ea typeface="Trebuchet MS"/>
                <a:cs typeface="Trebuchet MS"/>
                <a:sym typeface="Trebuchet MS"/>
              </a:rPr>
              <a:t>Digital Marketing Strategy 						</a:t>
            </a:r>
            <a:r>
              <a:rPr b="1" lang="en-US" sz="1200">
                <a:solidFill>
                  <a:srgbClr val="B7B7B7"/>
                </a:solidFill>
                <a:latin typeface="Trebuchet MS"/>
                <a:ea typeface="Trebuchet MS"/>
                <a:cs typeface="Trebuchet MS"/>
                <a:sym typeface="Trebuchet MS"/>
              </a:rPr>
              <a:t>Vishwajith Banala</a:t>
            </a:r>
            <a:endParaRPr b="1" sz="2800">
              <a:solidFill>
                <a:srgbClr val="F8FAFC"/>
              </a:solidFill>
              <a:latin typeface="Trebuchet MS"/>
              <a:ea typeface="Trebuchet MS"/>
              <a:cs typeface="Trebuchet MS"/>
              <a:sym typeface="Trebuchet MS"/>
            </a:endParaRPr>
          </a:p>
        </p:txBody>
      </p:sp>
      <p:sp>
        <p:nvSpPr>
          <p:cNvPr id="242" name="Google Shape;242;p6"/>
          <p:cNvSpPr/>
          <p:nvPr/>
        </p:nvSpPr>
        <p:spPr>
          <a:xfrm>
            <a:off x="45720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200"/>
              <a:buFont typeface="Calibri"/>
              <a:buNone/>
            </a:pPr>
            <a:r>
              <a:rPr b="0" i="1" lang="en-US" sz="1200" u="none" cap="none" strike="noStrike">
                <a:solidFill>
                  <a:srgbClr val="14B8A6"/>
                </a:solidFill>
                <a:latin typeface="Calibri"/>
                <a:ea typeface="Calibri"/>
                <a:cs typeface="Calibri"/>
                <a:sym typeface="Calibri"/>
              </a:rPr>
              <a:t>Multi-Channel Campaign Approach</a:t>
            </a:r>
            <a:endParaRPr b="0" i="0" sz="1200" u="none" cap="none" strike="noStrike">
              <a:solidFill>
                <a:schemeClr val="dk1"/>
              </a:solidFill>
              <a:latin typeface="Calibri"/>
              <a:ea typeface="Calibri"/>
              <a:cs typeface="Calibri"/>
              <a:sym typeface="Calibri"/>
            </a:endParaRPr>
          </a:p>
        </p:txBody>
      </p:sp>
      <p:sp>
        <p:nvSpPr>
          <p:cNvPr id="243" name="Google Shape;243;p6"/>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6"/>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245" name="Google Shape;245;p6"/>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sp>
        <p:nvSpPr>
          <p:cNvPr id="246" name="Google Shape;246;p6"/>
          <p:cNvSpPr/>
          <p:nvPr/>
        </p:nvSpPr>
        <p:spPr>
          <a:xfrm>
            <a:off x="137160" y="18288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6"/>
          <p:cNvSpPr/>
          <p:nvPr/>
        </p:nvSpPr>
        <p:spPr>
          <a:xfrm>
            <a:off x="411480" y="18288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a:off x="685800" y="18288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960120" y="18288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a:off x="137160" y="21031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a:off x="411480" y="21031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685800" y="21031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6"/>
          <p:cNvSpPr/>
          <p:nvPr/>
        </p:nvSpPr>
        <p:spPr>
          <a:xfrm>
            <a:off x="960120" y="21031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6"/>
          <p:cNvSpPr/>
          <p:nvPr/>
        </p:nvSpPr>
        <p:spPr>
          <a:xfrm>
            <a:off x="137160" y="23774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6"/>
          <p:cNvSpPr/>
          <p:nvPr/>
        </p:nvSpPr>
        <p:spPr>
          <a:xfrm>
            <a:off x="411480" y="23774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6"/>
          <p:cNvSpPr/>
          <p:nvPr/>
        </p:nvSpPr>
        <p:spPr>
          <a:xfrm>
            <a:off x="685800" y="23774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a:off x="960120" y="23774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6"/>
          <p:cNvSpPr/>
          <p:nvPr/>
        </p:nvSpPr>
        <p:spPr>
          <a:xfrm>
            <a:off x="137160" y="265176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a:off x="411480" y="265176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a:off x="685800" y="265176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a:off x="960120" y="265176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a:off x="137160" y="292608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a:off x="411480" y="292608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p:nvPr/>
        </p:nvSpPr>
        <p:spPr>
          <a:xfrm>
            <a:off x="685800" y="292608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a:off x="960120" y="292608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137160" y="32004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411480" y="32004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685800" y="32004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
          <p:cNvSpPr/>
          <p:nvPr/>
        </p:nvSpPr>
        <p:spPr>
          <a:xfrm>
            <a:off x="960120" y="320040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
          <p:cNvSpPr/>
          <p:nvPr/>
        </p:nvSpPr>
        <p:spPr>
          <a:xfrm>
            <a:off x="137160" y="34747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6"/>
          <p:cNvSpPr/>
          <p:nvPr/>
        </p:nvSpPr>
        <p:spPr>
          <a:xfrm>
            <a:off x="411480" y="34747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a:off x="685800" y="34747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a:off x="960120" y="347472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a:off x="137160" y="37490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a:off x="411480" y="37490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6"/>
          <p:cNvSpPr/>
          <p:nvPr/>
        </p:nvSpPr>
        <p:spPr>
          <a:xfrm>
            <a:off x="685800" y="37490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6"/>
          <p:cNvSpPr/>
          <p:nvPr/>
        </p:nvSpPr>
        <p:spPr>
          <a:xfrm>
            <a:off x="960120" y="3749040"/>
            <a:ext cx="54864" cy="54864"/>
          </a:xfrm>
          <a:prstGeom prst="ellipse">
            <a:avLst/>
          </a:prstGeom>
          <a:solidFill>
            <a:srgbClr val="0D9488">
              <a:alpha val="7058"/>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274320" y="1207008"/>
            <a:ext cx="4114800" cy="1691640"/>
          </a:xfrm>
          <a:prstGeom prst="rect">
            <a:avLst/>
          </a:prstGeom>
          <a:solidFill>
            <a:srgbClr val="161B22"/>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a:off x="274320" y="1207008"/>
            <a:ext cx="4114800" cy="347472"/>
          </a:xfrm>
          <a:prstGeom prst="rect">
            <a:avLst/>
          </a:prstGeom>
          <a:solidFill>
            <a:srgbClr val="0D9488">
              <a:alpha val="25098"/>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0" name="Google Shape;280;p6"/>
          <p:cNvPicPr preferRelativeResize="0"/>
          <p:nvPr/>
        </p:nvPicPr>
        <p:blipFill rotWithShape="1">
          <a:blip r:embed="rId3">
            <a:alphaModFix/>
          </a:blip>
          <a:srcRect b="0" l="0" r="0" t="0"/>
          <a:stretch/>
        </p:blipFill>
        <p:spPr>
          <a:xfrm>
            <a:off x="411480" y="1271016"/>
            <a:ext cx="228600" cy="228600"/>
          </a:xfrm>
          <a:prstGeom prst="rect">
            <a:avLst/>
          </a:prstGeom>
          <a:noFill/>
          <a:ln>
            <a:noFill/>
          </a:ln>
        </p:spPr>
      </p:pic>
      <p:sp>
        <p:nvSpPr>
          <p:cNvPr id="281" name="Google Shape;281;p6"/>
          <p:cNvSpPr/>
          <p:nvPr/>
        </p:nvSpPr>
        <p:spPr>
          <a:xfrm>
            <a:off x="731520" y="127101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300"/>
              <a:buFont typeface="Trebuchet MS"/>
              <a:buNone/>
            </a:pPr>
            <a:r>
              <a:rPr b="1" i="0" lang="en-US" sz="1300" u="none" cap="none" strike="noStrike">
                <a:solidFill>
                  <a:srgbClr val="0D9488"/>
                </a:solidFill>
                <a:latin typeface="Trebuchet MS"/>
                <a:ea typeface="Trebuchet MS"/>
                <a:cs typeface="Trebuchet MS"/>
                <a:sym typeface="Trebuchet MS"/>
              </a:rPr>
              <a:t>Social Media</a:t>
            </a:r>
            <a:endParaRPr b="0" i="0" sz="1300" u="none" cap="none" strike="noStrike">
              <a:solidFill>
                <a:schemeClr val="dk1"/>
              </a:solidFill>
              <a:latin typeface="Calibri"/>
              <a:ea typeface="Calibri"/>
              <a:cs typeface="Calibri"/>
              <a:sym typeface="Calibri"/>
            </a:endParaRPr>
          </a:p>
        </p:txBody>
      </p:sp>
      <p:sp>
        <p:nvSpPr>
          <p:cNvPr id="282" name="Google Shape;282;p6"/>
          <p:cNvSpPr/>
          <p:nvPr/>
        </p:nvSpPr>
        <p:spPr>
          <a:xfrm>
            <a:off x="457200" y="1618488"/>
            <a:ext cx="374904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Tiktok and Instagram reels targeting a younger audience</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Partner with other fitness creators to show real use</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Short content to show the </a:t>
            </a:r>
            <a:r>
              <a:rPr lang="en-US" sz="950">
                <a:solidFill>
                  <a:srgbClr val="94A3B8"/>
                </a:solidFill>
                <a:latin typeface="Calibri"/>
                <a:ea typeface="Calibri"/>
                <a:cs typeface="Calibri"/>
                <a:sym typeface="Calibri"/>
              </a:rPr>
              <a:t>functionality</a:t>
            </a:r>
            <a:r>
              <a:rPr lang="en-US" sz="950">
                <a:solidFill>
                  <a:srgbClr val="94A3B8"/>
                </a:solidFill>
                <a:latin typeface="Calibri"/>
                <a:ea typeface="Calibri"/>
                <a:cs typeface="Calibri"/>
                <a:sym typeface="Calibri"/>
              </a:rPr>
              <a:t> of the product</a:t>
            </a:r>
            <a:endParaRPr sz="950">
              <a:solidFill>
                <a:srgbClr val="94A3B8"/>
              </a:solidFill>
              <a:latin typeface="Calibri"/>
              <a:ea typeface="Calibri"/>
              <a:cs typeface="Calibri"/>
              <a:sym typeface="Calibri"/>
            </a:endParaRPr>
          </a:p>
        </p:txBody>
      </p:sp>
      <p:sp>
        <p:nvSpPr>
          <p:cNvPr id="283" name="Google Shape;283;p6"/>
          <p:cNvSpPr/>
          <p:nvPr/>
        </p:nvSpPr>
        <p:spPr>
          <a:xfrm>
            <a:off x="4663440" y="1207008"/>
            <a:ext cx="4114800" cy="1691640"/>
          </a:xfrm>
          <a:prstGeom prst="rect">
            <a:avLst/>
          </a:prstGeom>
          <a:solidFill>
            <a:srgbClr val="161B22"/>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6"/>
          <p:cNvSpPr/>
          <p:nvPr/>
        </p:nvSpPr>
        <p:spPr>
          <a:xfrm>
            <a:off x="4663440" y="1207008"/>
            <a:ext cx="4114800" cy="347472"/>
          </a:xfrm>
          <a:prstGeom prst="rect">
            <a:avLst/>
          </a:prstGeom>
          <a:solidFill>
            <a:srgbClr val="38BDF8">
              <a:alpha val="25098"/>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5" name="Google Shape;285;p6"/>
          <p:cNvPicPr preferRelativeResize="0"/>
          <p:nvPr/>
        </p:nvPicPr>
        <p:blipFill rotWithShape="1">
          <a:blip r:embed="rId4">
            <a:alphaModFix/>
          </a:blip>
          <a:srcRect b="0" l="0" r="0" t="0"/>
          <a:stretch/>
        </p:blipFill>
        <p:spPr>
          <a:xfrm>
            <a:off x="4800600" y="1271016"/>
            <a:ext cx="228600" cy="228600"/>
          </a:xfrm>
          <a:prstGeom prst="rect">
            <a:avLst/>
          </a:prstGeom>
          <a:noFill/>
          <a:ln>
            <a:noFill/>
          </a:ln>
        </p:spPr>
      </p:pic>
      <p:sp>
        <p:nvSpPr>
          <p:cNvPr id="286" name="Google Shape;286;p6"/>
          <p:cNvSpPr/>
          <p:nvPr/>
        </p:nvSpPr>
        <p:spPr>
          <a:xfrm>
            <a:off x="5120640" y="127101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1300"/>
              <a:buFont typeface="Trebuchet MS"/>
              <a:buNone/>
            </a:pPr>
            <a:r>
              <a:rPr b="1" i="0" lang="en-US" sz="1300" u="none" cap="none" strike="noStrike">
                <a:solidFill>
                  <a:srgbClr val="38BDF8"/>
                </a:solidFill>
                <a:latin typeface="Trebuchet MS"/>
                <a:ea typeface="Trebuchet MS"/>
                <a:cs typeface="Trebuchet MS"/>
                <a:sym typeface="Trebuchet MS"/>
              </a:rPr>
              <a:t>Content Marketing</a:t>
            </a:r>
            <a:endParaRPr b="0" i="0" sz="1300" u="none" cap="none" strike="noStrike">
              <a:solidFill>
                <a:schemeClr val="dk1"/>
              </a:solidFill>
              <a:latin typeface="Calibri"/>
              <a:ea typeface="Calibri"/>
              <a:cs typeface="Calibri"/>
              <a:sym typeface="Calibri"/>
            </a:endParaRPr>
          </a:p>
        </p:txBody>
      </p:sp>
      <p:sp>
        <p:nvSpPr>
          <p:cNvPr id="287" name="Google Shape;287;p6"/>
          <p:cNvSpPr/>
          <p:nvPr/>
        </p:nvSpPr>
        <p:spPr>
          <a:xfrm>
            <a:off x="4846320" y="1618488"/>
            <a:ext cx="374904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B</a:t>
            </a:r>
            <a:r>
              <a:rPr lang="en-US" sz="950">
                <a:solidFill>
                  <a:srgbClr val="94A3B8"/>
                </a:solidFill>
                <a:latin typeface="Calibri"/>
                <a:ea typeface="Calibri"/>
                <a:cs typeface="Calibri"/>
                <a:sym typeface="Calibri"/>
              </a:rPr>
              <a:t>log posts (Ex: How hydration improves focus, energy, and gym performance)</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Youtube/Tiktok demos showing how the product is used</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Before v After hydration habit demonstrations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Infographics on hydration benefits</a:t>
            </a:r>
            <a:endParaRPr sz="950">
              <a:solidFill>
                <a:srgbClr val="94A3B8"/>
              </a:solidFill>
              <a:latin typeface="Calibri"/>
              <a:ea typeface="Calibri"/>
              <a:cs typeface="Calibri"/>
              <a:sym typeface="Calibri"/>
            </a:endParaRPr>
          </a:p>
        </p:txBody>
      </p:sp>
      <p:sp>
        <p:nvSpPr>
          <p:cNvPr id="288" name="Google Shape;288;p6"/>
          <p:cNvSpPr/>
          <p:nvPr/>
        </p:nvSpPr>
        <p:spPr>
          <a:xfrm>
            <a:off x="274320" y="3081528"/>
            <a:ext cx="4114800" cy="1691640"/>
          </a:xfrm>
          <a:prstGeom prst="rect">
            <a:avLst/>
          </a:prstGeom>
          <a:solidFill>
            <a:srgbClr val="161B22"/>
          </a:solidFill>
          <a:ln cap="flat" cmpd="sng" w="12700">
            <a:solidFill>
              <a:srgbClr val="5EEA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a:off x="274320" y="3081528"/>
            <a:ext cx="4114800" cy="347472"/>
          </a:xfrm>
          <a:prstGeom prst="rect">
            <a:avLst/>
          </a:prstGeom>
          <a:solidFill>
            <a:srgbClr val="5EEAD4">
              <a:alpha val="25098"/>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0" name="Google Shape;290;p6"/>
          <p:cNvPicPr preferRelativeResize="0"/>
          <p:nvPr/>
        </p:nvPicPr>
        <p:blipFill rotWithShape="1">
          <a:blip r:embed="rId5">
            <a:alphaModFix/>
          </a:blip>
          <a:srcRect b="0" l="0" r="0" t="0"/>
          <a:stretch/>
        </p:blipFill>
        <p:spPr>
          <a:xfrm>
            <a:off x="411480" y="3145536"/>
            <a:ext cx="228600" cy="228600"/>
          </a:xfrm>
          <a:prstGeom prst="rect">
            <a:avLst/>
          </a:prstGeom>
          <a:noFill/>
          <a:ln>
            <a:noFill/>
          </a:ln>
        </p:spPr>
      </p:pic>
      <p:sp>
        <p:nvSpPr>
          <p:cNvPr id="291" name="Google Shape;291;p6"/>
          <p:cNvSpPr/>
          <p:nvPr/>
        </p:nvSpPr>
        <p:spPr>
          <a:xfrm>
            <a:off x="731520" y="314553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1300"/>
              <a:buFont typeface="Trebuchet MS"/>
              <a:buNone/>
            </a:pPr>
            <a:r>
              <a:rPr b="1" i="0" lang="en-US" sz="1300" u="none" cap="none" strike="noStrike">
                <a:solidFill>
                  <a:srgbClr val="5EEAD4"/>
                </a:solidFill>
                <a:latin typeface="Trebuchet MS"/>
                <a:ea typeface="Trebuchet MS"/>
                <a:cs typeface="Trebuchet MS"/>
                <a:sym typeface="Trebuchet MS"/>
              </a:rPr>
              <a:t>Email Marketing</a:t>
            </a:r>
            <a:endParaRPr b="0" i="0" sz="1300" u="none" cap="none" strike="noStrike">
              <a:solidFill>
                <a:schemeClr val="dk1"/>
              </a:solidFill>
              <a:latin typeface="Calibri"/>
              <a:ea typeface="Calibri"/>
              <a:cs typeface="Calibri"/>
              <a:sym typeface="Calibri"/>
            </a:endParaRPr>
          </a:p>
        </p:txBody>
      </p:sp>
      <p:sp>
        <p:nvSpPr>
          <p:cNvPr id="292" name="Google Shape;292;p6"/>
          <p:cNvSpPr/>
          <p:nvPr/>
        </p:nvSpPr>
        <p:spPr>
          <a:xfrm>
            <a:off x="457200" y="3493008"/>
            <a:ext cx="374904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Welcome</a:t>
            </a:r>
            <a:r>
              <a:rPr lang="en-US" sz="950">
                <a:solidFill>
                  <a:srgbClr val="94A3B8"/>
                </a:solidFill>
                <a:latin typeface="Calibri"/>
                <a:ea typeface="Calibri"/>
                <a:cs typeface="Calibri"/>
                <a:sym typeface="Calibri"/>
              </a:rPr>
              <a:t> email: How to set up your hydration goals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Weekly hydration, fitness, or productivity tips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Reminder emails for inactive users</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Discount emails for students</a:t>
            </a:r>
            <a:endParaRPr sz="950">
              <a:solidFill>
                <a:srgbClr val="94A3B8"/>
              </a:solidFill>
              <a:latin typeface="Calibri"/>
              <a:ea typeface="Calibri"/>
              <a:cs typeface="Calibri"/>
              <a:sym typeface="Calibri"/>
            </a:endParaRPr>
          </a:p>
        </p:txBody>
      </p:sp>
      <p:sp>
        <p:nvSpPr>
          <p:cNvPr id="293" name="Google Shape;293;p6"/>
          <p:cNvSpPr/>
          <p:nvPr/>
        </p:nvSpPr>
        <p:spPr>
          <a:xfrm>
            <a:off x="4663440" y="3081528"/>
            <a:ext cx="4114800" cy="1691640"/>
          </a:xfrm>
          <a:prstGeom prst="rect">
            <a:avLst/>
          </a:prstGeom>
          <a:solidFill>
            <a:srgbClr val="161B22"/>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6"/>
          <p:cNvSpPr/>
          <p:nvPr/>
        </p:nvSpPr>
        <p:spPr>
          <a:xfrm>
            <a:off x="4663440" y="3081528"/>
            <a:ext cx="4114800" cy="347472"/>
          </a:xfrm>
          <a:prstGeom prst="rect">
            <a:avLst/>
          </a:prstGeom>
          <a:solidFill>
            <a:srgbClr val="F59E0B">
              <a:alpha val="25098"/>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5" name="Google Shape;295;p6"/>
          <p:cNvPicPr preferRelativeResize="0"/>
          <p:nvPr/>
        </p:nvPicPr>
        <p:blipFill rotWithShape="1">
          <a:blip r:embed="rId6">
            <a:alphaModFix/>
          </a:blip>
          <a:srcRect b="0" l="0" r="0" t="0"/>
          <a:stretch/>
        </p:blipFill>
        <p:spPr>
          <a:xfrm>
            <a:off x="4800600" y="3145536"/>
            <a:ext cx="228600" cy="228600"/>
          </a:xfrm>
          <a:prstGeom prst="rect">
            <a:avLst/>
          </a:prstGeom>
          <a:noFill/>
          <a:ln>
            <a:noFill/>
          </a:ln>
        </p:spPr>
      </p:pic>
      <p:sp>
        <p:nvSpPr>
          <p:cNvPr id="296" name="Google Shape;296;p6"/>
          <p:cNvSpPr/>
          <p:nvPr/>
        </p:nvSpPr>
        <p:spPr>
          <a:xfrm>
            <a:off x="5120640" y="314553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Trebuchet MS"/>
              <a:buNone/>
            </a:pPr>
            <a:r>
              <a:rPr b="1" i="0" lang="en-US" sz="1300" u="none" cap="none" strike="noStrike">
                <a:solidFill>
                  <a:srgbClr val="F59E0B"/>
                </a:solidFill>
                <a:latin typeface="Trebuchet MS"/>
                <a:ea typeface="Trebuchet MS"/>
                <a:cs typeface="Trebuchet MS"/>
                <a:sym typeface="Trebuchet MS"/>
              </a:rPr>
              <a:t>SEO &amp; Discovery</a:t>
            </a:r>
            <a:endParaRPr b="0" i="0" sz="1300" u="none" cap="none" strike="noStrike">
              <a:solidFill>
                <a:schemeClr val="dk1"/>
              </a:solidFill>
              <a:latin typeface="Calibri"/>
              <a:ea typeface="Calibri"/>
              <a:cs typeface="Calibri"/>
              <a:sym typeface="Calibri"/>
            </a:endParaRPr>
          </a:p>
        </p:txBody>
      </p:sp>
      <p:sp>
        <p:nvSpPr>
          <p:cNvPr id="297" name="Google Shape;297;p6"/>
          <p:cNvSpPr/>
          <p:nvPr/>
        </p:nvSpPr>
        <p:spPr>
          <a:xfrm>
            <a:off x="4846320" y="3493008"/>
            <a:ext cx="3749040" cy="118872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50"/>
              <a:buFont typeface="Calibri"/>
              <a:buChar char="•"/>
            </a:pPr>
            <a:r>
              <a:rPr b="0" i="0" lang="en-US" sz="950" u="none" cap="none" strike="noStrike">
                <a:solidFill>
                  <a:srgbClr val="94A3B8"/>
                </a:solidFill>
                <a:latin typeface="Calibri"/>
                <a:ea typeface="Calibri"/>
                <a:cs typeface="Calibri"/>
                <a:sym typeface="Calibri"/>
              </a:rPr>
              <a:t>Target</a:t>
            </a:r>
            <a:r>
              <a:rPr lang="en-US" sz="950">
                <a:solidFill>
                  <a:srgbClr val="94A3B8"/>
                </a:solidFill>
                <a:latin typeface="Calibri"/>
                <a:ea typeface="Calibri"/>
                <a:cs typeface="Calibri"/>
                <a:sym typeface="Calibri"/>
              </a:rPr>
              <a:t> keywords (“smart water bottle”, “hydration tracker”, “how to drink more water”)</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Use Tiktok hashtags for discovery</a:t>
            </a:r>
            <a:endParaRPr sz="95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50"/>
              <a:buFont typeface="Calibri"/>
              <a:buChar char="•"/>
            </a:pPr>
            <a:r>
              <a:rPr lang="en-US" sz="950">
                <a:solidFill>
                  <a:srgbClr val="94A3B8"/>
                </a:solidFill>
                <a:latin typeface="Calibri"/>
                <a:ea typeface="Calibri"/>
                <a:cs typeface="Calibri"/>
                <a:sym typeface="Calibri"/>
              </a:rPr>
              <a:t>Reddit and fitness forums for discussion</a:t>
            </a:r>
            <a:endParaRPr sz="950">
              <a:solidFill>
                <a:srgbClr val="94A3B8"/>
              </a:solidFill>
              <a:latin typeface="Calibri"/>
              <a:ea typeface="Calibri"/>
              <a:cs typeface="Calibri"/>
              <a:sym typeface="Calibri"/>
            </a:endParaRPr>
          </a:p>
        </p:txBody>
      </p:sp>
      <p:sp>
        <p:nvSpPr>
          <p:cNvPr id="298" name="Google Shape;298;p6"/>
          <p:cNvSpPr/>
          <p:nvPr/>
        </p:nvSpPr>
        <p:spPr>
          <a:xfrm>
            <a:off x="4361688" y="1207008"/>
            <a:ext cx="320040" cy="3657600"/>
          </a:xfrm>
          <a:prstGeom prst="rect">
            <a:avLst/>
          </a:prstGeom>
          <a:solidFill>
            <a:srgbClr val="0D1117"/>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03" name="Shape 303"/>
        <p:cNvGrpSpPr/>
        <p:nvPr/>
      </p:nvGrpSpPr>
      <p:grpSpPr>
        <a:xfrm>
          <a:off x="0" y="0"/>
          <a:ext cx="0" cy="0"/>
          <a:chOff x="0" y="0"/>
          <a:chExt cx="0" cy="0"/>
        </a:xfrm>
      </p:grpSpPr>
      <p:sp>
        <p:nvSpPr>
          <p:cNvPr id="304" name="Google Shape;304;p7"/>
          <p:cNvSpPr/>
          <p:nvPr/>
        </p:nvSpPr>
        <p:spPr>
          <a:xfrm>
            <a:off x="0" y="0"/>
            <a:ext cx="9144000" cy="73152"/>
          </a:xfrm>
          <a:prstGeom prst="rect">
            <a:avLst/>
          </a:prstGeom>
          <a:solidFill>
            <a:srgbClr val="14B8A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7"/>
          <p:cNvSpPr/>
          <p:nvPr/>
        </p:nvSpPr>
        <p:spPr>
          <a:xfrm>
            <a:off x="457200" y="201168"/>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2800"/>
              <a:buFont typeface="Trebuchet MS"/>
              <a:buNone/>
            </a:pPr>
            <a:r>
              <a:rPr b="1" i="0" lang="en-US" sz="2800" u="none" cap="none" strike="noStrike">
                <a:solidFill>
                  <a:srgbClr val="F8FAFC"/>
                </a:solidFill>
                <a:latin typeface="Trebuchet MS"/>
                <a:ea typeface="Trebuchet MS"/>
                <a:cs typeface="Trebuchet MS"/>
                <a:sym typeface="Trebuchet MS"/>
              </a:rPr>
              <a:t>Implementation Plan                            </a:t>
            </a:r>
            <a:r>
              <a:rPr b="1" i="0" lang="en-US" sz="2800" u="none" cap="none" strike="noStrike">
                <a:solidFill>
                  <a:srgbClr val="B7B7B7"/>
                </a:solidFill>
                <a:latin typeface="Trebuchet MS"/>
                <a:ea typeface="Trebuchet MS"/>
                <a:cs typeface="Trebuchet MS"/>
                <a:sym typeface="Trebuchet MS"/>
              </a:rPr>
              <a:t> </a:t>
            </a:r>
            <a:r>
              <a:rPr b="1" i="0" lang="en-US" sz="1200" u="none" cap="none" strike="noStrike">
                <a:solidFill>
                  <a:srgbClr val="B7B7B7"/>
                </a:solidFill>
                <a:latin typeface="Trebuchet MS"/>
                <a:ea typeface="Trebuchet MS"/>
                <a:cs typeface="Trebuchet MS"/>
                <a:sym typeface="Trebuchet MS"/>
              </a:rPr>
              <a:t>Victoria Kokoszka</a:t>
            </a:r>
            <a:endParaRPr b="0" i="0" sz="1200" u="none" cap="none" strike="noStrike">
              <a:solidFill>
                <a:srgbClr val="B7B7B7"/>
              </a:solidFill>
              <a:latin typeface="Calibri"/>
              <a:ea typeface="Calibri"/>
              <a:cs typeface="Calibri"/>
              <a:sym typeface="Calibri"/>
            </a:endParaRPr>
          </a:p>
        </p:txBody>
      </p:sp>
      <p:sp>
        <p:nvSpPr>
          <p:cNvPr id="306" name="Google Shape;306;p7"/>
          <p:cNvSpPr/>
          <p:nvPr/>
        </p:nvSpPr>
        <p:spPr>
          <a:xfrm>
            <a:off x="45720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200"/>
              <a:buFont typeface="Calibri"/>
              <a:buNone/>
            </a:pPr>
            <a:r>
              <a:rPr i="1" lang="en-US" sz="1200">
                <a:solidFill>
                  <a:srgbClr val="14B8A6"/>
                </a:solidFill>
                <a:latin typeface="Calibri"/>
                <a:ea typeface="Calibri"/>
                <a:cs typeface="Calibri"/>
                <a:sym typeface="Calibri"/>
              </a:rPr>
              <a:t>Key Milestones &amp; Responsible Parties</a:t>
            </a:r>
            <a:endParaRPr b="0" i="0" sz="1200" u="none" cap="none" strike="noStrike">
              <a:solidFill>
                <a:schemeClr val="dk1"/>
              </a:solidFill>
              <a:latin typeface="Calibri"/>
              <a:ea typeface="Calibri"/>
              <a:cs typeface="Calibri"/>
              <a:sym typeface="Calibri"/>
            </a:endParaRPr>
          </a:p>
        </p:txBody>
      </p:sp>
      <p:sp>
        <p:nvSpPr>
          <p:cNvPr id="307" name="Google Shape;307;p7"/>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7"/>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309" name="Google Shape;309;p7"/>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sp>
        <p:nvSpPr>
          <p:cNvPr id="310" name="Google Shape;310;p7"/>
          <p:cNvSpPr/>
          <p:nvPr/>
        </p:nvSpPr>
        <p:spPr>
          <a:xfrm>
            <a:off x="457200" y="1207008"/>
            <a:ext cx="8229600" cy="73152"/>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a:off x="1051560" y="1124712"/>
            <a:ext cx="237744" cy="237744"/>
          </a:xfrm>
          <a:prstGeom prst="ellipse">
            <a:avLst/>
          </a:prstGeom>
          <a:solidFill>
            <a:srgbClr val="0D9488"/>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a:off x="365760" y="1417320"/>
            <a:ext cx="19202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900"/>
              <a:buFont typeface="Calibri"/>
              <a:buNone/>
            </a:pPr>
            <a:r>
              <a:rPr b="1" i="0" lang="en-US" sz="900" u="none" cap="none" strike="noStrike">
                <a:solidFill>
                  <a:srgbClr val="0D9488"/>
                </a:solidFill>
                <a:latin typeface="Calibri"/>
                <a:ea typeface="Calibri"/>
                <a:cs typeface="Calibri"/>
                <a:sym typeface="Calibri"/>
              </a:rPr>
              <a:t>Months 1–3</a:t>
            </a:r>
            <a:endParaRPr b="0" i="0" sz="900" u="none" cap="none" strike="noStrike">
              <a:solidFill>
                <a:schemeClr val="dk1"/>
              </a:solidFill>
              <a:latin typeface="Calibri"/>
              <a:ea typeface="Calibri"/>
              <a:cs typeface="Calibri"/>
              <a:sym typeface="Calibri"/>
            </a:endParaRPr>
          </a:p>
        </p:txBody>
      </p:sp>
      <p:sp>
        <p:nvSpPr>
          <p:cNvPr id="313" name="Google Shape;313;p7"/>
          <p:cNvSpPr/>
          <p:nvPr/>
        </p:nvSpPr>
        <p:spPr>
          <a:xfrm>
            <a:off x="365760" y="1719072"/>
            <a:ext cx="1965960" cy="2651760"/>
          </a:xfrm>
          <a:prstGeom prst="rect">
            <a:avLst/>
          </a:prstGeom>
          <a:solidFill>
            <a:srgbClr val="161B22"/>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a:off x="365760" y="1719072"/>
            <a:ext cx="1965960" cy="384048"/>
          </a:xfrm>
          <a:prstGeom prst="rect">
            <a:avLst/>
          </a:prstGeom>
          <a:solidFill>
            <a:srgbClr val="0D9488">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a:off x="457200" y="173736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Trebuchet MS"/>
              <a:buNone/>
            </a:pPr>
            <a:r>
              <a:rPr b="1" i="0" lang="en-US" sz="1000" u="none" cap="none" strike="noStrike">
                <a:solidFill>
                  <a:srgbClr val="0D9488"/>
                </a:solidFill>
                <a:latin typeface="Trebuchet MS"/>
                <a:ea typeface="Trebuchet MS"/>
                <a:cs typeface="Trebuchet MS"/>
                <a:sym typeface="Trebuchet MS"/>
              </a:rPr>
              <a:t>Phase 1</a:t>
            </a:r>
            <a:endParaRPr b="0" i="0" sz="1000" u="none" cap="none" strike="noStrike">
              <a:solidFill>
                <a:schemeClr val="dk1"/>
              </a:solidFill>
              <a:latin typeface="Calibri"/>
              <a:ea typeface="Calibri"/>
              <a:cs typeface="Calibri"/>
              <a:sym typeface="Calibri"/>
            </a:endParaRPr>
          </a:p>
        </p:txBody>
      </p:sp>
      <p:sp>
        <p:nvSpPr>
          <p:cNvPr id="316" name="Google Shape;316;p7"/>
          <p:cNvSpPr/>
          <p:nvPr/>
        </p:nvSpPr>
        <p:spPr>
          <a:xfrm>
            <a:off x="434342" y="2055264"/>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Trebuchet MS"/>
              <a:buNone/>
            </a:pPr>
            <a:r>
              <a:rPr b="1" i="0" lang="en-US" sz="1050" u="none" cap="none" strike="noStrike">
                <a:solidFill>
                  <a:srgbClr val="BAE6FD"/>
                </a:solidFill>
                <a:latin typeface="Trebuchet MS"/>
                <a:ea typeface="Trebuchet MS"/>
                <a:cs typeface="Trebuchet MS"/>
                <a:sym typeface="Trebuchet MS"/>
              </a:rPr>
              <a:t>Research &amp; Development</a:t>
            </a:r>
            <a:endParaRPr b="0" i="0" sz="1050" u="none" cap="none" strike="noStrike">
              <a:solidFill>
                <a:schemeClr val="dk1"/>
              </a:solidFill>
              <a:latin typeface="Calibri"/>
              <a:ea typeface="Calibri"/>
              <a:cs typeface="Calibri"/>
              <a:sym typeface="Calibri"/>
            </a:endParaRPr>
          </a:p>
        </p:txBody>
      </p:sp>
      <p:sp>
        <p:nvSpPr>
          <p:cNvPr id="317" name="Google Shape;317;p7"/>
          <p:cNvSpPr/>
          <p:nvPr/>
        </p:nvSpPr>
        <p:spPr>
          <a:xfrm>
            <a:off x="411475" y="2501652"/>
            <a:ext cx="1874400" cy="1719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Study products that have similar features (FitBit, LARQ) and other water bottle brands and their new features (HydroFlask, Stanley)</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Consult with developers to find the logistics of the product and create blueprints</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Conduct studies among current Owala customers by offering discounts as incentives</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Research the water bottle market for the profitability of creating this product. </a:t>
            </a:r>
            <a:endParaRPr sz="900">
              <a:solidFill>
                <a:srgbClr val="94A3B8"/>
              </a:solidFill>
              <a:latin typeface="Calibri"/>
              <a:ea typeface="Calibri"/>
              <a:cs typeface="Calibri"/>
              <a:sym typeface="Calibri"/>
            </a:endParaRPr>
          </a:p>
        </p:txBody>
      </p:sp>
      <p:sp>
        <p:nvSpPr>
          <p:cNvPr id="318" name="Google Shape;318;p7"/>
          <p:cNvSpPr/>
          <p:nvPr/>
        </p:nvSpPr>
        <p:spPr>
          <a:xfrm>
            <a:off x="3200400" y="1124712"/>
            <a:ext cx="237744" cy="237744"/>
          </a:xfrm>
          <a:prstGeom prst="ellipse">
            <a:avLst/>
          </a:prstGeom>
          <a:solidFill>
            <a:srgbClr val="38BDF8"/>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2514600" y="1417320"/>
            <a:ext cx="19202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8BDF8"/>
              </a:buClr>
              <a:buSzPts val="900"/>
              <a:buFont typeface="Calibri"/>
              <a:buNone/>
            </a:pPr>
            <a:r>
              <a:rPr b="1" i="0" lang="en-US" sz="900" u="none" cap="none" strike="noStrike">
                <a:solidFill>
                  <a:srgbClr val="38BDF8"/>
                </a:solidFill>
                <a:latin typeface="Calibri"/>
                <a:ea typeface="Calibri"/>
                <a:cs typeface="Calibri"/>
                <a:sym typeface="Calibri"/>
              </a:rPr>
              <a:t>Months 4–6</a:t>
            </a:r>
            <a:endParaRPr b="0" i="0" sz="900" u="none" cap="none" strike="noStrike">
              <a:solidFill>
                <a:schemeClr val="dk1"/>
              </a:solidFill>
              <a:latin typeface="Calibri"/>
              <a:ea typeface="Calibri"/>
              <a:cs typeface="Calibri"/>
              <a:sym typeface="Calibri"/>
            </a:endParaRPr>
          </a:p>
        </p:txBody>
      </p:sp>
      <p:sp>
        <p:nvSpPr>
          <p:cNvPr id="320" name="Google Shape;320;p7"/>
          <p:cNvSpPr/>
          <p:nvPr/>
        </p:nvSpPr>
        <p:spPr>
          <a:xfrm>
            <a:off x="2514600" y="1719072"/>
            <a:ext cx="1965960" cy="2651760"/>
          </a:xfrm>
          <a:prstGeom prst="rect">
            <a:avLst/>
          </a:prstGeom>
          <a:solidFill>
            <a:srgbClr val="161B22"/>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7"/>
          <p:cNvSpPr/>
          <p:nvPr/>
        </p:nvSpPr>
        <p:spPr>
          <a:xfrm>
            <a:off x="2514600" y="1719072"/>
            <a:ext cx="1965960" cy="384048"/>
          </a:xfrm>
          <a:prstGeom prst="rect">
            <a:avLst/>
          </a:prstGeom>
          <a:solidFill>
            <a:srgbClr val="38BDF8">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p:nvPr/>
        </p:nvSpPr>
        <p:spPr>
          <a:xfrm>
            <a:off x="2606040" y="173736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1000"/>
              <a:buFont typeface="Trebuchet MS"/>
              <a:buNone/>
            </a:pPr>
            <a:r>
              <a:rPr b="1" i="0" lang="en-US" sz="1000" u="none" cap="none" strike="noStrike">
                <a:solidFill>
                  <a:srgbClr val="38BDF8"/>
                </a:solidFill>
                <a:latin typeface="Trebuchet MS"/>
                <a:ea typeface="Trebuchet MS"/>
                <a:cs typeface="Trebuchet MS"/>
                <a:sym typeface="Trebuchet MS"/>
              </a:rPr>
              <a:t>Phase 2</a:t>
            </a:r>
            <a:endParaRPr b="0" i="0" sz="1000" u="none" cap="none" strike="noStrike">
              <a:solidFill>
                <a:schemeClr val="dk1"/>
              </a:solidFill>
              <a:latin typeface="Calibri"/>
              <a:ea typeface="Calibri"/>
              <a:cs typeface="Calibri"/>
              <a:sym typeface="Calibri"/>
            </a:endParaRPr>
          </a:p>
        </p:txBody>
      </p:sp>
      <p:sp>
        <p:nvSpPr>
          <p:cNvPr id="323" name="Google Shape;323;p7"/>
          <p:cNvSpPr/>
          <p:nvPr/>
        </p:nvSpPr>
        <p:spPr>
          <a:xfrm>
            <a:off x="2537488" y="2055274"/>
            <a:ext cx="1965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Trebuchet MS"/>
              <a:buNone/>
            </a:pPr>
            <a:r>
              <a:rPr b="1" i="0" lang="en-US" sz="1050" u="none" cap="none" strike="noStrike">
                <a:solidFill>
                  <a:srgbClr val="BAE6FD"/>
                </a:solidFill>
                <a:latin typeface="Trebuchet MS"/>
                <a:ea typeface="Trebuchet MS"/>
                <a:cs typeface="Trebuchet MS"/>
                <a:sym typeface="Trebuchet MS"/>
              </a:rPr>
              <a:t>Pre-Launch &amp; Marketing Prep</a:t>
            </a:r>
            <a:endParaRPr b="0" i="0" sz="1050" u="none" cap="none" strike="noStrike">
              <a:solidFill>
                <a:schemeClr val="dk1"/>
              </a:solidFill>
              <a:latin typeface="Calibri"/>
              <a:ea typeface="Calibri"/>
              <a:cs typeface="Calibri"/>
              <a:sym typeface="Calibri"/>
            </a:endParaRPr>
          </a:p>
        </p:txBody>
      </p:sp>
      <p:sp>
        <p:nvSpPr>
          <p:cNvPr id="324" name="Google Shape;324;p7"/>
          <p:cNvSpPr/>
          <p:nvPr/>
        </p:nvSpPr>
        <p:spPr>
          <a:xfrm>
            <a:off x="2537407" y="2478057"/>
            <a:ext cx="1783200" cy="1719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Gain a control group of customers and have them use the new cap for 2 weeks - a month, and review the findings </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Research each niche marketing that this cap would fall into and decide (health buffs, new moms, everyday active individuals)</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Connect with influencers and other online figures to find an advertising partnership </a:t>
            </a:r>
            <a:endParaRPr sz="900">
              <a:solidFill>
                <a:srgbClr val="94A3B8"/>
              </a:solidFill>
              <a:latin typeface="Calibri"/>
              <a:ea typeface="Calibri"/>
              <a:cs typeface="Calibri"/>
              <a:sym typeface="Calibri"/>
            </a:endParaRPr>
          </a:p>
        </p:txBody>
      </p:sp>
      <p:sp>
        <p:nvSpPr>
          <p:cNvPr id="325" name="Google Shape;325;p7"/>
          <p:cNvSpPr/>
          <p:nvPr/>
        </p:nvSpPr>
        <p:spPr>
          <a:xfrm>
            <a:off x="5349240" y="1124712"/>
            <a:ext cx="237744" cy="237744"/>
          </a:xfrm>
          <a:prstGeom prst="ellipse">
            <a:avLst/>
          </a:prstGeom>
          <a:solidFill>
            <a:srgbClr val="5EEAD4"/>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a:off x="4663440" y="1417320"/>
            <a:ext cx="19202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EAD4"/>
              </a:buClr>
              <a:buSzPts val="900"/>
              <a:buFont typeface="Calibri"/>
              <a:buNone/>
            </a:pPr>
            <a:r>
              <a:rPr b="1" i="0" lang="en-US" sz="900" u="none" cap="none" strike="noStrike">
                <a:solidFill>
                  <a:srgbClr val="5EEAD4"/>
                </a:solidFill>
                <a:latin typeface="Calibri"/>
                <a:ea typeface="Calibri"/>
                <a:cs typeface="Calibri"/>
                <a:sym typeface="Calibri"/>
              </a:rPr>
              <a:t>Month 7</a:t>
            </a:r>
            <a:endParaRPr b="0" i="0" sz="900" u="none" cap="none" strike="noStrike">
              <a:solidFill>
                <a:schemeClr val="dk1"/>
              </a:solidFill>
              <a:latin typeface="Calibri"/>
              <a:ea typeface="Calibri"/>
              <a:cs typeface="Calibri"/>
              <a:sym typeface="Calibri"/>
            </a:endParaRPr>
          </a:p>
        </p:txBody>
      </p:sp>
      <p:sp>
        <p:nvSpPr>
          <p:cNvPr id="327" name="Google Shape;327;p7"/>
          <p:cNvSpPr/>
          <p:nvPr/>
        </p:nvSpPr>
        <p:spPr>
          <a:xfrm>
            <a:off x="4663440" y="1719072"/>
            <a:ext cx="1965960" cy="2651760"/>
          </a:xfrm>
          <a:prstGeom prst="rect">
            <a:avLst/>
          </a:prstGeom>
          <a:solidFill>
            <a:srgbClr val="161B22"/>
          </a:solidFill>
          <a:ln cap="flat" cmpd="sng" w="12700">
            <a:solidFill>
              <a:srgbClr val="5EEA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7"/>
          <p:cNvSpPr/>
          <p:nvPr/>
        </p:nvSpPr>
        <p:spPr>
          <a:xfrm>
            <a:off x="4663440" y="1719072"/>
            <a:ext cx="1965960" cy="384048"/>
          </a:xfrm>
          <a:prstGeom prst="rect">
            <a:avLst/>
          </a:prstGeom>
          <a:solidFill>
            <a:srgbClr val="5EEAD4">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4754880" y="173736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1000"/>
              <a:buFont typeface="Trebuchet MS"/>
              <a:buNone/>
            </a:pPr>
            <a:r>
              <a:rPr b="1" i="0" lang="en-US" sz="1000" u="none" cap="none" strike="noStrike">
                <a:solidFill>
                  <a:srgbClr val="5EEAD4"/>
                </a:solidFill>
                <a:latin typeface="Trebuchet MS"/>
                <a:ea typeface="Trebuchet MS"/>
                <a:cs typeface="Trebuchet MS"/>
                <a:sym typeface="Trebuchet MS"/>
              </a:rPr>
              <a:t>Phase 3</a:t>
            </a:r>
            <a:endParaRPr b="0" i="0" sz="1000" u="none" cap="none" strike="noStrike">
              <a:solidFill>
                <a:schemeClr val="dk1"/>
              </a:solidFill>
              <a:latin typeface="Calibri"/>
              <a:ea typeface="Calibri"/>
              <a:cs typeface="Calibri"/>
              <a:sym typeface="Calibri"/>
            </a:endParaRPr>
          </a:p>
        </p:txBody>
      </p:sp>
      <p:sp>
        <p:nvSpPr>
          <p:cNvPr id="330" name="Google Shape;330;p7"/>
          <p:cNvSpPr/>
          <p:nvPr/>
        </p:nvSpPr>
        <p:spPr>
          <a:xfrm>
            <a:off x="4709185" y="2071413"/>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Trebuchet MS"/>
              <a:buNone/>
            </a:pPr>
            <a:r>
              <a:rPr b="1" i="0" lang="en-US" sz="1050" u="none" cap="none" strike="noStrike">
                <a:solidFill>
                  <a:srgbClr val="BAE6FD"/>
                </a:solidFill>
                <a:latin typeface="Trebuchet MS"/>
                <a:ea typeface="Trebuchet MS"/>
                <a:cs typeface="Trebuchet MS"/>
                <a:sym typeface="Trebuchet MS"/>
              </a:rPr>
              <a:t>Official Launch</a:t>
            </a:r>
            <a:endParaRPr b="0" i="0" sz="1050" u="none" cap="none" strike="noStrike">
              <a:solidFill>
                <a:schemeClr val="dk1"/>
              </a:solidFill>
              <a:latin typeface="Calibri"/>
              <a:ea typeface="Calibri"/>
              <a:cs typeface="Calibri"/>
              <a:sym typeface="Calibri"/>
            </a:endParaRPr>
          </a:p>
        </p:txBody>
      </p:sp>
      <p:sp>
        <p:nvSpPr>
          <p:cNvPr id="331" name="Google Shape;331;p7"/>
          <p:cNvSpPr/>
          <p:nvPr/>
        </p:nvSpPr>
        <p:spPr>
          <a:xfrm>
            <a:off x="4709160" y="2542032"/>
            <a:ext cx="1783080" cy="1719072"/>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Promote via all media mentioned previously </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Launch on the Owala website + Target/do in store giveaways</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Pay for further advertising on search engines, social media, and streaming platforms </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Reach out for a potential celebrity sponsorship </a:t>
            </a:r>
            <a:endParaRPr sz="900">
              <a:solidFill>
                <a:srgbClr val="94A3B8"/>
              </a:solidFill>
              <a:latin typeface="Calibri"/>
              <a:ea typeface="Calibri"/>
              <a:cs typeface="Calibri"/>
              <a:sym typeface="Calibri"/>
            </a:endParaRPr>
          </a:p>
        </p:txBody>
      </p:sp>
      <p:sp>
        <p:nvSpPr>
          <p:cNvPr id="332" name="Google Shape;332;p7"/>
          <p:cNvSpPr/>
          <p:nvPr/>
        </p:nvSpPr>
        <p:spPr>
          <a:xfrm>
            <a:off x="7498080" y="1124712"/>
            <a:ext cx="237744" cy="237744"/>
          </a:xfrm>
          <a:prstGeom prst="ellipse">
            <a:avLst/>
          </a:prstGeom>
          <a:solidFill>
            <a:srgbClr val="F59E0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6812280" y="1417320"/>
            <a:ext cx="19202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900"/>
              <a:buFont typeface="Calibri"/>
              <a:buNone/>
            </a:pPr>
            <a:r>
              <a:rPr b="1" i="0" lang="en-US" sz="900" u="none" cap="none" strike="noStrike">
                <a:solidFill>
                  <a:srgbClr val="F59E0B"/>
                </a:solidFill>
                <a:latin typeface="Calibri"/>
                <a:ea typeface="Calibri"/>
                <a:cs typeface="Calibri"/>
                <a:sym typeface="Calibri"/>
              </a:rPr>
              <a:t>Months 8–12</a:t>
            </a:r>
            <a:endParaRPr b="0" i="0" sz="900" u="none" cap="none" strike="noStrike">
              <a:solidFill>
                <a:schemeClr val="dk1"/>
              </a:solidFill>
              <a:latin typeface="Calibri"/>
              <a:ea typeface="Calibri"/>
              <a:cs typeface="Calibri"/>
              <a:sym typeface="Calibri"/>
            </a:endParaRPr>
          </a:p>
        </p:txBody>
      </p:sp>
      <p:sp>
        <p:nvSpPr>
          <p:cNvPr id="334" name="Google Shape;334;p7"/>
          <p:cNvSpPr/>
          <p:nvPr/>
        </p:nvSpPr>
        <p:spPr>
          <a:xfrm>
            <a:off x="6812280" y="1719072"/>
            <a:ext cx="1965960" cy="2651760"/>
          </a:xfrm>
          <a:prstGeom prst="rect">
            <a:avLst/>
          </a:prstGeom>
          <a:solidFill>
            <a:srgbClr val="161B22"/>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p:nvPr/>
        </p:nvSpPr>
        <p:spPr>
          <a:xfrm>
            <a:off x="6812280" y="1719072"/>
            <a:ext cx="1965960" cy="384048"/>
          </a:xfrm>
          <a:prstGeom prst="rect">
            <a:avLst/>
          </a:prstGeom>
          <a:solidFill>
            <a:srgbClr val="F59E0B">
              <a:alpha val="30196"/>
            </a:srgbClr>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a:off x="6903720" y="1737360"/>
            <a:ext cx="914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000"/>
              <a:buFont typeface="Trebuchet MS"/>
              <a:buNone/>
            </a:pPr>
            <a:r>
              <a:rPr b="1" i="0" lang="en-US" sz="1000" u="none" cap="none" strike="noStrike">
                <a:solidFill>
                  <a:srgbClr val="F59E0B"/>
                </a:solidFill>
                <a:latin typeface="Trebuchet MS"/>
                <a:ea typeface="Trebuchet MS"/>
                <a:cs typeface="Trebuchet MS"/>
                <a:sym typeface="Trebuchet MS"/>
              </a:rPr>
              <a:t>Phase 4</a:t>
            </a:r>
            <a:endParaRPr b="0" i="0" sz="1000" u="none" cap="none" strike="noStrike">
              <a:solidFill>
                <a:schemeClr val="dk1"/>
              </a:solidFill>
              <a:latin typeface="Calibri"/>
              <a:ea typeface="Calibri"/>
              <a:cs typeface="Calibri"/>
              <a:sym typeface="Calibri"/>
            </a:endParaRPr>
          </a:p>
        </p:txBody>
      </p:sp>
      <p:sp>
        <p:nvSpPr>
          <p:cNvPr id="337" name="Google Shape;337;p7"/>
          <p:cNvSpPr/>
          <p:nvPr/>
        </p:nvSpPr>
        <p:spPr>
          <a:xfrm>
            <a:off x="6858000" y="2039115"/>
            <a:ext cx="1783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050"/>
              <a:buFont typeface="Trebuchet MS"/>
              <a:buNone/>
            </a:pPr>
            <a:r>
              <a:rPr b="1" i="0" lang="en-US" sz="1050" u="none" cap="none" strike="noStrike">
                <a:solidFill>
                  <a:srgbClr val="BAE6FD"/>
                </a:solidFill>
                <a:latin typeface="Trebuchet MS"/>
                <a:ea typeface="Trebuchet MS"/>
                <a:cs typeface="Trebuchet MS"/>
                <a:sym typeface="Trebuchet MS"/>
              </a:rPr>
              <a:t>Growth &amp; Optimization</a:t>
            </a:r>
            <a:endParaRPr b="0" i="0" sz="1050" u="none" cap="none" strike="noStrike">
              <a:solidFill>
                <a:schemeClr val="dk1"/>
              </a:solidFill>
              <a:latin typeface="Calibri"/>
              <a:ea typeface="Calibri"/>
              <a:cs typeface="Calibri"/>
              <a:sym typeface="Calibri"/>
            </a:endParaRPr>
          </a:p>
        </p:txBody>
      </p:sp>
      <p:sp>
        <p:nvSpPr>
          <p:cNvPr id="338" name="Google Shape;338;p7"/>
          <p:cNvSpPr/>
          <p:nvPr/>
        </p:nvSpPr>
        <p:spPr>
          <a:xfrm>
            <a:off x="6858000" y="2496345"/>
            <a:ext cx="1783200" cy="1719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Review market data + purchasing data of product and see if either price or product needs to be revised </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Understand the top consumer of the product, whether the same or different, and curate further towards them if new, and slightly branch out if the same.</a:t>
            </a:r>
            <a:endParaRPr sz="900">
              <a:solidFill>
                <a:srgbClr val="94A3B8"/>
              </a:solidFill>
              <a:latin typeface="Calibri"/>
              <a:ea typeface="Calibri"/>
              <a:cs typeface="Calibri"/>
              <a:sym typeface="Calibri"/>
            </a:endParaRPr>
          </a:p>
          <a:p>
            <a:pPr indent="-342900" lvl="0" marL="342900" marR="0" rtl="0" algn="l">
              <a:spcBef>
                <a:spcPts val="0"/>
              </a:spcBef>
              <a:spcAft>
                <a:spcPts val="0"/>
              </a:spcAft>
              <a:buClr>
                <a:srgbClr val="94A3B8"/>
              </a:buClr>
              <a:buSzPts val="900"/>
              <a:buFont typeface="Calibri"/>
              <a:buChar char="•"/>
            </a:pPr>
            <a:r>
              <a:rPr lang="en-US" sz="900">
                <a:solidFill>
                  <a:srgbClr val="94A3B8"/>
                </a:solidFill>
                <a:latin typeface="Calibri"/>
                <a:ea typeface="Calibri"/>
                <a:cs typeface="Calibri"/>
                <a:sym typeface="Calibri"/>
              </a:rPr>
              <a:t>Introduce new features of the product/create promo discounts depending on success</a:t>
            </a:r>
            <a:endParaRPr sz="900">
              <a:solidFill>
                <a:srgbClr val="94A3B8"/>
              </a:solidFill>
              <a:latin typeface="Calibri"/>
              <a:ea typeface="Calibri"/>
              <a:cs typeface="Calibri"/>
              <a:sym typeface="Calibri"/>
            </a:endParaRPr>
          </a:p>
        </p:txBody>
      </p:sp>
      <p:sp>
        <p:nvSpPr>
          <p:cNvPr id="339" name="Google Shape;339;p7"/>
          <p:cNvSpPr/>
          <p:nvPr/>
        </p:nvSpPr>
        <p:spPr>
          <a:xfrm>
            <a:off x="274320" y="4572000"/>
            <a:ext cx="8595360" cy="292608"/>
          </a:xfrm>
          <a:prstGeom prst="rect">
            <a:avLst/>
          </a:prstGeom>
          <a:solidFill>
            <a:srgbClr val="21262D"/>
          </a:solidFill>
          <a:ln cap="flat" cmpd="sng" w="12700">
            <a:solidFill>
              <a:srgbClr val="161B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
          <p:cNvSpPr/>
          <p:nvPr/>
        </p:nvSpPr>
        <p:spPr>
          <a:xfrm>
            <a:off x="411480" y="4608576"/>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Responsible Parties:  Marketing Team  •  Product Design  •  Sales &amp; Distribution  •  Digital/Social Media  •  Data Anal</a:t>
            </a:r>
            <a:r>
              <a:rPr lang="en-US" sz="900">
                <a:solidFill>
                  <a:srgbClr val="94A3B8"/>
                </a:solidFill>
                <a:latin typeface="Calibri"/>
                <a:ea typeface="Calibri"/>
                <a:cs typeface="Calibri"/>
                <a:sym typeface="Calibri"/>
              </a:rPr>
              <a:t>ysts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45" name="Shape 345"/>
        <p:cNvGrpSpPr/>
        <p:nvPr/>
      </p:nvGrpSpPr>
      <p:grpSpPr>
        <a:xfrm>
          <a:off x="0" y="0"/>
          <a:ext cx="0" cy="0"/>
          <a:chOff x="0" y="0"/>
          <a:chExt cx="0" cy="0"/>
        </a:xfrm>
      </p:grpSpPr>
      <p:sp>
        <p:nvSpPr>
          <p:cNvPr id="346" name="Google Shape;346;p8"/>
          <p:cNvSpPr/>
          <p:nvPr/>
        </p:nvSpPr>
        <p:spPr>
          <a:xfrm>
            <a:off x="0" y="0"/>
            <a:ext cx="9144000" cy="73152"/>
          </a:xfrm>
          <a:prstGeom prst="rect">
            <a:avLst/>
          </a:prstGeom>
          <a:solidFill>
            <a:srgbClr val="14B8A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a:off x="457200" y="201168"/>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2800"/>
              <a:buFont typeface="Trebuchet MS"/>
              <a:buNone/>
            </a:pPr>
            <a:r>
              <a:rPr b="1" i="0" lang="en-US" sz="2800" u="none" cap="none" strike="noStrike">
                <a:solidFill>
                  <a:srgbClr val="F8FAFC"/>
                </a:solidFill>
                <a:latin typeface="Trebuchet MS"/>
                <a:ea typeface="Trebuchet MS"/>
                <a:cs typeface="Trebuchet MS"/>
                <a:sym typeface="Trebuchet MS"/>
              </a:rPr>
              <a:t>Budget Overview	</a:t>
            </a:r>
            <a:r>
              <a:rPr b="1" i="0" lang="en-US" sz="1200" u="none" cap="none" strike="noStrike">
                <a:solidFill>
                  <a:srgbClr val="F8FAFC"/>
                </a:solidFill>
                <a:latin typeface="Trebuchet MS"/>
                <a:ea typeface="Trebuchet MS"/>
                <a:cs typeface="Trebuchet MS"/>
                <a:sym typeface="Trebuchet MS"/>
              </a:rPr>
              <a:t>							  </a:t>
            </a:r>
            <a:r>
              <a:rPr b="1" i="0" lang="en-US" sz="1200" u="none" cap="none" strike="noStrike">
                <a:solidFill>
                  <a:srgbClr val="B7B7B7"/>
                </a:solidFill>
                <a:latin typeface="Trebuchet MS"/>
                <a:ea typeface="Trebuchet MS"/>
                <a:cs typeface="Trebuchet MS"/>
                <a:sym typeface="Trebuchet MS"/>
              </a:rPr>
              <a:t>Sahishnav Grende</a:t>
            </a:r>
            <a:r>
              <a:rPr b="1" i="0" lang="en-US" sz="2800" u="none" cap="none" strike="noStrike">
                <a:solidFill>
                  <a:srgbClr val="B7B7B7"/>
                </a:solidFill>
                <a:latin typeface="Trebuchet MS"/>
                <a:ea typeface="Trebuchet MS"/>
                <a:cs typeface="Trebuchet MS"/>
                <a:sym typeface="Trebuchet MS"/>
              </a:rPr>
              <a:t>	</a:t>
            </a:r>
            <a:r>
              <a:rPr b="1" i="0" lang="en-US" sz="2800" u="none" cap="none" strike="noStrike">
                <a:solidFill>
                  <a:srgbClr val="F8FAFC"/>
                </a:solidFill>
                <a:latin typeface="Trebuchet MS"/>
                <a:ea typeface="Trebuchet MS"/>
                <a:cs typeface="Trebuchet MS"/>
                <a:sym typeface="Trebuchet MS"/>
              </a:rPr>
              <a:t>	</a:t>
            </a:r>
            <a:endParaRPr b="0" i="0" sz="2800" u="none" cap="none" strike="noStrike">
              <a:solidFill>
                <a:schemeClr val="dk1"/>
              </a:solidFill>
              <a:latin typeface="Calibri"/>
              <a:ea typeface="Calibri"/>
              <a:cs typeface="Calibri"/>
              <a:sym typeface="Calibri"/>
            </a:endParaRPr>
          </a:p>
        </p:txBody>
      </p:sp>
      <p:sp>
        <p:nvSpPr>
          <p:cNvPr id="348" name="Google Shape;348;p8"/>
          <p:cNvSpPr/>
          <p:nvPr/>
        </p:nvSpPr>
        <p:spPr>
          <a:xfrm>
            <a:off x="457200" y="7498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200"/>
              <a:buFont typeface="Calibri"/>
              <a:buNone/>
            </a:pPr>
            <a:r>
              <a:rPr b="0" i="1" lang="en-US" sz="1200" u="none" cap="none" strike="noStrike">
                <a:solidFill>
                  <a:srgbClr val="14B8A6"/>
                </a:solidFill>
                <a:latin typeface="Calibri"/>
                <a:ea typeface="Calibri"/>
                <a:cs typeface="Calibri"/>
                <a:sym typeface="Calibri"/>
              </a:rPr>
              <a:t>Estimated First-Year Launch Investment</a:t>
            </a:r>
            <a:endParaRPr b="0" i="0" sz="1200" u="none" cap="none" strike="noStrike">
              <a:solidFill>
                <a:schemeClr val="dk1"/>
              </a:solidFill>
              <a:latin typeface="Calibri"/>
              <a:ea typeface="Calibri"/>
              <a:cs typeface="Calibri"/>
              <a:sym typeface="Calibri"/>
            </a:endParaRPr>
          </a:p>
        </p:txBody>
      </p:sp>
      <p:sp>
        <p:nvSpPr>
          <p:cNvPr id="349" name="Google Shape;349;p8"/>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351" name="Google Shape;351;p8"/>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8</a:t>
            </a:r>
            <a:endParaRPr b="0" i="0" sz="700" u="none" cap="none" strike="noStrike">
              <a:solidFill>
                <a:schemeClr val="dk1"/>
              </a:solidFill>
              <a:latin typeface="Calibri"/>
              <a:ea typeface="Calibri"/>
              <a:cs typeface="Calibri"/>
              <a:sym typeface="Calibri"/>
            </a:endParaRPr>
          </a:p>
        </p:txBody>
      </p:sp>
      <p:sp>
        <p:nvSpPr>
          <p:cNvPr id="352" name="Google Shape;352;p8"/>
          <p:cNvSpPr/>
          <p:nvPr/>
        </p:nvSpPr>
        <p:spPr>
          <a:xfrm>
            <a:off x="274320" y="109728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300"/>
              <a:buFont typeface="Trebuchet MS"/>
              <a:buNone/>
            </a:pPr>
            <a:r>
              <a:rPr b="1" i="0" lang="en-US" sz="1300" u="none" cap="none" strike="noStrike">
                <a:solidFill>
                  <a:srgbClr val="BAE6FD"/>
                </a:solidFill>
                <a:latin typeface="Trebuchet MS"/>
                <a:ea typeface="Trebuchet MS"/>
                <a:cs typeface="Trebuchet MS"/>
                <a:sym typeface="Trebuchet MS"/>
              </a:rPr>
              <a:t>Budget Breakdown</a:t>
            </a:r>
            <a:endParaRPr b="0" i="0" sz="1300" u="none" cap="none" strike="noStrike">
              <a:solidFill>
                <a:schemeClr val="dk1"/>
              </a:solidFill>
              <a:latin typeface="Calibri"/>
              <a:ea typeface="Calibri"/>
              <a:cs typeface="Calibri"/>
              <a:sym typeface="Calibri"/>
            </a:endParaRPr>
          </a:p>
        </p:txBody>
      </p:sp>
      <p:sp>
        <p:nvSpPr>
          <p:cNvPr id="353" name="Google Shape;353;p8"/>
          <p:cNvSpPr/>
          <p:nvPr/>
        </p:nvSpPr>
        <p:spPr>
          <a:xfrm>
            <a:off x="274320" y="15544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Product Development &amp; R&amp;D</a:t>
            </a:r>
            <a:endParaRPr b="0" i="0" sz="1000" u="none" cap="none" strike="noStrike">
              <a:solidFill>
                <a:schemeClr val="dk1"/>
              </a:solidFill>
              <a:latin typeface="Calibri"/>
              <a:ea typeface="Calibri"/>
              <a:cs typeface="Calibri"/>
              <a:sym typeface="Calibri"/>
            </a:endParaRPr>
          </a:p>
        </p:txBody>
      </p:sp>
      <p:sp>
        <p:nvSpPr>
          <p:cNvPr id="354" name="Google Shape;354;p8"/>
          <p:cNvSpPr/>
          <p:nvPr/>
        </p:nvSpPr>
        <p:spPr>
          <a:xfrm>
            <a:off x="3108960" y="1591056"/>
            <a:ext cx="4114800" cy="201168"/>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3108960" y="1591056"/>
            <a:ext cx="4114800" cy="201168"/>
          </a:xfrm>
          <a:prstGeom prst="rect">
            <a:avLst/>
          </a:prstGeom>
          <a:solidFill>
            <a:srgbClr val="0D9488"/>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7296912" y="155448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Calibri"/>
              <a:buNone/>
            </a:pPr>
            <a:r>
              <a:rPr b="1" i="0" lang="en-US" sz="1000" u="none" cap="none" strike="noStrike">
                <a:solidFill>
                  <a:srgbClr val="0D9488"/>
                </a:solidFill>
                <a:latin typeface="Calibri"/>
                <a:ea typeface="Calibri"/>
                <a:cs typeface="Calibri"/>
                <a:sym typeface="Calibri"/>
              </a:rPr>
              <a:t>$120K  (30%)</a:t>
            </a:r>
            <a:endParaRPr b="0" i="0" sz="1000" u="none" cap="none" strike="noStrike">
              <a:solidFill>
                <a:schemeClr val="dk1"/>
              </a:solidFill>
              <a:latin typeface="Calibri"/>
              <a:ea typeface="Calibri"/>
              <a:cs typeface="Calibri"/>
              <a:sym typeface="Calibri"/>
            </a:endParaRPr>
          </a:p>
        </p:txBody>
      </p:sp>
      <p:sp>
        <p:nvSpPr>
          <p:cNvPr id="357" name="Google Shape;357;p8"/>
          <p:cNvSpPr/>
          <p:nvPr/>
        </p:nvSpPr>
        <p:spPr>
          <a:xfrm>
            <a:off x="274320" y="20116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Manufacturing &amp; Tooling</a:t>
            </a:r>
            <a:endParaRPr b="0" i="0" sz="1000" u="none" cap="none" strike="noStrike">
              <a:solidFill>
                <a:schemeClr val="dk1"/>
              </a:solidFill>
              <a:latin typeface="Calibri"/>
              <a:ea typeface="Calibri"/>
              <a:cs typeface="Calibri"/>
              <a:sym typeface="Calibri"/>
            </a:endParaRPr>
          </a:p>
        </p:txBody>
      </p:sp>
      <p:sp>
        <p:nvSpPr>
          <p:cNvPr id="358" name="Google Shape;358;p8"/>
          <p:cNvSpPr/>
          <p:nvPr/>
        </p:nvSpPr>
        <p:spPr>
          <a:xfrm>
            <a:off x="3108960" y="2048256"/>
            <a:ext cx="4114800" cy="201168"/>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3108960" y="2048256"/>
            <a:ext cx="2743200" cy="201168"/>
          </a:xfrm>
          <a:prstGeom prst="rect">
            <a:avLst/>
          </a:prstGeom>
          <a:solidFill>
            <a:srgbClr val="38BDF8"/>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7296912" y="201168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8BDF8"/>
              </a:buClr>
              <a:buSzPts val="1000"/>
              <a:buFont typeface="Calibri"/>
              <a:buNone/>
            </a:pPr>
            <a:r>
              <a:rPr b="1" i="0" lang="en-US" sz="1000" u="none" cap="none" strike="noStrike">
                <a:solidFill>
                  <a:srgbClr val="38BDF8"/>
                </a:solidFill>
                <a:latin typeface="Calibri"/>
                <a:ea typeface="Calibri"/>
                <a:cs typeface="Calibri"/>
                <a:sym typeface="Calibri"/>
              </a:rPr>
              <a:t>$80K  (20%)</a:t>
            </a:r>
            <a:endParaRPr b="0" i="0" sz="1000" u="none" cap="none" strike="noStrike">
              <a:solidFill>
                <a:schemeClr val="dk1"/>
              </a:solidFill>
              <a:latin typeface="Calibri"/>
              <a:ea typeface="Calibri"/>
              <a:cs typeface="Calibri"/>
              <a:sym typeface="Calibri"/>
            </a:endParaRPr>
          </a:p>
        </p:txBody>
      </p:sp>
      <p:sp>
        <p:nvSpPr>
          <p:cNvPr id="361" name="Google Shape;361;p8"/>
          <p:cNvSpPr/>
          <p:nvPr/>
        </p:nvSpPr>
        <p:spPr>
          <a:xfrm>
            <a:off x="274320" y="24688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Marketing &amp; Advertising</a:t>
            </a:r>
            <a:endParaRPr b="0" i="0" sz="1000" u="none" cap="none" strike="noStrike">
              <a:solidFill>
                <a:schemeClr val="dk1"/>
              </a:solidFill>
              <a:latin typeface="Calibri"/>
              <a:ea typeface="Calibri"/>
              <a:cs typeface="Calibri"/>
              <a:sym typeface="Calibri"/>
            </a:endParaRPr>
          </a:p>
        </p:txBody>
      </p:sp>
      <p:sp>
        <p:nvSpPr>
          <p:cNvPr id="362" name="Google Shape;362;p8"/>
          <p:cNvSpPr/>
          <p:nvPr/>
        </p:nvSpPr>
        <p:spPr>
          <a:xfrm>
            <a:off x="3108960" y="2505456"/>
            <a:ext cx="4114800" cy="201168"/>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3108960" y="2505456"/>
            <a:ext cx="2743200" cy="201168"/>
          </a:xfrm>
          <a:prstGeom prst="rect">
            <a:avLst/>
          </a:prstGeom>
          <a:solidFill>
            <a:srgbClr val="5EEAD4"/>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7296912" y="246888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EAD4"/>
              </a:buClr>
              <a:buSzPts val="1000"/>
              <a:buFont typeface="Calibri"/>
              <a:buNone/>
            </a:pPr>
            <a:r>
              <a:rPr b="1" i="0" lang="en-US" sz="1000" u="none" cap="none" strike="noStrike">
                <a:solidFill>
                  <a:srgbClr val="5EEAD4"/>
                </a:solidFill>
                <a:latin typeface="Calibri"/>
                <a:ea typeface="Calibri"/>
                <a:cs typeface="Calibri"/>
                <a:sym typeface="Calibri"/>
              </a:rPr>
              <a:t>$80K  (20%)</a:t>
            </a:r>
            <a:endParaRPr b="0" i="0" sz="1000" u="none" cap="none" strike="noStrike">
              <a:solidFill>
                <a:schemeClr val="dk1"/>
              </a:solidFill>
              <a:latin typeface="Calibri"/>
              <a:ea typeface="Calibri"/>
              <a:cs typeface="Calibri"/>
              <a:sym typeface="Calibri"/>
            </a:endParaRPr>
          </a:p>
        </p:txBody>
      </p:sp>
      <p:sp>
        <p:nvSpPr>
          <p:cNvPr id="365" name="Google Shape;365;p8"/>
          <p:cNvSpPr/>
          <p:nvPr/>
        </p:nvSpPr>
        <p:spPr>
          <a:xfrm>
            <a:off x="274320" y="29260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Influencer &amp; PR Outreach</a:t>
            </a:r>
            <a:endParaRPr b="0" i="0" sz="1000" u="none" cap="none" strike="noStrike">
              <a:solidFill>
                <a:schemeClr val="dk1"/>
              </a:solidFill>
              <a:latin typeface="Calibri"/>
              <a:ea typeface="Calibri"/>
              <a:cs typeface="Calibri"/>
              <a:sym typeface="Calibri"/>
            </a:endParaRPr>
          </a:p>
        </p:txBody>
      </p:sp>
      <p:sp>
        <p:nvSpPr>
          <p:cNvPr id="366" name="Google Shape;366;p8"/>
          <p:cNvSpPr/>
          <p:nvPr/>
        </p:nvSpPr>
        <p:spPr>
          <a:xfrm>
            <a:off x="3108960" y="2962656"/>
            <a:ext cx="4114800" cy="201168"/>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3108960" y="2962656"/>
            <a:ext cx="1371600" cy="201168"/>
          </a:xfrm>
          <a:prstGeom prst="rect">
            <a:avLst/>
          </a:prstGeom>
          <a:solidFill>
            <a:srgbClr val="F59E0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7296912" y="292608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$40K  (10%)</a:t>
            </a:r>
            <a:endParaRPr b="0" i="0" sz="1000" u="none" cap="none" strike="noStrike">
              <a:solidFill>
                <a:schemeClr val="dk1"/>
              </a:solidFill>
              <a:latin typeface="Calibri"/>
              <a:ea typeface="Calibri"/>
              <a:cs typeface="Calibri"/>
              <a:sym typeface="Calibri"/>
            </a:endParaRPr>
          </a:p>
        </p:txBody>
      </p:sp>
      <p:sp>
        <p:nvSpPr>
          <p:cNvPr id="369" name="Google Shape;369;p8"/>
          <p:cNvSpPr/>
          <p:nvPr/>
        </p:nvSpPr>
        <p:spPr>
          <a:xfrm>
            <a:off x="274320" y="33832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Distribution &amp; Retail Setup</a:t>
            </a:r>
            <a:endParaRPr b="0" i="0" sz="1000" u="none" cap="none" strike="noStrike">
              <a:solidFill>
                <a:schemeClr val="dk1"/>
              </a:solidFill>
              <a:latin typeface="Calibri"/>
              <a:ea typeface="Calibri"/>
              <a:cs typeface="Calibri"/>
              <a:sym typeface="Calibri"/>
            </a:endParaRPr>
          </a:p>
        </p:txBody>
      </p:sp>
      <p:sp>
        <p:nvSpPr>
          <p:cNvPr id="370" name="Google Shape;370;p8"/>
          <p:cNvSpPr/>
          <p:nvPr/>
        </p:nvSpPr>
        <p:spPr>
          <a:xfrm>
            <a:off x="3108960" y="3419856"/>
            <a:ext cx="4114800" cy="201168"/>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3108960" y="3419856"/>
            <a:ext cx="1371600" cy="201168"/>
          </a:xfrm>
          <a:prstGeom prst="rect">
            <a:avLst/>
          </a:prstGeom>
          <a:solidFill>
            <a:srgbClr val="A78BFA"/>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a:off x="7296912" y="338328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000"/>
              <a:buFont typeface="Calibri"/>
              <a:buNone/>
            </a:pPr>
            <a:r>
              <a:rPr b="1" i="0" lang="en-US" sz="1000" u="none" cap="none" strike="noStrike">
                <a:solidFill>
                  <a:srgbClr val="A78BFA"/>
                </a:solidFill>
                <a:latin typeface="Calibri"/>
                <a:ea typeface="Calibri"/>
                <a:cs typeface="Calibri"/>
                <a:sym typeface="Calibri"/>
              </a:rPr>
              <a:t>$40K  (10%)</a:t>
            </a:r>
            <a:endParaRPr b="0" i="0" sz="1000" u="none" cap="none" strike="noStrike">
              <a:solidFill>
                <a:schemeClr val="dk1"/>
              </a:solidFill>
              <a:latin typeface="Calibri"/>
              <a:ea typeface="Calibri"/>
              <a:cs typeface="Calibri"/>
              <a:sym typeface="Calibri"/>
            </a:endParaRPr>
          </a:p>
        </p:txBody>
      </p:sp>
      <p:sp>
        <p:nvSpPr>
          <p:cNvPr id="373" name="Google Shape;373;p8"/>
          <p:cNvSpPr/>
          <p:nvPr/>
        </p:nvSpPr>
        <p:spPr>
          <a:xfrm>
            <a:off x="274320" y="38404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Market Research &amp; Testing</a:t>
            </a:r>
            <a:endParaRPr b="0" i="0" sz="1000" u="none" cap="none" strike="noStrike">
              <a:solidFill>
                <a:schemeClr val="dk1"/>
              </a:solidFill>
              <a:latin typeface="Calibri"/>
              <a:ea typeface="Calibri"/>
              <a:cs typeface="Calibri"/>
              <a:sym typeface="Calibri"/>
            </a:endParaRPr>
          </a:p>
        </p:txBody>
      </p:sp>
      <p:sp>
        <p:nvSpPr>
          <p:cNvPr id="374" name="Google Shape;374;p8"/>
          <p:cNvSpPr/>
          <p:nvPr/>
        </p:nvSpPr>
        <p:spPr>
          <a:xfrm>
            <a:off x="3108960" y="3877056"/>
            <a:ext cx="4114800" cy="201168"/>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3108960" y="3877056"/>
            <a:ext cx="685800" cy="201168"/>
          </a:xfrm>
          <a:prstGeom prst="rect">
            <a:avLst/>
          </a:prstGeom>
          <a:solidFill>
            <a:srgbClr val="34D399"/>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7296912" y="384048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D399"/>
              </a:buClr>
              <a:buSzPts val="1000"/>
              <a:buFont typeface="Calibri"/>
              <a:buNone/>
            </a:pPr>
            <a:r>
              <a:rPr b="1" i="0" lang="en-US" sz="1000" u="none" cap="none" strike="noStrike">
                <a:solidFill>
                  <a:srgbClr val="34D399"/>
                </a:solidFill>
                <a:latin typeface="Calibri"/>
                <a:ea typeface="Calibri"/>
                <a:cs typeface="Calibri"/>
                <a:sym typeface="Calibri"/>
              </a:rPr>
              <a:t>$20K  (5%)</a:t>
            </a:r>
            <a:endParaRPr b="0" i="0" sz="1000" u="none" cap="none" strike="noStrike">
              <a:solidFill>
                <a:schemeClr val="dk1"/>
              </a:solidFill>
              <a:latin typeface="Calibri"/>
              <a:ea typeface="Calibri"/>
              <a:cs typeface="Calibri"/>
              <a:sym typeface="Calibri"/>
            </a:endParaRPr>
          </a:p>
        </p:txBody>
      </p:sp>
      <p:sp>
        <p:nvSpPr>
          <p:cNvPr id="377" name="Google Shape;377;p8"/>
          <p:cNvSpPr/>
          <p:nvPr/>
        </p:nvSpPr>
        <p:spPr>
          <a:xfrm>
            <a:off x="274320" y="42976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Contingency / Misc.</a:t>
            </a:r>
            <a:endParaRPr b="0" i="0" sz="1000" u="none" cap="none" strike="noStrike">
              <a:solidFill>
                <a:schemeClr val="dk1"/>
              </a:solidFill>
              <a:latin typeface="Calibri"/>
              <a:ea typeface="Calibri"/>
              <a:cs typeface="Calibri"/>
              <a:sym typeface="Calibri"/>
            </a:endParaRPr>
          </a:p>
        </p:txBody>
      </p:sp>
      <p:sp>
        <p:nvSpPr>
          <p:cNvPr id="378" name="Google Shape;378;p8"/>
          <p:cNvSpPr/>
          <p:nvPr/>
        </p:nvSpPr>
        <p:spPr>
          <a:xfrm>
            <a:off x="3108960" y="4334256"/>
            <a:ext cx="4114800" cy="201168"/>
          </a:xfrm>
          <a:prstGeom prst="rect">
            <a:avLst/>
          </a:prstGeom>
          <a:solidFill>
            <a:srgbClr val="21262D"/>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3108960" y="4334256"/>
            <a:ext cx="685800" cy="201168"/>
          </a:xfrm>
          <a:prstGeom prst="rect">
            <a:avLst/>
          </a:prstGeom>
          <a:solidFill>
            <a:srgbClr val="94A3B8"/>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8"/>
          <p:cNvSpPr/>
          <p:nvPr/>
        </p:nvSpPr>
        <p:spPr>
          <a:xfrm>
            <a:off x="7296912" y="4297680"/>
            <a:ext cx="1645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1" i="0" lang="en-US" sz="1000" u="none" cap="none" strike="noStrike">
                <a:solidFill>
                  <a:srgbClr val="94A3B8"/>
                </a:solidFill>
                <a:latin typeface="Calibri"/>
                <a:ea typeface="Calibri"/>
                <a:cs typeface="Calibri"/>
                <a:sym typeface="Calibri"/>
              </a:rPr>
              <a:t>$20K  (5%)</a:t>
            </a:r>
            <a:endParaRPr b="0" i="0" sz="1000" u="none" cap="none" strike="noStrike">
              <a:solidFill>
                <a:schemeClr val="dk1"/>
              </a:solidFill>
              <a:latin typeface="Calibri"/>
              <a:ea typeface="Calibri"/>
              <a:cs typeface="Calibri"/>
              <a:sym typeface="Calibri"/>
            </a:endParaRPr>
          </a:p>
        </p:txBody>
      </p:sp>
      <p:sp>
        <p:nvSpPr>
          <p:cNvPr id="381" name="Google Shape;381;p8"/>
          <p:cNvSpPr/>
          <p:nvPr/>
        </p:nvSpPr>
        <p:spPr>
          <a:xfrm>
            <a:off x="274320" y="4681728"/>
            <a:ext cx="8595360" cy="256032"/>
          </a:xfrm>
          <a:prstGeom prst="rect">
            <a:avLst/>
          </a:prstGeom>
          <a:solidFill>
            <a:srgbClr val="161B22"/>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8"/>
          <p:cNvSpPr/>
          <p:nvPr/>
        </p:nvSpPr>
        <p:spPr>
          <a:xfrm>
            <a:off x="457200" y="4700016"/>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AE6FD"/>
              </a:buClr>
              <a:buSzPts val="1100"/>
              <a:buFont typeface="Calibri"/>
              <a:buNone/>
            </a:pPr>
            <a:r>
              <a:rPr b="1" i="0" lang="en-US" sz="1100" u="none" cap="none" strike="noStrike">
                <a:solidFill>
                  <a:srgbClr val="BAE6FD"/>
                </a:solidFill>
                <a:latin typeface="Calibri"/>
                <a:ea typeface="Calibri"/>
                <a:cs typeface="Calibri"/>
                <a:sym typeface="Calibri"/>
              </a:rPr>
              <a:t>TOTAL LAUNCH BUDGET: </a:t>
            </a:r>
            <a:r>
              <a:rPr b="1" i="0" lang="en-US" sz="1400" u="none" cap="none" strike="noStrike">
                <a:solidFill>
                  <a:srgbClr val="14B8A6"/>
                </a:solidFill>
                <a:latin typeface="Calibri"/>
                <a:ea typeface="Calibri"/>
                <a:cs typeface="Calibri"/>
                <a:sym typeface="Calibri"/>
              </a:rPr>
              <a:t>$400,000</a:t>
            </a:r>
            <a:r>
              <a:rPr b="0" i="0" lang="en-US" sz="1100" u="none" cap="none" strike="noStrike">
                <a:solidFill>
                  <a:srgbClr val="94A3B8"/>
                </a:solidFill>
                <a:latin typeface="Calibri"/>
                <a:ea typeface="Calibri"/>
                <a:cs typeface="Calibri"/>
                <a:sym typeface="Calibri"/>
              </a:rPr>
              <a:t>  |  Estimated First-Year ROI Target: </a:t>
            </a:r>
            <a:r>
              <a:rPr b="1" i="0" lang="en-US" sz="1100" u="none" cap="none" strike="noStrike">
                <a:solidFill>
                  <a:srgbClr val="5EEAD4"/>
                </a:solidFill>
                <a:latin typeface="Calibri"/>
                <a:ea typeface="Calibri"/>
                <a:cs typeface="Calibri"/>
                <a:sym typeface="Calibri"/>
              </a:rPr>
              <a:t>2.5x</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87" name="Shape 387"/>
        <p:cNvGrpSpPr/>
        <p:nvPr/>
      </p:nvGrpSpPr>
      <p:grpSpPr>
        <a:xfrm>
          <a:off x="0" y="0"/>
          <a:ext cx="0" cy="0"/>
          <a:chOff x="0" y="0"/>
          <a:chExt cx="0" cy="0"/>
        </a:xfrm>
      </p:grpSpPr>
      <p:sp>
        <p:nvSpPr>
          <p:cNvPr id="388" name="Google Shape;388;g3d6caa93a2e_1_8"/>
          <p:cNvSpPr/>
          <p:nvPr/>
        </p:nvSpPr>
        <p:spPr>
          <a:xfrm>
            <a:off x="274320" y="109728"/>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Evaluation &amp; Metrics </a:t>
            </a:r>
            <a:r>
              <a:rPr b="1" lang="en-US" sz="3200">
                <a:solidFill>
                  <a:srgbClr val="FFFFFF"/>
                </a:solidFill>
                <a:latin typeface="Calibri"/>
                <a:ea typeface="Calibri"/>
                <a:cs typeface="Calibri"/>
                <a:sym typeface="Calibri"/>
              </a:rPr>
              <a:t> 							  </a:t>
            </a:r>
            <a:r>
              <a:rPr b="1" lang="en-US" sz="1500">
                <a:solidFill>
                  <a:srgbClr val="B7B7B7"/>
                </a:solidFill>
                <a:latin typeface="Trebuchet MS"/>
                <a:ea typeface="Trebuchet MS"/>
                <a:cs typeface="Trebuchet MS"/>
                <a:sym typeface="Trebuchet MS"/>
              </a:rPr>
              <a:t>Mehul Jain</a:t>
            </a:r>
            <a:endParaRPr b="0" i="0" sz="3500" u="none" cap="none" strike="noStrike">
              <a:solidFill>
                <a:schemeClr val="dk1"/>
              </a:solidFill>
              <a:latin typeface="Calibri"/>
              <a:ea typeface="Calibri"/>
              <a:cs typeface="Calibri"/>
              <a:sym typeface="Calibri"/>
            </a:endParaRPr>
          </a:p>
        </p:txBody>
      </p:sp>
      <p:sp>
        <p:nvSpPr>
          <p:cNvPr id="389" name="Google Shape;389;g3d6caa93a2e_1_8"/>
          <p:cNvSpPr/>
          <p:nvPr/>
        </p:nvSpPr>
        <p:spPr>
          <a:xfrm>
            <a:off x="274320" y="548640"/>
            <a:ext cx="8229600" cy="23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5A0"/>
              </a:buClr>
              <a:buSzPts val="1200"/>
              <a:buFont typeface="Calibri"/>
              <a:buNone/>
            </a:pPr>
            <a:r>
              <a:rPr b="0" i="1" lang="en-US" sz="1200" u="none" cap="none" strike="noStrike">
                <a:solidFill>
                  <a:srgbClr val="00C5A0"/>
                </a:solidFill>
                <a:latin typeface="Calibri"/>
                <a:ea typeface="Calibri"/>
                <a:cs typeface="Calibri"/>
                <a:sym typeface="Calibri"/>
              </a:rPr>
              <a:t>How We Measure Success</a:t>
            </a:r>
            <a:endParaRPr b="0" i="0" sz="1200" u="none" cap="none" strike="noStrike">
              <a:solidFill>
                <a:schemeClr val="dk1"/>
              </a:solidFill>
              <a:latin typeface="Calibri"/>
              <a:ea typeface="Calibri"/>
              <a:cs typeface="Calibri"/>
              <a:sym typeface="Calibri"/>
            </a:endParaRPr>
          </a:p>
        </p:txBody>
      </p:sp>
      <p:sp>
        <p:nvSpPr>
          <p:cNvPr id="390" name="Google Shape;390;g3d6caa93a2e_1_8"/>
          <p:cNvSpPr/>
          <p:nvPr/>
        </p:nvSpPr>
        <p:spPr>
          <a:xfrm>
            <a:off x="228600" y="914400"/>
            <a:ext cx="2880300" cy="2057400"/>
          </a:xfrm>
          <a:prstGeom prst="rect">
            <a:avLst/>
          </a:prstGeom>
          <a:solidFill>
            <a:srgbClr val="1A2130"/>
          </a:solidFill>
          <a:ln cap="flat" cmpd="sng" w="19050">
            <a:solidFill>
              <a:srgbClr val="00C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d6caa93a2e_1_8"/>
          <p:cNvSpPr/>
          <p:nvPr/>
        </p:nvSpPr>
        <p:spPr>
          <a:xfrm>
            <a:off x="228600" y="914400"/>
            <a:ext cx="2880300" cy="255900"/>
          </a:xfrm>
          <a:prstGeom prst="rect">
            <a:avLst/>
          </a:prstGeom>
          <a:solidFill>
            <a:srgbClr val="00C5A0">
              <a:alpha val="80000"/>
            </a:srgbClr>
          </a:solidFill>
          <a:ln cap="flat" cmpd="sng" w="12700">
            <a:solidFill>
              <a:srgbClr val="00C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3d6caa93a2e_1_8"/>
          <p:cNvSpPr/>
          <p:nvPr/>
        </p:nvSpPr>
        <p:spPr>
          <a:xfrm>
            <a:off x="320040" y="941832"/>
            <a:ext cx="27432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 Sales &amp; Growth KPIs</a:t>
            </a:r>
            <a:endParaRPr b="0" i="0" sz="950" u="none" cap="none" strike="noStrike">
              <a:solidFill>
                <a:schemeClr val="dk1"/>
              </a:solidFill>
              <a:latin typeface="Calibri"/>
              <a:ea typeface="Calibri"/>
              <a:cs typeface="Calibri"/>
              <a:sym typeface="Calibri"/>
            </a:endParaRPr>
          </a:p>
        </p:txBody>
      </p:sp>
      <p:sp>
        <p:nvSpPr>
          <p:cNvPr id="393" name="Google Shape;393;g3d6caa93a2e_1_8"/>
          <p:cNvSpPr/>
          <p:nvPr/>
        </p:nvSpPr>
        <p:spPr>
          <a:xfrm>
            <a:off x="338328" y="123444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5A0"/>
              </a:buClr>
              <a:buSzPts val="900"/>
              <a:buFont typeface="Calibri"/>
              <a:buNone/>
            </a:pPr>
            <a:r>
              <a:rPr b="1" i="0" lang="en-US" sz="900" u="none" cap="none" strike="noStrike">
                <a:solidFill>
                  <a:srgbClr val="00C5A0"/>
                </a:solidFill>
                <a:latin typeface="Calibri"/>
                <a:ea typeface="Calibri"/>
                <a:cs typeface="Calibri"/>
                <a:sym typeface="Calibri"/>
              </a:rPr>
              <a:t>Units Sold</a:t>
            </a:r>
            <a:endParaRPr b="0" i="0" sz="900" u="none" cap="none" strike="noStrike">
              <a:solidFill>
                <a:schemeClr val="dk1"/>
              </a:solidFill>
              <a:latin typeface="Calibri"/>
              <a:ea typeface="Calibri"/>
              <a:cs typeface="Calibri"/>
              <a:sym typeface="Calibri"/>
            </a:endParaRPr>
          </a:p>
        </p:txBody>
      </p:sp>
      <p:sp>
        <p:nvSpPr>
          <p:cNvPr id="394" name="Google Shape;394;g3d6caa93a2e_1_8"/>
          <p:cNvSpPr/>
          <p:nvPr/>
        </p:nvSpPr>
        <p:spPr>
          <a:xfrm>
            <a:off x="338328" y="142646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number of bottles sold per month</a:t>
            </a:r>
            <a:endParaRPr b="0" i="0" sz="800" u="none" cap="none" strike="noStrike">
              <a:solidFill>
                <a:schemeClr val="dk1"/>
              </a:solidFill>
              <a:latin typeface="Calibri"/>
              <a:ea typeface="Calibri"/>
              <a:cs typeface="Calibri"/>
              <a:sym typeface="Calibri"/>
            </a:endParaRPr>
          </a:p>
        </p:txBody>
      </p:sp>
      <p:sp>
        <p:nvSpPr>
          <p:cNvPr id="395" name="Google Shape;395;g3d6caa93a2e_1_8"/>
          <p:cNvSpPr/>
          <p:nvPr/>
        </p:nvSpPr>
        <p:spPr>
          <a:xfrm>
            <a:off x="338328" y="178308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5A0"/>
              </a:buClr>
              <a:buSzPts val="900"/>
              <a:buFont typeface="Calibri"/>
              <a:buNone/>
            </a:pPr>
            <a:r>
              <a:rPr b="1" i="0" lang="en-US" sz="900" u="none" cap="none" strike="noStrike">
                <a:solidFill>
                  <a:srgbClr val="00C5A0"/>
                </a:solidFill>
                <a:latin typeface="Calibri"/>
                <a:ea typeface="Calibri"/>
                <a:cs typeface="Calibri"/>
                <a:sym typeface="Calibri"/>
              </a:rPr>
              <a:t>Revenue Growth Rate</a:t>
            </a:r>
            <a:endParaRPr b="0" i="0" sz="900" u="none" cap="none" strike="noStrike">
              <a:solidFill>
                <a:schemeClr val="dk1"/>
              </a:solidFill>
              <a:latin typeface="Calibri"/>
              <a:ea typeface="Calibri"/>
              <a:cs typeface="Calibri"/>
              <a:sym typeface="Calibri"/>
            </a:endParaRPr>
          </a:p>
        </p:txBody>
      </p:sp>
      <p:sp>
        <p:nvSpPr>
          <p:cNvPr id="396" name="Google Shape;396;g3d6caa93a2e_1_8"/>
          <p:cNvSpPr/>
          <p:nvPr/>
        </p:nvSpPr>
        <p:spPr>
          <a:xfrm>
            <a:off x="338328" y="197510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 increase in sales over time</a:t>
            </a:r>
            <a:endParaRPr b="0" i="0" sz="800" u="none" cap="none" strike="noStrike">
              <a:solidFill>
                <a:schemeClr val="dk1"/>
              </a:solidFill>
              <a:latin typeface="Calibri"/>
              <a:ea typeface="Calibri"/>
              <a:cs typeface="Calibri"/>
              <a:sym typeface="Calibri"/>
            </a:endParaRPr>
          </a:p>
        </p:txBody>
      </p:sp>
      <p:sp>
        <p:nvSpPr>
          <p:cNvPr id="397" name="Google Shape;397;g3d6caa93a2e_1_8"/>
          <p:cNvSpPr/>
          <p:nvPr/>
        </p:nvSpPr>
        <p:spPr>
          <a:xfrm>
            <a:off x="338328" y="233172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5A0"/>
              </a:buClr>
              <a:buSzPts val="900"/>
              <a:buFont typeface="Calibri"/>
              <a:buNone/>
            </a:pPr>
            <a:r>
              <a:rPr b="1" i="0" lang="en-US" sz="900" u="none" cap="none" strike="noStrike">
                <a:solidFill>
                  <a:srgbClr val="00C5A0"/>
                </a:solidFill>
                <a:latin typeface="Calibri"/>
                <a:ea typeface="Calibri"/>
                <a:cs typeface="Calibri"/>
                <a:sym typeface="Calibri"/>
              </a:rPr>
              <a:t>Market Penetration</a:t>
            </a:r>
            <a:endParaRPr b="0" i="0" sz="900" u="none" cap="none" strike="noStrike">
              <a:solidFill>
                <a:schemeClr val="dk1"/>
              </a:solidFill>
              <a:latin typeface="Calibri"/>
              <a:ea typeface="Calibri"/>
              <a:cs typeface="Calibri"/>
              <a:sym typeface="Calibri"/>
            </a:endParaRPr>
          </a:p>
        </p:txBody>
      </p:sp>
      <p:sp>
        <p:nvSpPr>
          <p:cNvPr id="398" name="Google Shape;398;g3d6caa93a2e_1_8"/>
          <p:cNvSpPr/>
          <p:nvPr/>
        </p:nvSpPr>
        <p:spPr>
          <a:xfrm>
            <a:off x="338328" y="252374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 of target market (students, gym users, etc.) using the product</a:t>
            </a:r>
            <a:endParaRPr b="0" i="0" sz="800" u="none" cap="none" strike="noStrike">
              <a:solidFill>
                <a:schemeClr val="dk1"/>
              </a:solidFill>
              <a:latin typeface="Calibri"/>
              <a:ea typeface="Calibri"/>
              <a:cs typeface="Calibri"/>
              <a:sym typeface="Calibri"/>
            </a:endParaRPr>
          </a:p>
        </p:txBody>
      </p:sp>
      <p:sp>
        <p:nvSpPr>
          <p:cNvPr id="399" name="Google Shape;399;g3d6caa93a2e_1_8"/>
          <p:cNvSpPr/>
          <p:nvPr/>
        </p:nvSpPr>
        <p:spPr>
          <a:xfrm>
            <a:off x="3200400" y="914400"/>
            <a:ext cx="2880300" cy="2057400"/>
          </a:xfrm>
          <a:prstGeom prst="rect">
            <a:avLst/>
          </a:prstGeom>
          <a:solidFill>
            <a:srgbClr val="1A2130"/>
          </a:solidFill>
          <a:ln cap="flat" cmpd="sng" w="19050">
            <a:solidFill>
              <a:srgbClr val="2D7A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g3d6caa93a2e_1_8"/>
          <p:cNvSpPr/>
          <p:nvPr/>
        </p:nvSpPr>
        <p:spPr>
          <a:xfrm>
            <a:off x="3200400" y="914400"/>
            <a:ext cx="2880300" cy="255900"/>
          </a:xfrm>
          <a:prstGeom prst="rect">
            <a:avLst/>
          </a:prstGeom>
          <a:solidFill>
            <a:srgbClr val="2D7AB5">
              <a:alpha val="80000"/>
            </a:srgbClr>
          </a:solidFill>
          <a:ln cap="flat" cmpd="sng" w="12700">
            <a:solidFill>
              <a:srgbClr val="2D7A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d6caa93a2e_1_8"/>
          <p:cNvSpPr/>
          <p:nvPr/>
        </p:nvSpPr>
        <p:spPr>
          <a:xfrm>
            <a:off x="3291840" y="941832"/>
            <a:ext cx="27432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2. Customer Usage KPIs</a:t>
            </a:r>
            <a:endParaRPr b="0" i="0" sz="950" u="none" cap="none" strike="noStrike">
              <a:solidFill>
                <a:schemeClr val="dk1"/>
              </a:solidFill>
              <a:latin typeface="Calibri"/>
              <a:ea typeface="Calibri"/>
              <a:cs typeface="Calibri"/>
              <a:sym typeface="Calibri"/>
            </a:endParaRPr>
          </a:p>
        </p:txBody>
      </p:sp>
      <p:sp>
        <p:nvSpPr>
          <p:cNvPr id="402" name="Google Shape;402;g3d6caa93a2e_1_8"/>
          <p:cNvSpPr/>
          <p:nvPr/>
        </p:nvSpPr>
        <p:spPr>
          <a:xfrm>
            <a:off x="3310128" y="123444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7AB5"/>
              </a:buClr>
              <a:buSzPts val="900"/>
              <a:buFont typeface="Calibri"/>
              <a:buNone/>
            </a:pPr>
            <a:r>
              <a:rPr b="1" i="0" lang="en-US" sz="900" u="none" cap="none" strike="noStrike">
                <a:solidFill>
                  <a:srgbClr val="2D7AB5"/>
                </a:solidFill>
                <a:latin typeface="Calibri"/>
                <a:ea typeface="Calibri"/>
                <a:cs typeface="Calibri"/>
                <a:sym typeface="Calibri"/>
              </a:rPr>
              <a:t>Daily Active Users (DAU)</a:t>
            </a:r>
            <a:endParaRPr b="0" i="0" sz="900" u="none" cap="none" strike="noStrike">
              <a:solidFill>
                <a:schemeClr val="dk1"/>
              </a:solidFill>
              <a:latin typeface="Calibri"/>
              <a:ea typeface="Calibri"/>
              <a:cs typeface="Calibri"/>
              <a:sym typeface="Calibri"/>
            </a:endParaRPr>
          </a:p>
        </p:txBody>
      </p:sp>
      <p:sp>
        <p:nvSpPr>
          <p:cNvPr id="403" name="Google Shape;403;g3d6caa93a2e_1_8"/>
          <p:cNvSpPr/>
          <p:nvPr/>
        </p:nvSpPr>
        <p:spPr>
          <a:xfrm>
            <a:off x="3310128" y="142646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how many people use the timer feature daily</a:t>
            </a:r>
            <a:endParaRPr b="0" i="0" sz="800" u="none" cap="none" strike="noStrike">
              <a:solidFill>
                <a:schemeClr val="dk1"/>
              </a:solidFill>
              <a:latin typeface="Calibri"/>
              <a:ea typeface="Calibri"/>
              <a:cs typeface="Calibri"/>
              <a:sym typeface="Calibri"/>
            </a:endParaRPr>
          </a:p>
        </p:txBody>
      </p:sp>
      <p:sp>
        <p:nvSpPr>
          <p:cNvPr id="404" name="Google Shape;404;g3d6caa93a2e_1_8"/>
          <p:cNvSpPr/>
          <p:nvPr/>
        </p:nvSpPr>
        <p:spPr>
          <a:xfrm>
            <a:off x="3310128" y="178308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7AB5"/>
              </a:buClr>
              <a:buSzPts val="900"/>
              <a:buFont typeface="Calibri"/>
              <a:buNone/>
            </a:pPr>
            <a:r>
              <a:rPr b="1" i="0" lang="en-US" sz="900" u="none" cap="none" strike="noStrike">
                <a:solidFill>
                  <a:srgbClr val="2D7AB5"/>
                </a:solidFill>
                <a:latin typeface="Calibri"/>
                <a:ea typeface="Calibri"/>
                <a:cs typeface="Calibri"/>
                <a:sym typeface="Calibri"/>
              </a:rPr>
              <a:t>Avg. Daily Water Intake Tracked</a:t>
            </a:r>
            <a:endParaRPr b="0" i="0" sz="900" u="none" cap="none" strike="noStrike">
              <a:solidFill>
                <a:schemeClr val="dk1"/>
              </a:solidFill>
              <a:latin typeface="Calibri"/>
              <a:ea typeface="Calibri"/>
              <a:cs typeface="Calibri"/>
              <a:sym typeface="Calibri"/>
            </a:endParaRPr>
          </a:p>
        </p:txBody>
      </p:sp>
      <p:sp>
        <p:nvSpPr>
          <p:cNvPr id="405" name="Google Shape;405;g3d6caa93a2e_1_8"/>
          <p:cNvSpPr/>
          <p:nvPr/>
        </p:nvSpPr>
        <p:spPr>
          <a:xfrm>
            <a:off x="3310128" y="197510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measures if users actually drink more water</a:t>
            </a:r>
            <a:endParaRPr b="0" i="0" sz="800" u="none" cap="none" strike="noStrike">
              <a:solidFill>
                <a:schemeClr val="dk1"/>
              </a:solidFill>
              <a:latin typeface="Calibri"/>
              <a:ea typeface="Calibri"/>
              <a:cs typeface="Calibri"/>
              <a:sym typeface="Calibri"/>
            </a:endParaRPr>
          </a:p>
        </p:txBody>
      </p:sp>
      <p:sp>
        <p:nvSpPr>
          <p:cNvPr id="406" name="Google Shape;406;g3d6caa93a2e_1_8"/>
          <p:cNvSpPr/>
          <p:nvPr/>
        </p:nvSpPr>
        <p:spPr>
          <a:xfrm>
            <a:off x="3310128" y="233172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D7AB5"/>
              </a:buClr>
              <a:buSzPts val="900"/>
              <a:buFont typeface="Calibri"/>
              <a:buNone/>
            </a:pPr>
            <a:r>
              <a:rPr b="1" i="0" lang="en-US" sz="900" u="none" cap="none" strike="noStrike">
                <a:solidFill>
                  <a:srgbClr val="2D7AB5"/>
                </a:solidFill>
                <a:latin typeface="Calibri"/>
                <a:ea typeface="Calibri"/>
                <a:cs typeface="Calibri"/>
                <a:sym typeface="Calibri"/>
              </a:rPr>
              <a:t>Feature Engagement Rate</a:t>
            </a:r>
            <a:endParaRPr b="0" i="0" sz="900" u="none" cap="none" strike="noStrike">
              <a:solidFill>
                <a:schemeClr val="dk1"/>
              </a:solidFill>
              <a:latin typeface="Calibri"/>
              <a:ea typeface="Calibri"/>
              <a:cs typeface="Calibri"/>
              <a:sym typeface="Calibri"/>
            </a:endParaRPr>
          </a:p>
        </p:txBody>
      </p:sp>
      <p:sp>
        <p:nvSpPr>
          <p:cNvPr id="407" name="Google Shape;407;g3d6caa93a2e_1_8"/>
          <p:cNvSpPr/>
          <p:nvPr/>
        </p:nvSpPr>
        <p:spPr>
          <a:xfrm>
            <a:off x="3310128" y="252374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 of users actively using the timer/reminder</a:t>
            </a:r>
            <a:endParaRPr b="0" i="0" sz="800" u="none" cap="none" strike="noStrike">
              <a:solidFill>
                <a:schemeClr val="dk1"/>
              </a:solidFill>
              <a:latin typeface="Calibri"/>
              <a:ea typeface="Calibri"/>
              <a:cs typeface="Calibri"/>
              <a:sym typeface="Calibri"/>
            </a:endParaRPr>
          </a:p>
        </p:txBody>
      </p:sp>
      <p:sp>
        <p:nvSpPr>
          <p:cNvPr id="408" name="Google Shape;408;g3d6caa93a2e_1_8"/>
          <p:cNvSpPr/>
          <p:nvPr/>
        </p:nvSpPr>
        <p:spPr>
          <a:xfrm>
            <a:off x="6172200" y="914400"/>
            <a:ext cx="2880300" cy="2057400"/>
          </a:xfrm>
          <a:prstGeom prst="rect">
            <a:avLst/>
          </a:prstGeom>
          <a:solidFill>
            <a:srgbClr val="1A2130"/>
          </a:solid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d6caa93a2e_1_8"/>
          <p:cNvSpPr/>
          <p:nvPr/>
        </p:nvSpPr>
        <p:spPr>
          <a:xfrm>
            <a:off x="6172200" y="914400"/>
            <a:ext cx="2880300" cy="255900"/>
          </a:xfrm>
          <a:prstGeom prst="rect">
            <a:avLst/>
          </a:prstGeom>
          <a:solidFill>
            <a:srgbClr val="C9A227">
              <a:alpha val="80000"/>
            </a:srgbClr>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g3d6caa93a2e_1_8"/>
          <p:cNvSpPr/>
          <p:nvPr/>
        </p:nvSpPr>
        <p:spPr>
          <a:xfrm>
            <a:off x="6263640" y="941832"/>
            <a:ext cx="27432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3. Customer Satisfaction KPIs</a:t>
            </a:r>
            <a:endParaRPr b="0" i="0" sz="950" u="none" cap="none" strike="noStrike">
              <a:solidFill>
                <a:schemeClr val="dk1"/>
              </a:solidFill>
              <a:latin typeface="Calibri"/>
              <a:ea typeface="Calibri"/>
              <a:cs typeface="Calibri"/>
              <a:sym typeface="Calibri"/>
            </a:endParaRPr>
          </a:p>
        </p:txBody>
      </p:sp>
      <p:sp>
        <p:nvSpPr>
          <p:cNvPr id="411" name="Google Shape;411;g3d6caa93a2e_1_8"/>
          <p:cNvSpPr/>
          <p:nvPr/>
        </p:nvSpPr>
        <p:spPr>
          <a:xfrm>
            <a:off x="6281928" y="123444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900"/>
              <a:buFont typeface="Calibri"/>
              <a:buNone/>
            </a:pPr>
            <a:r>
              <a:rPr b="1" i="0" lang="en-US" sz="900" u="none" cap="none" strike="noStrike">
                <a:solidFill>
                  <a:srgbClr val="C9A227"/>
                </a:solidFill>
                <a:latin typeface="Calibri"/>
                <a:ea typeface="Calibri"/>
                <a:cs typeface="Calibri"/>
                <a:sym typeface="Calibri"/>
              </a:rPr>
              <a:t>Customer Satisfaction Score (CSAT)</a:t>
            </a:r>
            <a:endParaRPr b="0" i="0" sz="900" u="none" cap="none" strike="noStrike">
              <a:solidFill>
                <a:schemeClr val="dk1"/>
              </a:solidFill>
              <a:latin typeface="Calibri"/>
              <a:ea typeface="Calibri"/>
              <a:cs typeface="Calibri"/>
              <a:sym typeface="Calibri"/>
            </a:endParaRPr>
          </a:p>
        </p:txBody>
      </p:sp>
      <p:sp>
        <p:nvSpPr>
          <p:cNvPr id="412" name="Google Shape;412;g3d6caa93a2e_1_8"/>
          <p:cNvSpPr/>
          <p:nvPr/>
        </p:nvSpPr>
        <p:spPr>
          <a:xfrm>
            <a:off x="6281928" y="142646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rating from surveys (1–5 or 1–10)</a:t>
            </a:r>
            <a:endParaRPr b="0" i="0" sz="800" u="none" cap="none" strike="noStrike">
              <a:solidFill>
                <a:schemeClr val="dk1"/>
              </a:solidFill>
              <a:latin typeface="Calibri"/>
              <a:ea typeface="Calibri"/>
              <a:cs typeface="Calibri"/>
              <a:sym typeface="Calibri"/>
            </a:endParaRPr>
          </a:p>
        </p:txBody>
      </p:sp>
      <p:sp>
        <p:nvSpPr>
          <p:cNvPr id="413" name="Google Shape;413;g3d6caa93a2e_1_8"/>
          <p:cNvSpPr/>
          <p:nvPr/>
        </p:nvSpPr>
        <p:spPr>
          <a:xfrm>
            <a:off x="6281928" y="178308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900"/>
              <a:buFont typeface="Calibri"/>
              <a:buNone/>
            </a:pPr>
            <a:r>
              <a:rPr b="1" i="0" lang="en-US" sz="900" u="none" cap="none" strike="noStrike">
                <a:solidFill>
                  <a:srgbClr val="C9A227"/>
                </a:solidFill>
                <a:latin typeface="Calibri"/>
                <a:ea typeface="Calibri"/>
                <a:cs typeface="Calibri"/>
                <a:sym typeface="Calibri"/>
              </a:rPr>
              <a:t>Net Promoter Score (NPS)</a:t>
            </a:r>
            <a:endParaRPr b="0" i="0" sz="900" u="none" cap="none" strike="noStrike">
              <a:solidFill>
                <a:schemeClr val="dk1"/>
              </a:solidFill>
              <a:latin typeface="Calibri"/>
              <a:ea typeface="Calibri"/>
              <a:cs typeface="Calibri"/>
              <a:sym typeface="Calibri"/>
            </a:endParaRPr>
          </a:p>
        </p:txBody>
      </p:sp>
      <p:sp>
        <p:nvSpPr>
          <p:cNvPr id="414" name="Google Shape;414;g3d6caa93a2e_1_8"/>
          <p:cNvSpPr/>
          <p:nvPr/>
        </p:nvSpPr>
        <p:spPr>
          <a:xfrm>
            <a:off x="6281928" y="197510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how likely users are to recommend it</a:t>
            </a:r>
            <a:endParaRPr b="0" i="0" sz="800" u="none" cap="none" strike="noStrike">
              <a:solidFill>
                <a:schemeClr val="dk1"/>
              </a:solidFill>
              <a:latin typeface="Calibri"/>
              <a:ea typeface="Calibri"/>
              <a:cs typeface="Calibri"/>
              <a:sym typeface="Calibri"/>
            </a:endParaRPr>
          </a:p>
        </p:txBody>
      </p:sp>
      <p:sp>
        <p:nvSpPr>
          <p:cNvPr id="415" name="Google Shape;415;g3d6caa93a2e_1_8"/>
          <p:cNvSpPr/>
          <p:nvPr/>
        </p:nvSpPr>
        <p:spPr>
          <a:xfrm>
            <a:off x="6281928" y="2331720"/>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227"/>
              </a:buClr>
              <a:buSzPts val="900"/>
              <a:buFont typeface="Calibri"/>
              <a:buNone/>
            </a:pPr>
            <a:r>
              <a:rPr b="1" i="0" lang="en-US" sz="900" u="none" cap="none" strike="noStrike">
                <a:solidFill>
                  <a:srgbClr val="C9A227"/>
                </a:solidFill>
                <a:latin typeface="Calibri"/>
                <a:ea typeface="Calibri"/>
                <a:cs typeface="Calibri"/>
                <a:sym typeface="Calibri"/>
              </a:rPr>
              <a:t>Return/Refund Rate</a:t>
            </a:r>
            <a:endParaRPr b="0" i="0" sz="900" u="none" cap="none" strike="noStrike">
              <a:solidFill>
                <a:schemeClr val="dk1"/>
              </a:solidFill>
              <a:latin typeface="Calibri"/>
              <a:ea typeface="Calibri"/>
              <a:cs typeface="Calibri"/>
              <a:sym typeface="Calibri"/>
            </a:endParaRPr>
          </a:p>
        </p:txBody>
      </p:sp>
      <p:sp>
        <p:nvSpPr>
          <p:cNvPr id="416" name="Google Shape;416;g3d6caa93a2e_1_8"/>
          <p:cNvSpPr/>
          <p:nvPr/>
        </p:nvSpPr>
        <p:spPr>
          <a:xfrm>
            <a:off x="6281928" y="2523744"/>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 of customers returning the product</a:t>
            </a:r>
            <a:endParaRPr b="0" i="0" sz="800" u="none" cap="none" strike="noStrike">
              <a:solidFill>
                <a:schemeClr val="dk1"/>
              </a:solidFill>
              <a:latin typeface="Calibri"/>
              <a:ea typeface="Calibri"/>
              <a:cs typeface="Calibri"/>
              <a:sym typeface="Calibri"/>
            </a:endParaRPr>
          </a:p>
        </p:txBody>
      </p:sp>
      <p:sp>
        <p:nvSpPr>
          <p:cNvPr id="417" name="Google Shape;417;g3d6caa93a2e_1_8"/>
          <p:cNvSpPr/>
          <p:nvPr/>
        </p:nvSpPr>
        <p:spPr>
          <a:xfrm>
            <a:off x="228600" y="3081528"/>
            <a:ext cx="2880300" cy="2057400"/>
          </a:xfrm>
          <a:prstGeom prst="rect">
            <a:avLst/>
          </a:prstGeom>
          <a:solidFill>
            <a:srgbClr val="1A2130"/>
          </a:solidFill>
          <a:ln cap="flat" cmpd="sng" w="1905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d6caa93a2e_1_8"/>
          <p:cNvSpPr/>
          <p:nvPr/>
        </p:nvSpPr>
        <p:spPr>
          <a:xfrm>
            <a:off x="228600" y="3081528"/>
            <a:ext cx="2880300" cy="255900"/>
          </a:xfrm>
          <a:prstGeom prst="rect">
            <a:avLst/>
          </a:prstGeom>
          <a:solidFill>
            <a:srgbClr val="9B59B6">
              <a:alpha val="80000"/>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g3d6caa93a2e_1_8"/>
          <p:cNvSpPr/>
          <p:nvPr/>
        </p:nvSpPr>
        <p:spPr>
          <a:xfrm>
            <a:off x="320040" y="3108960"/>
            <a:ext cx="27432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4. Retention &amp; Loyalty KPIs</a:t>
            </a:r>
            <a:endParaRPr b="0" i="0" sz="950" u="none" cap="none" strike="noStrike">
              <a:solidFill>
                <a:schemeClr val="dk1"/>
              </a:solidFill>
              <a:latin typeface="Calibri"/>
              <a:ea typeface="Calibri"/>
              <a:cs typeface="Calibri"/>
              <a:sym typeface="Calibri"/>
            </a:endParaRPr>
          </a:p>
        </p:txBody>
      </p:sp>
      <p:sp>
        <p:nvSpPr>
          <p:cNvPr id="420" name="Google Shape;420;g3d6caa93a2e_1_8"/>
          <p:cNvSpPr/>
          <p:nvPr/>
        </p:nvSpPr>
        <p:spPr>
          <a:xfrm>
            <a:off x="338328" y="3401568"/>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59B6"/>
              </a:buClr>
              <a:buSzPts val="900"/>
              <a:buFont typeface="Calibri"/>
              <a:buNone/>
            </a:pPr>
            <a:r>
              <a:rPr b="1" i="0" lang="en-US" sz="900" u="none" cap="none" strike="noStrike">
                <a:solidFill>
                  <a:srgbClr val="9B59B6"/>
                </a:solidFill>
                <a:latin typeface="Calibri"/>
                <a:ea typeface="Calibri"/>
                <a:cs typeface="Calibri"/>
                <a:sym typeface="Calibri"/>
              </a:rPr>
              <a:t>Repeat Purchase Rate</a:t>
            </a:r>
            <a:endParaRPr b="0" i="0" sz="900" u="none" cap="none" strike="noStrike">
              <a:solidFill>
                <a:schemeClr val="dk1"/>
              </a:solidFill>
              <a:latin typeface="Calibri"/>
              <a:ea typeface="Calibri"/>
              <a:cs typeface="Calibri"/>
              <a:sym typeface="Calibri"/>
            </a:endParaRPr>
          </a:p>
        </p:txBody>
      </p:sp>
      <p:sp>
        <p:nvSpPr>
          <p:cNvPr id="421" name="Google Shape;421;g3d6caa93a2e_1_8"/>
          <p:cNvSpPr/>
          <p:nvPr/>
        </p:nvSpPr>
        <p:spPr>
          <a:xfrm>
            <a:off x="338328" y="3593592"/>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customers buying again (gifts, upgrades, etc.)</a:t>
            </a:r>
            <a:endParaRPr b="0" i="0" sz="800" u="none" cap="none" strike="noStrike">
              <a:solidFill>
                <a:schemeClr val="dk1"/>
              </a:solidFill>
              <a:latin typeface="Calibri"/>
              <a:ea typeface="Calibri"/>
              <a:cs typeface="Calibri"/>
              <a:sym typeface="Calibri"/>
            </a:endParaRPr>
          </a:p>
        </p:txBody>
      </p:sp>
      <p:sp>
        <p:nvSpPr>
          <p:cNvPr id="422" name="Google Shape;422;g3d6caa93a2e_1_8"/>
          <p:cNvSpPr/>
          <p:nvPr/>
        </p:nvSpPr>
        <p:spPr>
          <a:xfrm>
            <a:off x="338328" y="3950208"/>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B59B6"/>
              </a:buClr>
              <a:buSzPts val="900"/>
              <a:buFont typeface="Calibri"/>
              <a:buNone/>
            </a:pPr>
            <a:r>
              <a:rPr b="1" i="0" lang="en-US" sz="900" u="none" cap="none" strike="noStrike">
                <a:solidFill>
                  <a:srgbClr val="9B59B6"/>
                </a:solidFill>
                <a:latin typeface="Calibri"/>
                <a:ea typeface="Calibri"/>
                <a:cs typeface="Calibri"/>
                <a:sym typeface="Calibri"/>
              </a:rPr>
              <a:t>Customer Retention Rate</a:t>
            </a:r>
            <a:endParaRPr b="0" i="0" sz="900" u="none" cap="none" strike="noStrike">
              <a:solidFill>
                <a:schemeClr val="dk1"/>
              </a:solidFill>
              <a:latin typeface="Calibri"/>
              <a:ea typeface="Calibri"/>
              <a:cs typeface="Calibri"/>
              <a:sym typeface="Calibri"/>
            </a:endParaRPr>
          </a:p>
        </p:txBody>
      </p:sp>
      <p:sp>
        <p:nvSpPr>
          <p:cNvPr id="423" name="Google Shape;423;g3d6caa93a2e_1_8"/>
          <p:cNvSpPr/>
          <p:nvPr/>
        </p:nvSpPr>
        <p:spPr>
          <a:xfrm>
            <a:off x="338328" y="4142232"/>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 of users still using the bottle after 30/60/90 days</a:t>
            </a:r>
            <a:endParaRPr b="0" i="0" sz="800" u="none" cap="none" strike="noStrike">
              <a:solidFill>
                <a:schemeClr val="dk1"/>
              </a:solidFill>
              <a:latin typeface="Calibri"/>
              <a:ea typeface="Calibri"/>
              <a:cs typeface="Calibri"/>
              <a:sym typeface="Calibri"/>
            </a:endParaRPr>
          </a:p>
        </p:txBody>
      </p:sp>
      <p:sp>
        <p:nvSpPr>
          <p:cNvPr id="424" name="Google Shape;424;g3d6caa93a2e_1_8"/>
          <p:cNvSpPr/>
          <p:nvPr/>
        </p:nvSpPr>
        <p:spPr>
          <a:xfrm>
            <a:off x="3200400" y="3081528"/>
            <a:ext cx="2880300" cy="2057400"/>
          </a:xfrm>
          <a:prstGeom prst="rect">
            <a:avLst/>
          </a:prstGeom>
          <a:solidFill>
            <a:srgbClr val="1A2130"/>
          </a:solidFill>
          <a:ln cap="flat" cmpd="sng" w="1905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g3d6caa93a2e_1_8"/>
          <p:cNvSpPr/>
          <p:nvPr/>
        </p:nvSpPr>
        <p:spPr>
          <a:xfrm>
            <a:off x="3200400" y="3081528"/>
            <a:ext cx="2880300" cy="255900"/>
          </a:xfrm>
          <a:prstGeom prst="rect">
            <a:avLst/>
          </a:prstGeom>
          <a:solidFill>
            <a:srgbClr val="E67E22">
              <a:alpha val="80000"/>
            </a:srgbClr>
          </a:solidFill>
          <a:ln cap="flat" cmpd="sng" w="12700">
            <a:solidFill>
              <a:srgbClr val="E67E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d6caa93a2e_1_8"/>
          <p:cNvSpPr/>
          <p:nvPr/>
        </p:nvSpPr>
        <p:spPr>
          <a:xfrm>
            <a:off x="3291840" y="3108960"/>
            <a:ext cx="27432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5. Brand &amp; Marketing KPIs</a:t>
            </a:r>
            <a:endParaRPr b="0" i="0" sz="950" u="none" cap="none" strike="noStrike">
              <a:solidFill>
                <a:schemeClr val="dk1"/>
              </a:solidFill>
              <a:latin typeface="Calibri"/>
              <a:ea typeface="Calibri"/>
              <a:cs typeface="Calibri"/>
              <a:sym typeface="Calibri"/>
            </a:endParaRPr>
          </a:p>
        </p:txBody>
      </p:sp>
      <p:sp>
        <p:nvSpPr>
          <p:cNvPr id="427" name="Google Shape;427;g3d6caa93a2e_1_8"/>
          <p:cNvSpPr/>
          <p:nvPr/>
        </p:nvSpPr>
        <p:spPr>
          <a:xfrm>
            <a:off x="3310128" y="3401568"/>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7E22"/>
              </a:buClr>
              <a:buSzPts val="900"/>
              <a:buFont typeface="Calibri"/>
              <a:buNone/>
            </a:pPr>
            <a:r>
              <a:rPr b="1" i="0" lang="en-US" sz="900" u="none" cap="none" strike="noStrike">
                <a:solidFill>
                  <a:srgbClr val="E67E22"/>
                </a:solidFill>
                <a:latin typeface="Calibri"/>
                <a:ea typeface="Calibri"/>
                <a:cs typeface="Calibri"/>
                <a:sym typeface="Calibri"/>
              </a:rPr>
              <a:t>Social Media Engagement</a:t>
            </a:r>
            <a:endParaRPr b="0" i="0" sz="900" u="none" cap="none" strike="noStrike">
              <a:solidFill>
                <a:schemeClr val="dk1"/>
              </a:solidFill>
              <a:latin typeface="Calibri"/>
              <a:ea typeface="Calibri"/>
              <a:cs typeface="Calibri"/>
              <a:sym typeface="Calibri"/>
            </a:endParaRPr>
          </a:p>
        </p:txBody>
      </p:sp>
      <p:sp>
        <p:nvSpPr>
          <p:cNvPr id="428" name="Google Shape;428;g3d6caa93a2e_1_8"/>
          <p:cNvSpPr/>
          <p:nvPr/>
        </p:nvSpPr>
        <p:spPr>
          <a:xfrm>
            <a:off x="3310128" y="3593592"/>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likes, shares, comments on posts</a:t>
            </a:r>
            <a:endParaRPr b="0" i="0" sz="800" u="none" cap="none" strike="noStrike">
              <a:solidFill>
                <a:schemeClr val="dk1"/>
              </a:solidFill>
              <a:latin typeface="Calibri"/>
              <a:ea typeface="Calibri"/>
              <a:cs typeface="Calibri"/>
              <a:sym typeface="Calibri"/>
            </a:endParaRPr>
          </a:p>
        </p:txBody>
      </p:sp>
      <p:sp>
        <p:nvSpPr>
          <p:cNvPr id="429" name="Google Shape;429;g3d6caa93a2e_1_8"/>
          <p:cNvSpPr/>
          <p:nvPr/>
        </p:nvSpPr>
        <p:spPr>
          <a:xfrm>
            <a:off x="3310128" y="3950208"/>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7E22"/>
              </a:buClr>
              <a:buSzPts val="900"/>
              <a:buFont typeface="Calibri"/>
              <a:buNone/>
            </a:pPr>
            <a:r>
              <a:rPr b="1" i="0" lang="en-US" sz="900" u="none" cap="none" strike="noStrike">
                <a:solidFill>
                  <a:srgbClr val="E67E22"/>
                </a:solidFill>
                <a:latin typeface="Calibri"/>
                <a:ea typeface="Calibri"/>
                <a:cs typeface="Calibri"/>
                <a:sym typeface="Calibri"/>
              </a:rPr>
              <a:t>Conversion Rate</a:t>
            </a:r>
            <a:endParaRPr b="0" i="0" sz="900" u="none" cap="none" strike="noStrike">
              <a:solidFill>
                <a:schemeClr val="dk1"/>
              </a:solidFill>
              <a:latin typeface="Calibri"/>
              <a:ea typeface="Calibri"/>
              <a:cs typeface="Calibri"/>
              <a:sym typeface="Calibri"/>
            </a:endParaRPr>
          </a:p>
        </p:txBody>
      </p:sp>
      <p:sp>
        <p:nvSpPr>
          <p:cNvPr id="430" name="Google Shape;430;g3d6caa93a2e_1_8"/>
          <p:cNvSpPr/>
          <p:nvPr/>
        </p:nvSpPr>
        <p:spPr>
          <a:xfrm>
            <a:off x="3310128" y="4142232"/>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 of people who see the product and actually buy it</a:t>
            </a:r>
            <a:endParaRPr b="0" i="0" sz="800" u="none" cap="none" strike="noStrike">
              <a:solidFill>
                <a:schemeClr val="dk1"/>
              </a:solidFill>
              <a:latin typeface="Calibri"/>
              <a:ea typeface="Calibri"/>
              <a:cs typeface="Calibri"/>
              <a:sym typeface="Calibri"/>
            </a:endParaRPr>
          </a:p>
        </p:txBody>
      </p:sp>
      <p:sp>
        <p:nvSpPr>
          <p:cNvPr id="431" name="Google Shape;431;g3d6caa93a2e_1_8"/>
          <p:cNvSpPr/>
          <p:nvPr/>
        </p:nvSpPr>
        <p:spPr>
          <a:xfrm>
            <a:off x="3310128" y="4498848"/>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7E22"/>
              </a:buClr>
              <a:buSzPts val="900"/>
              <a:buFont typeface="Calibri"/>
              <a:buNone/>
            </a:pPr>
            <a:r>
              <a:rPr b="1" i="0" lang="en-US" sz="900" u="none" cap="none" strike="noStrike">
                <a:solidFill>
                  <a:srgbClr val="E67E22"/>
                </a:solidFill>
                <a:latin typeface="Calibri"/>
                <a:ea typeface="Calibri"/>
                <a:cs typeface="Calibri"/>
                <a:sym typeface="Calibri"/>
              </a:rPr>
              <a:t>Customer Acquisition Cost (CAC)</a:t>
            </a:r>
            <a:endParaRPr b="0" i="0" sz="900" u="none" cap="none" strike="noStrike">
              <a:solidFill>
                <a:schemeClr val="dk1"/>
              </a:solidFill>
              <a:latin typeface="Calibri"/>
              <a:ea typeface="Calibri"/>
              <a:cs typeface="Calibri"/>
              <a:sym typeface="Calibri"/>
            </a:endParaRPr>
          </a:p>
        </p:txBody>
      </p:sp>
      <p:sp>
        <p:nvSpPr>
          <p:cNvPr id="432" name="Google Shape;432;g3d6caa93a2e_1_8"/>
          <p:cNvSpPr/>
          <p:nvPr/>
        </p:nvSpPr>
        <p:spPr>
          <a:xfrm>
            <a:off x="3310128" y="4690872"/>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cost to gain one customer</a:t>
            </a:r>
            <a:endParaRPr b="0" i="0" sz="800" u="none" cap="none" strike="noStrike">
              <a:solidFill>
                <a:schemeClr val="dk1"/>
              </a:solidFill>
              <a:latin typeface="Calibri"/>
              <a:ea typeface="Calibri"/>
              <a:cs typeface="Calibri"/>
              <a:sym typeface="Calibri"/>
            </a:endParaRPr>
          </a:p>
        </p:txBody>
      </p:sp>
      <p:sp>
        <p:nvSpPr>
          <p:cNvPr id="433" name="Google Shape;433;g3d6caa93a2e_1_8"/>
          <p:cNvSpPr/>
          <p:nvPr/>
        </p:nvSpPr>
        <p:spPr>
          <a:xfrm>
            <a:off x="6172200" y="3081528"/>
            <a:ext cx="2880300" cy="2057400"/>
          </a:xfrm>
          <a:prstGeom prst="rect">
            <a:avLst/>
          </a:prstGeom>
          <a:solidFill>
            <a:srgbClr val="1A2130"/>
          </a:solidFill>
          <a:ln cap="flat" cmpd="sng" w="1905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d6caa93a2e_1_8"/>
          <p:cNvSpPr/>
          <p:nvPr/>
        </p:nvSpPr>
        <p:spPr>
          <a:xfrm>
            <a:off x="6172200" y="3081528"/>
            <a:ext cx="2880300" cy="255900"/>
          </a:xfrm>
          <a:prstGeom prst="rect">
            <a:avLst/>
          </a:prstGeom>
          <a:solidFill>
            <a:srgbClr val="27AE60">
              <a:alpha val="80000"/>
            </a:srgbClr>
          </a:solidFill>
          <a:ln cap="flat" cmpd="sng" w="12700">
            <a:solidFill>
              <a:srgbClr val="27AE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d6caa93a2e_1_8"/>
          <p:cNvSpPr/>
          <p:nvPr/>
        </p:nvSpPr>
        <p:spPr>
          <a:xfrm>
            <a:off x="6263640" y="3108960"/>
            <a:ext cx="27432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 Health Impact KPI</a:t>
            </a:r>
            <a:endParaRPr b="0" i="0" sz="950" u="none" cap="none" strike="noStrike">
              <a:solidFill>
                <a:schemeClr val="dk1"/>
              </a:solidFill>
              <a:latin typeface="Calibri"/>
              <a:ea typeface="Calibri"/>
              <a:cs typeface="Calibri"/>
              <a:sym typeface="Calibri"/>
            </a:endParaRPr>
          </a:p>
        </p:txBody>
      </p:sp>
      <p:sp>
        <p:nvSpPr>
          <p:cNvPr id="436" name="Google Shape;436;g3d6caa93a2e_1_8"/>
          <p:cNvSpPr/>
          <p:nvPr/>
        </p:nvSpPr>
        <p:spPr>
          <a:xfrm>
            <a:off x="6281928" y="3401568"/>
            <a:ext cx="26976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7AE60"/>
              </a:buClr>
              <a:buSzPts val="900"/>
              <a:buFont typeface="Calibri"/>
              <a:buNone/>
            </a:pPr>
            <a:r>
              <a:rPr b="1" i="0" lang="en-US" sz="900" u="none" cap="none" strike="noStrike">
                <a:solidFill>
                  <a:srgbClr val="27AE60"/>
                </a:solidFill>
                <a:latin typeface="Calibri"/>
                <a:ea typeface="Calibri"/>
                <a:cs typeface="Calibri"/>
                <a:sym typeface="Calibri"/>
              </a:rPr>
              <a:t>Hydration Improvement Rate</a:t>
            </a:r>
            <a:endParaRPr b="0" i="0" sz="900" u="none" cap="none" strike="noStrike">
              <a:solidFill>
                <a:schemeClr val="dk1"/>
              </a:solidFill>
              <a:latin typeface="Calibri"/>
              <a:ea typeface="Calibri"/>
              <a:cs typeface="Calibri"/>
              <a:sym typeface="Calibri"/>
            </a:endParaRPr>
          </a:p>
        </p:txBody>
      </p:sp>
      <p:sp>
        <p:nvSpPr>
          <p:cNvPr id="437" name="Google Shape;437;g3d6caa93a2e_1_8"/>
          <p:cNvSpPr/>
          <p:nvPr/>
        </p:nvSpPr>
        <p:spPr>
          <a:xfrm>
            <a:off x="6281928" y="3593592"/>
            <a:ext cx="2697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800"/>
              <a:buFont typeface="Calibri"/>
              <a:buNone/>
            </a:pPr>
            <a:r>
              <a:rPr b="0" i="0" lang="en-US" sz="800" u="none" cap="none" strike="noStrike">
                <a:solidFill>
                  <a:srgbClr val="9CA3AF"/>
                </a:solidFill>
                <a:latin typeface="Calibri"/>
                <a:ea typeface="Calibri"/>
                <a:cs typeface="Calibri"/>
                <a:sym typeface="Calibri"/>
              </a:rPr>
              <a:t>% increase in users meeting daily water goals</a:t>
            </a:r>
            <a:endParaRPr b="0" i="0" sz="800" u="none" cap="none" strike="noStrike">
              <a:solidFill>
                <a:schemeClr val="dk1"/>
              </a:solidFill>
              <a:latin typeface="Calibri"/>
              <a:ea typeface="Calibri"/>
              <a:cs typeface="Calibri"/>
              <a:sym typeface="Calibri"/>
            </a:endParaRPr>
          </a:p>
        </p:txBody>
      </p:sp>
      <p:sp>
        <p:nvSpPr>
          <p:cNvPr id="438" name="Google Shape;438;g3d6caa93a2e_1_8"/>
          <p:cNvSpPr/>
          <p:nvPr/>
        </p:nvSpPr>
        <p:spPr>
          <a:xfrm>
            <a:off x="274320" y="4892040"/>
            <a:ext cx="77724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439" name="Google Shape;439;g3d6caa93a2e_1_8"/>
          <p:cNvSpPr/>
          <p:nvPr/>
        </p:nvSpPr>
        <p:spPr>
          <a:xfrm>
            <a:off x="8686800" y="4892040"/>
            <a:ext cx="365700" cy="183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CA3AF"/>
              </a:buClr>
              <a:buSzPts val="700"/>
              <a:buFont typeface="Calibri"/>
              <a:buNone/>
            </a:pPr>
            <a:r>
              <a:rPr b="0" i="0" lang="en-US" sz="700" u="none" cap="none" strike="noStrike">
                <a:solidFill>
                  <a:srgbClr val="9CA3AF"/>
                </a:solidFill>
                <a:latin typeface="Calibri"/>
                <a:ea typeface="Calibri"/>
                <a:cs typeface="Calibri"/>
                <a:sym typeface="Calibri"/>
              </a:rPr>
              <a:t>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2"/>
        </a:solidFill>
      </p:bgPr>
    </p:bg>
    <p:spTree>
      <p:nvGrpSpPr>
        <p:cNvPr id="444" name="Shape 444"/>
        <p:cNvGrpSpPr/>
        <p:nvPr/>
      </p:nvGrpSpPr>
      <p:grpSpPr>
        <a:xfrm>
          <a:off x="0" y="0"/>
          <a:ext cx="0" cy="0"/>
          <a:chOff x="0" y="0"/>
          <a:chExt cx="0" cy="0"/>
        </a:xfrm>
      </p:grpSpPr>
      <p:sp>
        <p:nvSpPr>
          <p:cNvPr id="445" name="Google Shape;445;p10"/>
          <p:cNvSpPr/>
          <p:nvPr/>
        </p:nvSpPr>
        <p:spPr>
          <a:xfrm>
            <a:off x="0" y="4956048"/>
            <a:ext cx="9144000" cy="182880"/>
          </a:xfrm>
          <a:prstGeom prst="rect">
            <a:avLst/>
          </a:prstGeom>
          <a:solidFill>
            <a:srgbClr val="0A0F16"/>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0"/>
          <p:cNvSpPr/>
          <p:nvPr/>
        </p:nvSpPr>
        <p:spPr>
          <a:xfrm>
            <a:off x="457200" y="4974336"/>
            <a:ext cx="64008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700"/>
              <a:buFont typeface="Calibri"/>
              <a:buNone/>
            </a:pPr>
            <a:r>
              <a:rPr b="0" i="0" lang="en-US" sz="700" u="none" cap="none" strike="noStrike">
                <a:solidFill>
                  <a:srgbClr val="475569"/>
                </a:solidFill>
                <a:latin typeface="Calibri"/>
                <a:ea typeface="Calibri"/>
                <a:cs typeface="Calibri"/>
                <a:sym typeface="Calibri"/>
              </a:rPr>
              <a:t>WATER TIMER  |  Owala Innovation Concept</a:t>
            </a:r>
            <a:endParaRPr b="0" i="0" sz="700" u="none" cap="none" strike="noStrike">
              <a:solidFill>
                <a:schemeClr val="dk1"/>
              </a:solidFill>
              <a:latin typeface="Calibri"/>
              <a:ea typeface="Calibri"/>
              <a:cs typeface="Calibri"/>
              <a:sym typeface="Calibri"/>
            </a:endParaRPr>
          </a:p>
        </p:txBody>
      </p:sp>
      <p:sp>
        <p:nvSpPr>
          <p:cNvPr id="447" name="Google Shape;447;p10"/>
          <p:cNvSpPr/>
          <p:nvPr/>
        </p:nvSpPr>
        <p:spPr>
          <a:xfrm>
            <a:off x="8503920" y="4974336"/>
            <a:ext cx="45720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9488"/>
              </a:buClr>
              <a:buSzPts val="700"/>
              <a:buFont typeface="Calibri"/>
              <a:buNone/>
            </a:pPr>
            <a:r>
              <a:rPr b="0" i="0" lang="en-US" sz="700" u="none" cap="none" strike="noStrike">
                <a:solidFill>
                  <a:srgbClr val="0D9488"/>
                </a:solidFill>
                <a:latin typeface="Calibri"/>
                <a:ea typeface="Calibri"/>
                <a:cs typeface="Calibri"/>
                <a:sym typeface="Calibri"/>
              </a:rPr>
              <a:t>10</a:t>
            </a:r>
            <a:endParaRPr b="0" i="0" sz="700" u="none" cap="none" strike="noStrike">
              <a:solidFill>
                <a:schemeClr val="dk1"/>
              </a:solidFill>
              <a:latin typeface="Calibri"/>
              <a:ea typeface="Calibri"/>
              <a:cs typeface="Calibri"/>
              <a:sym typeface="Calibri"/>
            </a:endParaRPr>
          </a:p>
        </p:txBody>
      </p:sp>
      <p:sp>
        <p:nvSpPr>
          <p:cNvPr id="448" name="Google Shape;448;p10"/>
          <p:cNvSpPr/>
          <p:nvPr/>
        </p:nvSpPr>
        <p:spPr>
          <a:xfrm>
            <a:off x="0" y="0"/>
            <a:ext cx="320040" cy="5143500"/>
          </a:xfrm>
          <a:prstGeom prst="rect">
            <a:avLst/>
          </a:prstGeom>
          <a:solidFill>
            <a:srgbClr val="BCB2D2"/>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0"/>
          <p:cNvSpPr/>
          <p:nvPr/>
        </p:nvSpPr>
        <p:spPr>
          <a:xfrm>
            <a:off x="5943600" y="13716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0"/>
          <p:cNvSpPr/>
          <p:nvPr/>
        </p:nvSpPr>
        <p:spPr>
          <a:xfrm>
            <a:off x="6355080" y="13716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p:nvPr/>
        </p:nvSpPr>
        <p:spPr>
          <a:xfrm>
            <a:off x="5943600" y="54864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0"/>
          <p:cNvSpPr/>
          <p:nvPr/>
        </p:nvSpPr>
        <p:spPr>
          <a:xfrm>
            <a:off x="6355080" y="54864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0"/>
          <p:cNvSpPr/>
          <p:nvPr/>
        </p:nvSpPr>
        <p:spPr>
          <a:xfrm>
            <a:off x="5943600" y="96012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0"/>
          <p:cNvSpPr/>
          <p:nvPr/>
        </p:nvSpPr>
        <p:spPr>
          <a:xfrm>
            <a:off x="6355080" y="96012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0"/>
          <p:cNvSpPr/>
          <p:nvPr/>
        </p:nvSpPr>
        <p:spPr>
          <a:xfrm>
            <a:off x="5943600" y="137160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0"/>
          <p:cNvSpPr/>
          <p:nvPr/>
        </p:nvSpPr>
        <p:spPr>
          <a:xfrm>
            <a:off x="6355080" y="1371600"/>
            <a:ext cx="54900" cy="54900"/>
          </a:xfrm>
          <a:prstGeom prst="ellipse">
            <a:avLst/>
          </a:prstGeom>
          <a:solidFill>
            <a:srgbClr val="0D9488">
              <a:alpha val="10200"/>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0"/>
          <p:cNvSpPr/>
          <p:nvPr/>
        </p:nvSpPr>
        <p:spPr>
          <a:xfrm>
            <a:off x="548640" y="411480"/>
            <a:ext cx="5486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300"/>
              <a:buFont typeface="Calibri"/>
              <a:buNone/>
            </a:pPr>
            <a:r>
              <a:rPr b="1" lang="en-US" sz="1300" u="none" cap="none" strike="noStrike">
                <a:solidFill>
                  <a:srgbClr val="BCB2D2"/>
                </a:solidFill>
                <a:latin typeface="Calibri"/>
                <a:ea typeface="Calibri"/>
                <a:cs typeface="Calibri"/>
                <a:sym typeface="Calibri"/>
              </a:rPr>
              <a:t>The Future of Hydration</a:t>
            </a:r>
            <a:endParaRPr b="0" sz="1300" u="none" cap="none" strike="noStrike">
              <a:solidFill>
                <a:srgbClr val="BCB2D2"/>
              </a:solidFill>
              <a:latin typeface="Calibri"/>
              <a:ea typeface="Calibri"/>
              <a:cs typeface="Calibri"/>
              <a:sym typeface="Calibri"/>
            </a:endParaRPr>
          </a:p>
        </p:txBody>
      </p:sp>
      <p:sp>
        <p:nvSpPr>
          <p:cNvPr id="458" name="Google Shape;458;p10"/>
          <p:cNvSpPr/>
          <p:nvPr/>
        </p:nvSpPr>
        <p:spPr>
          <a:xfrm>
            <a:off x="548640" y="868680"/>
            <a:ext cx="5486400" cy="155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5600"/>
              <a:buFont typeface="Trebuchet MS"/>
              <a:buNone/>
            </a:pPr>
            <a:r>
              <a:rPr b="1" i="0" lang="en-US" sz="5600" u="none" cap="none" strike="noStrike">
                <a:solidFill>
                  <a:srgbClr val="F8FAFC"/>
                </a:solidFill>
                <a:latin typeface="Trebuchet MS"/>
                <a:ea typeface="Trebuchet MS"/>
                <a:cs typeface="Trebuchet MS"/>
                <a:sym typeface="Trebuchet MS"/>
              </a:rPr>
              <a:t>Is On The</a:t>
            </a:r>
            <a:endParaRPr b="0" i="0" sz="5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FAFC"/>
              </a:buClr>
              <a:buSzPts val="5600"/>
              <a:buFont typeface="Trebuchet MS"/>
              <a:buNone/>
            </a:pPr>
            <a:r>
              <a:rPr b="1" i="0" lang="en-US" sz="5600" u="none" cap="none" strike="noStrike">
                <a:solidFill>
                  <a:srgbClr val="F8FAFC"/>
                </a:solidFill>
                <a:latin typeface="Trebuchet MS"/>
                <a:ea typeface="Trebuchet MS"/>
                <a:cs typeface="Trebuchet MS"/>
                <a:sym typeface="Trebuchet MS"/>
              </a:rPr>
              <a:t>Bottle.</a:t>
            </a:r>
            <a:endParaRPr b="0" i="0" sz="5600" u="none" cap="none" strike="noStrike">
              <a:solidFill>
                <a:schemeClr val="dk1"/>
              </a:solidFill>
              <a:latin typeface="Calibri"/>
              <a:ea typeface="Calibri"/>
              <a:cs typeface="Calibri"/>
              <a:sym typeface="Calibri"/>
            </a:endParaRPr>
          </a:p>
        </p:txBody>
      </p:sp>
      <p:sp>
        <p:nvSpPr>
          <p:cNvPr id="459" name="Google Shape;459;p10"/>
          <p:cNvSpPr/>
          <p:nvPr/>
        </p:nvSpPr>
        <p:spPr>
          <a:xfrm>
            <a:off x="548640" y="2514600"/>
            <a:ext cx="5303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B8A6"/>
              </a:buClr>
              <a:buSzPts val="1400"/>
              <a:buFont typeface="Calibri"/>
              <a:buNone/>
            </a:pPr>
            <a:r>
              <a:rPr b="0" i="0" lang="en-US" sz="1400" u="none" cap="none" strike="noStrike">
                <a:solidFill>
                  <a:srgbClr val="BCB2D2"/>
                </a:solidFill>
                <a:latin typeface="Calibri"/>
                <a:ea typeface="Calibri"/>
                <a:cs typeface="Calibri"/>
                <a:sym typeface="Calibri"/>
              </a:rPr>
              <a:t>Water Timer</a:t>
            </a:r>
            <a:r>
              <a:rPr lang="en-US">
                <a:solidFill>
                  <a:srgbClr val="BCB2D2"/>
                </a:solidFill>
                <a:latin typeface="Calibri"/>
                <a:ea typeface="Calibri"/>
                <a:cs typeface="Calibri"/>
                <a:sym typeface="Calibri"/>
              </a:rPr>
              <a:t>:</a:t>
            </a:r>
            <a:r>
              <a:rPr b="0" i="0" lang="en-US" sz="1400" u="none" cap="none" strike="noStrike">
                <a:solidFill>
                  <a:srgbClr val="BCB2D2"/>
                </a:solidFill>
                <a:latin typeface="Calibri"/>
                <a:ea typeface="Calibri"/>
                <a:cs typeface="Calibri"/>
                <a:sym typeface="Calibri"/>
              </a:rPr>
              <a:t>  Smart Hydration by Owala</a:t>
            </a:r>
            <a:endParaRPr b="0" i="0" sz="1400" u="none" cap="none" strike="noStrike">
              <a:solidFill>
                <a:srgbClr val="BCB2D2"/>
              </a:solidFill>
              <a:latin typeface="Calibri"/>
              <a:ea typeface="Calibri"/>
              <a:cs typeface="Calibri"/>
              <a:sym typeface="Calibri"/>
            </a:endParaRPr>
          </a:p>
        </p:txBody>
      </p:sp>
      <p:sp>
        <p:nvSpPr>
          <p:cNvPr id="460" name="Google Shape;460;p10"/>
          <p:cNvSpPr/>
          <p:nvPr/>
        </p:nvSpPr>
        <p:spPr>
          <a:xfrm>
            <a:off x="548640" y="2971800"/>
            <a:ext cx="5029200" cy="36576"/>
          </a:xfrm>
          <a:prstGeom prst="rect">
            <a:avLst/>
          </a:prstGeom>
          <a:solidFill>
            <a:srgbClr val="BCB2D2"/>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BCB2D2"/>
              </a:solidFill>
            </a:endParaRPr>
          </a:p>
        </p:txBody>
      </p:sp>
      <p:sp>
        <p:nvSpPr>
          <p:cNvPr id="461" name="Google Shape;461;p10"/>
          <p:cNvSpPr/>
          <p:nvPr/>
        </p:nvSpPr>
        <p:spPr>
          <a:xfrm>
            <a:off x="1622045" y="3297975"/>
            <a:ext cx="2882400" cy="457200"/>
          </a:xfrm>
          <a:prstGeom prst="rect">
            <a:avLst/>
          </a:prstGeom>
          <a:solidFill>
            <a:srgbClr val="BCB2D2"/>
          </a:solidFill>
          <a:ln cap="flat" cmpd="sng" w="12700">
            <a:solidFill>
              <a:srgbClr val="BCB2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0"/>
          <p:cNvSpPr/>
          <p:nvPr/>
        </p:nvSpPr>
        <p:spPr>
          <a:xfrm>
            <a:off x="1622050" y="3334550"/>
            <a:ext cx="2882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AE6FD"/>
              </a:buClr>
              <a:buSzPts val="950"/>
              <a:buFont typeface="Calibri"/>
              <a:buNone/>
            </a:pPr>
            <a:r>
              <a:rPr b="1" lang="en-US" sz="1050" u="none" cap="none" strike="noStrike">
                <a:solidFill>
                  <a:schemeClr val="dk1"/>
                </a:solidFill>
                <a:latin typeface="Calibri"/>
                <a:ea typeface="Calibri"/>
                <a:cs typeface="Calibri"/>
                <a:sym typeface="Calibri"/>
              </a:rPr>
              <a:t>Thank yo</a:t>
            </a:r>
            <a:r>
              <a:rPr b="1" lang="en-US" sz="1050">
                <a:solidFill>
                  <a:schemeClr val="dk1"/>
                </a:solidFill>
                <a:latin typeface="Calibri"/>
                <a:ea typeface="Calibri"/>
                <a:cs typeface="Calibri"/>
                <a:sym typeface="Calibri"/>
              </a:rPr>
              <a:t>u!</a:t>
            </a:r>
            <a:r>
              <a:rPr b="1" lang="en-US" sz="1050" u="none" cap="none" strike="noStrike">
                <a:solidFill>
                  <a:schemeClr val="dk1"/>
                </a:solidFill>
                <a:latin typeface="Calibri"/>
                <a:ea typeface="Calibri"/>
                <a:cs typeface="Calibri"/>
                <a:sym typeface="Calibri"/>
              </a:rPr>
              <a:t> We're happy to answer any questions.</a:t>
            </a:r>
            <a:endParaRPr b="1" sz="1050" u="none" cap="none" strike="noStrike">
              <a:solidFill>
                <a:schemeClr val="dk1"/>
              </a:solidFill>
              <a:latin typeface="Calibri"/>
              <a:ea typeface="Calibri"/>
              <a:cs typeface="Calibri"/>
              <a:sym typeface="Calibri"/>
            </a:endParaRPr>
          </a:p>
        </p:txBody>
      </p:sp>
      <p:pic>
        <p:nvPicPr>
          <p:cNvPr id="463" name="Google Shape;463;p10"/>
          <p:cNvPicPr preferRelativeResize="0"/>
          <p:nvPr/>
        </p:nvPicPr>
        <p:blipFill>
          <a:blip r:embed="rId3">
            <a:alphaModFix/>
          </a:blip>
          <a:stretch>
            <a:fillRect/>
          </a:stretch>
        </p:blipFill>
        <p:spPr>
          <a:xfrm>
            <a:off x="5715013" y="-12"/>
            <a:ext cx="3428982"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2026-04-13T18:36:12Z</dcterms:created>
  <dc:creator>PptxGenJS</dc:creator>
</cp:coreProperties>
</file>